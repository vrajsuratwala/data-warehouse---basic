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Extraction, Loading &amp; Loading in BI</a:t>
            </a:r>
            <a:endParaRPr lang="en-US" dirty="0"/>
          </a:p>
        </p:txBody>
      </p:sp>
      <p:sp>
        <p:nvSpPr>
          <p:cNvPr id="3" name="Subtitle 2"/>
          <p:cNvSpPr>
            <a:spLocks noGrp="1"/>
          </p:cNvSpPr>
          <p:nvPr>
            <p:ph type="subTitle" idx="1"/>
          </p:nvPr>
        </p:nvSpPr>
        <p:spPr/>
        <p:txBody>
          <a:bodyPr/>
          <a:lstStyle/>
          <a:p>
            <a:r>
              <a:rPr lang="en-US"/>
              <a:t>Vraj Suratwala</a:t>
            </a:r>
            <a:endParaRPr lang="en-US"/>
          </a:p>
          <a:p>
            <a:r>
              <a:rPr lang="en-US"/>
              <a:t>Exam Notes - ETL</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is Extraction ?</a:t>
            </a:r>
            <a:endParaRPr lang="en-US"/>
          </a:p>
        </p:txBody>
      </p:sp>
      <p:sp>
        <p:nvSpPr>
          <p:cNvPr id="3" name="Content Placeholder 2"/>
          <p:cNvSpPr>
            <a:spLocks noGrp="1"/>
          </p:cNvSpPr>
          <p:nvPr>
            <p:ph idx="1"/>
          </p:nvPr>
        </p:nvSpPr>
        <p:spPr/>
        <p:txBody>
          <a:bodyPr/>
          <a:p>
            <a:r>
              <a:rPr lang="en-US"/>
              <a:t>Extraction os the first step of ETL (Extraction, Transformation, Load) process in BI.it involvs collecting data from different sources such as databases, ERP systems, CRM systems, websites, flat files and cloud applications.</a:t>
            </a:r>
            <a:endParaRPr lang="en-US"/>
          </a:p>
          <a:p>
            <a:endParaRPr lang="en-US"/>
          </a:p>
          <a:p>
            <a:r>
              <a:rPr lang="en-US"/>
              <a:t>The Extracted data is then traansformed and loaded into daya warehouse for analysis.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Types of Extraction</a:t>
            </a:r>
            <a:endParaRPr lang="en-US"/>
          </a:p>
        </p:txBody>
      </p:sp>
      <p:sp>
        <p:nvSpPr>
          <p:cNvPr id="3" name="Content Placeholder 2"/>
          <p:cNvSpPr>
            <a:spLocks noGrp="1"/>
          </p:cNvSpPr>
          <p:nvPr>
            <p:ph idx="1"/>
          </p:nvPr>
        </p:nvSpPr>
        <p:spPr/>
        <p:txBody>
          <a:bodyPr/>
          <a:p>
            <a:r>
              <a:rPr lang="en-US"/>
              <a:t>1. Full Extraction</a:t>
            </a:r>
            <a:endParaRPr lang="en-US"/>
          </a:p>
          <a:p>
            <a:r>
              <a:rPr lang="en-US"/>
              <a:t>2. Incremental Extraction</a:t>
            </a:r>
            <a:endParaRPr lang="en-US"/>
          </a:p>
          <a:p>
            <a:r>
              <a:rPr lang="en-US"/>
              <a:t>3. Online Extraction</a:t>
            </a:r>
            <a:endParaRPr lang="en-US"/>
          </a:p>
          <a:p>
            <a:r>
              <a:rPr lang="en-US"/>
              <a:t>4. Offline Extraction</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 Full Extraction</a:t>
            </a:r>
            <a:endParaRPr lang="en-US"/>
          </a:p>
        </p:txBody>
      </p:sp>
      <p:sp>
        <p:nvSpPr>
          <p:cNvPr id="3" name="Content Placeholder 2"/>
          <p:cNvSpPr>
            <a:spLocks noGrp="1"/>
          </p:cNvSpPr>
          <p:nvPr>
            <p:ph idx="1"/>
          </p:nvPr>
        </p:nvSpPr>
        <p:spPr>
          <a:xfrm>
            <a:off x="838200" y="1548130"/>
            <a:ext cx="10515600" cy="4925695"/>
          </a:xfrm>
        </p:spPr>
        <p:txBody>
          <a:bodyPr>
            <a:normAutofit fontScale="90000"/>
          </a:bodyPr>
          <a:p>
            <a:r>
              <a:rPr lang="en-US"/>
              <a:t>in this method, all data is extracted from the source system every time.</a:t>
            </a:r>
            <a:endParaRPr lang="en-US"/>
          </a:p>
          <a:p>
            <a:r>
              <a:rPr lang="en-US"/>
              <a:t>it is simple to implement but takes more time and requires more storage.</a:t>
            </a:r>
            <a:endParaRPr lang="en-US"/>
          </a:p>
          <a:p>
            <a:r>
              <a:rPr lang="en-US"/>
              <a:t>Suitable  when the data volume is small or when the entire dataset needs to be refreshed.</a:t>
            </a:r>
            <a:endParaRPr lang="en-US"/>
          </a:p>
          <a:p>
            <a:r>
              <a:rPr lang="en-US"/>
              <a:t>Advantages : </a:t>
            </a:r>
            <a:endParaRPr lang="en-US"/>
          </a:p>
          <a:p>
            <a:pPr lvl="1"/>
            <a:r>
              <a:rPr lang="en-US"/>
              <a:t>Easy to Perform.</a:t>
            </a:r>
            <a:endParaRPr lang="en-US"/>
          </a:p>
          <a:p>
            <a:pPr lvl="1"/>
            <a:r>
              <a:rPr lang="en-US"/>
              <a:t>Ensures Complete and Consistent Data.</a:t>
            </a:r>
            <a:endParaRPr lang="en-US"/>
          </a:p>
          <a:p>
            <a:pPr lvl="0"/>
            <a:r>
              <a:rPr lang="en-US" sz="2800"/>
              <a:t>Disadvantages :</a:t>
            </a:r>
            <a:endParaRPr lang="en-US" sz="2800"/>
          </a:p>
          <a:p>
            <a:pPr lvl="1"/>
            <a:r>
              <a:rPr lang="en-US"/>
              <a:t>Time Consuming.</a:t>
            </a:r>
            <a:endParaRPr lang="en-US"/>
          </a:p>
          <a:p>
            <a:pPr lvl="1"/>
            <a:r>
              <a:rPr lang="en-US"/>
              <a:t>High Network and Storage Usage.</a:t>
            </a:r>
            <a:endParaRPr lang="en-US"/>
          </a:p>
          <a:p>
            <a:pPr lvl="1"/>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2. Incremental Extraction</a:t>
            </a:r>
            <a:endParaRPr lang="en-US"/>
          </a:p>
        </p:txBody>
      </p:sp>
      <p:sp>
        <p:nvSpPr>
          <p:cNvPr id="3" name="Content Placeholder 2"/>
          <p:cNvSpPr>
            <a:spLocks noGrp="1"/>
          </p:cNvSpPr>
          <p:nvPr>
            <p:ph idx="1"/>
          </p:nvPr>
        </p:nvSpPr>
        <p:spPr/>
        <p:txBody>
          <a:bodyPr/>
          <a:p>
            <a:r>
              <a:rPr lang="en-US"/>
              <a:t>Only new or modified records since the last extraction are retrieved.</a:t>
            </a:r>
            <a:endParaRPr lang="en-US"/>
          </a:p>
          <a:p>
            <a:r>
              <a:rPr lang="en-US"/>
              <a:t>Uses timstamps or change logs to identify updated data.</a:t>
            </a:r>
            <a:endParaRPr lang="en-US"/>
          </a:p>
          <a:p>
            <a:r>
              <a:rPr lang="en-US"/>
              <a:t>Suitable for large databases that are updated frequently.</a:t>
            </a:r>
            <a:endParaRPr lang="en-US"/>
          </a:p>
          <a:p>
            <a:r>
              <a:rPr lang="en-US"/>
              <a:t>Advantages :</a:t>
            </a:r>
            <a:endParaRPr lang="en-US"/>
          </a:p>
          <a:p>
            <a:pPr lvl="1"/>
            <a:r>
              <a:rPr lang="en-US" sz="2400"/>
              <a:t>Faster then full extraction.</a:t>
            </a:r>
            <a:endParaRPr lang="en-US" sz="2400"/>
          </a:p>
          <a:p>
            <a:pPr lvl="1"/>
            <a:r>
              <a:rPr lang="en-US" sz="2400"/>
              <a:t>Reduces network traffic and storage requirements.</a:t>
            </a:r>
            <a:endParaRPr lang="en-US" sz="2400"/>
          </a:p>
          <a:p>
            <a:pPr lvl="0"/>
            <a:r>
              <a:rPr lang="en-US" sz="2800"/>
              <a:t>Disadvantages :</a:t>
            </a:r>
            <a:endParaRPr lang="en-US" sz="2800"/>
          </a:p>
          <a:p>
            <a:pPr lvl="1"/>
            <a:r>
              <a:rPr lang="en-US" sz="2400"/>
              <a:t>More Complex to implement</a:t>
            </a:r>
            <a:endParaRPr lang="en-US" sz="2400"/>
          </a:p>
          <a:p>
            <a:pPr lvl="1"/>
            <a:r>
              <a:rPr lang="en-US" sz="2400"/>
              <a:t>Requires mechanisms to track data changes.</a:t>
            </a:r>
            <a:endParaRPr lang="en-US"/>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3. Online Extraction</a:t>
            </a:r>
            <a:endParaRPr lang="en-US"/>
          </a:p>
        </p:txBody>
      </p:sp>
      <p:sp>
        <p:nvSpPr>
          <p:cNvPr id="3" name="Content Placeholder 2"/>
          <p:cNvSpPr>
            <a:spLocks noGrp="1"/>
          </p:cNvSpPr>
          <p:nvPr>
            <p:ph idx="1"/>
          </p:nvPr>
        </p:nvSpPr>
        <p:spPr/>
        <p:txBody>
          <a:bodyPr/>
          <a:p>
            <a:r>
              <a:rPr lang="en-US"/>
              <a:t>Data is extracted directly from the Source System in real-time.</a:t>
            </a:r>
            <a:endParaRPr lang="en-US"/>
          </a:p>
          <a:p>
            <a:r>
              <a:rPr lang="en-US"/>
              <a:t>Commonly used when up-to-date information is required.</a:t>
            </a:r>
            <a:endParaRPr lang="en-US"/>
          </a:p>
          <a:p>
            <a:r>
              <a:rPr lang="en-US"/>
              <a:t>Advantages :</a:t>
            </a:r>
            <a:endParaRPr lang="en-US"/>
          </a:p>
          <a:p>
            <a:pPr lvl="1"/>
            <a:r>
              <a:rPr lang="en-US"/>
              <a:t>Provides Current and Accurate Data.</a:t>
            </a:r>
            <a:endParaRPr lang="en-US"/>
          </a:p>
          <a:p>
            <a:pPr lvl="1"/>
            <a:r>
              <a:rPr lang="en-US"/>
              <a:t>Supports real-time analytics.</a:t>
            </a:r>
            <a:endParaRPr lang="en-US"/>
          </a:p>
          <a:p>
            <a:pPr lvl="0"/>
            <a:r>
              <a:rPr lang="en-US"/>
              <a:t>Disadvantages :</a:t>
            </a:r>
            <a:endParaRPr lang="en-US"/>
          </a:p>
          <a:p>
            <a:pPr lvl="1"/>
            <a:r>
              <a:rPr lang="en-US"/>
              <a:t>May affect the performance of the operational Systems.</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4. Offline Extraction</a:t>
            </a:r>
            <a:endParaRPr lang="en-US"/>
          </a:p>
        </p:txBody>
      </p:sp>
      <p:sp>
        <p:nvSpPr>
          <p:cNvPr id="3" name="Content Placeholder 2"/>
          <p:cNvSpPr>
            <a:spLocks noGrp="1"/>
          </p:cNvSpPr>
          <p:nvPr>
            <p:ph idx="1"/>
          </p:nvPr>
        </p:nvSpPr>
        <p:spPr/>
        <p:txBody>
          <a:bodyPr/>
          <a:p>
            <a:r>
              <a:rPr lang="en-US"/>
              <a:t>Data is first copied to an intermediate storage and then extracted from there.</a:t>
            </a:r>
            <a:endParaRPr lang="en-US"/>
          </a:p>
          <a:p>
            <a:r>
              <a:rPr lang="en-US"/>
              <a:t>Minimizes the impact on the operational database.</a:t>
            </a:r>
            <a:endParaRPr lang="en-US"/>
          </a:p>
          <a:p>
            <a:r>
              <a:rPr lang="en-US"/>
              <a:t>Advantages :</a:t>
            </a:r>
            <a:endParaRPr lang="en-US"/>
          </a:p>
          <a:p>
            <a:pPr lvl="1"/>
            <a:r>
              <a:rPr lang="en-US"/>
              <a:t>Does not slow down the source system.</a:t>
            </a:r>
            <a:endParaRPr lang="en-US"/>
          </a:p>
          <a:p>
            <a:pPr lvl="1"/>
            <a:r>
              <a:rPr lang="en-US"/>
              <a:t>Suitable for large-scale data processing.</a:t>
            </a:r>
            <a:endParaRPr lang="en-US"/>
          </a:p>
          <a:p>
            <a:pPr lvl="0"/>
            <a:r>
              <a:rPr lang="en-US"/>
              <a:t>Disadvantages :</a:t>
            </a:r>
            <a:endParaRPr lang="en-US"/>
          </a:p>
          <a:p>
            <a:pPr lvl="1"/>
            <a:r>
              <a:rPr lang="en-US"/>
              <a:t>Data may not be the latest availble.</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Importance of Data Extraction in BI</a:t>
            </a:r>
            <a:endParaRPr lang="en-US"/>
          </a:p>
        </p:txBody>
      </p:sp>
      <p:sp>
        <p:nvSpPr>
          <p:cNvPr id="3" name="Content Placeholder 2"/>
          <p:cNvSpPr>
            <a:spLocks noGrp="1"/>
          </p:cNvSpPr>
          <p:nvPr>
            <p:ph idx="1"/>
          </p:nvPr>
        </p:nvSpPr>
        <p:spPr/>
        <p:txBody>
          <a:bodyPr/>
          <a:p>
            <a:r>
              <a:rPr lang="en-US"/>
              <a:t>Collects data from multiple sources.</a:t>
            </a:r>
            <a:endParaRPr lang="en-US"/>
          </a:p>
          <a:p>
            <a:r>
              <a:rPr lang="en-US"/>
              <a:t>Improves data Quality for analysis.</a:t>
            </a:r>
            <a:endParaRPr lang="en-US"/>
          </a:p>
          <a:p>
            <a:r>
              <a:rPr lang="en-US"/>
              <a:t>Froms the foundation of the ETL Process.</a:t>
            </a:r>
            <a:endParaRPr lang="en-US"/>
          </a:p>
          <a:p>
            <a:r>
              <a:rPr lang="en-US"/>
              <a:t>Enables accurate reporting and decision-making.</a:t>
            </a:r>
            <a:endParaRPr lang="en-US"/>
          </a:p>
          <a:p>
            <a:r>
              <a:rPr lang="en-US"/>
              <a:t>Supports the creation of a centralized data warehouse.</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Transformation in BI</a:t>
            </a:r>
            <a:endParaRPr lang="en-US"/>
          </a:p>
        </p:txBody>
      </p:sp>
      <p:sp>
        <p:nvSpPr>
          <p:cNvPr id="3" name="Content Placeholder 2"/>
          <p:cNvSpPr>
            <a:spLocks noGrp="1"/>
          </p:cNvSpPr>
          <p:nvPr>
            <p:ph idx="1"/>
          </p:nvPr>
        </p:nvSpPr>
        <p:spPr/>
        <p:txBody>
          <a:bodyPr/>
          <a:p>
            <a:r>
              <a:rPr lang="en-US"/>
              <a:t>Tranformation is the second step of the ETL process. it involves converting the extracted raw data into clean, consistent and usable format before loading in into the data warehouse.</a:t>
            </a:r>
            <a:endParaRPr lang="en-US"/>
          </a:p>
          <a:p>
            <a:r>
              <a:rPr lang="en-US"/>
              <a:t>Purpose :</a:t>
            </a:r>
            <a:endParaRPr lang="en-US"/>
          </a:p>
          <a:p>
            <a:pPr lvl="1"/>
            <a:r>
              <a:rPr lang="en-US"/>
              <a:t>Improve Data Quality</a:t>
            </a:r>
            <a:endParaRPr lang="en-US"/>
          </a:p>
          <a:p>
            <a:pPr lvl="1"/>
            <a:r>
              <a:rPr lang="en-US"/>
              <a:t>Remove erroes and dulpicate records.</a:t>
            </a:r>
            <a:endParaRPr lang="en-US"/>
          </a:p>
          <a:p>
            <a:pPr lvl="1"/>
            <a:r>
              <a:rPr lang="en-US"/>
              <a:t>Standardize data formates.</a:t>
            </a:r>
            <a:endParaRPr lang="en-US"/>
          </a:p>
          <a:p>
            <a:pPr lvl="1"/>
            <a:r>
              <a:rPr lang="en-US"/>
              <a:t>Prepare data for analysis and reporting.</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1325563"/>
          </a:xfrm>
        </p:spPr>
        <p:txBody>
          <a:bodyPr/>
          <a:p>
            <a:r>
              <a:rPr lang="en-US"/>
              <a:t>Types of Transformation</a:t>
            </a:r>
            <a:endParaRPr lang="en-US"/>
          </a:p>
        </p:txBody>
      </p:sp>
      <p:sp>
        <p:nvSpPr>
          <p:cNvPr id="3" name="Content Placeholder 2"/>
          <p:cNvSpPr>
            <a:spLocks noGrp="1"/>
          </p:cNvSpPr>
          <p:nvPr>
            <p:ph idx="1"/>
          </p:nvPr>
        </p:nvSpPr>
        <p:spPr>
          <a:xfrm>
            <a:off x="838200" y="1071245"/>
            <a:ext cx="10735310" cy="4715510"/>
          </a:xfrm>
        </p:spPr>
        <p:txBody>
          <a:bodyPr>
            <a:noAutofit/>
          </a:bodyPr>
          <a:p>
            <a:r>
              <a:rPr lang="en-US"/>
              <a:t>1. Filtering :  Removes unnecessary or unwanted data.</a:t>
            </a:r>
            <a:endParaRPr lang="en-US"/>
          </a:p>
          <a:p>
            <a:r>
              <a:rPr lang="en-US"/>
              <a:t>2. Sorting : Arranges data in a specific order. (acenending or descending).</a:t>
            </a:r>
            <a:endParaRPr lang="en-US"/>
          </a:p>
          <a:p>
            <a:r>
              <a:rPr lang="en-US"/>
              <a:t>3. Aggregation : Combines data to cretae summeries.</a:t>
            </a:r>
            <a:endParaRPr lang="en-US"/>
          </a:p>
          <a:p>
            <a:pPr lvl="1"/>
            <a:r>
              <a:rPr lang="en-US"/>
              <a:t>Example : Total Sales.</a:t>
            </a:r>
            <a:endParaRPr lang="en-US"/>
          </a:p>
          <a:p>
            <a:pPr lvl="0"/>
            <a:r>
              <a:rPr lang="en-US"/>
              <a:t>4. Joining / Merging : Combines data from multiple sources into one dataset.</a:t>
            </a:r>
            <a:endParaRPr lang="en-US"/>
          </a:p>
          <a:p>
            <a:pPr lvl="0"/>
            <a:r>
              <a:rPr lang="en-US"/>
              <a:t>5. Data Cleaning : Corrects errors, removes duplicates, and files missing values.</a:t>
            </a:r>
            <a:endParaRPr lang="en-US"/>
          </a:p>
          <a:p>
            <a:pPr lvl="0"/>
            <a:r>
              <a:rPr lang="en-US"/>
              <a:t>6. Data Standardization  : Converts data iinto a Common format.</a:t>
            </a:r>
            <a:endParaRPr lang="en-US"/>
          </a:p>
          <a:p>
            <a:pPr lvl="1"/>
            <a:r>
              <a:rPr lang="en-US"/>
              <a:t>Examples : </a:t>
            </a:r>
            <a:endParaRPr lang="en-US"/>
          </a:p>
          <a:p>
            <a:pPr lvl="2"/>
            <a:r>
              <a:rPr lang="en-US"/>
              <a:t>Data Format</a:t>
            </a:r>
            <a:endParaRPr lang="en-US"/>
          </a:p>
          <a:p>
            <a:pPr lvl="2"/>
            <a:r>
              <a:rPr lang="en-US"/>
              <a:t>Currency</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Loading in ETL</a:t>
            </a:r>
            <a:endParaRPr lang="en-US"/>
          </a:p>
        </p:txBody>
      </p:sp>
      <p:sp>
        <p:nvSpPr>
          <p:cNvPr id="3" name="Content Placeholder 2"/>
          <p:cNvSpPr>
            <a:spLocks noGrp="1"/>
          </p:cNvSpPr>
          <p:nvPr>
            <p:ph idx="1"/>
          </p:nvPr>
        </p:nvSpPr>
        <p:spPr/>
        <p:txBody>
          <a:bodyPr/>
          <a:p>
            <a:r>
              <a:rPr lang="en-US"/>
              <a:t>Loading is the final step for ETL (Extract, Transform, Load) process.it involves transferring the transformed data into the data warehouse for reporting and analysis.</a:t>
            </a:r>
            <a:endParaRPr lang="en-US"/>
          </a:p>
          <a:p>
            <a:r>
              <a:rPr lang="en-US"/>
              <a:t>Let’s Explore the Types of Loading ....</a:t>
            </a:r>
            <a:endParaRPr lang="en-US"/>
          </a:p>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Types of Loading</a:t>
            </a:r>
            <a:endParaRPr lang="en-US"/>
          </a:p>
        </p:txBody>
      </p:sp>
      <p:sp>
        <p:nvSpPr>
          <p:cNvPr id="3" name="Content Placeholder 2"/>
          <p:cNvSpPr>
            <a:spLocks noGrp="1"/>
          </p:cNvSpPr>
          <p:nvPr>
            <p:ph idx="1"/>
          </p:nvPr>
        </p:nvSpPr>
        <p:spPr/>
        <p:txBody>
          <a:bodyPr/>
          <a:p>
            <a:r>
              <a:rPr lang="en-US"/>
              <a:t>1. Initial Loading : Loads all data into the data warehouse for the first time.</a:t>
            </a:r>
            <a:endParaRPr lang="en-US"/>
          </a:p>
          <a:p>
            <a:pPr lvl="1"/>
            <a:r>
              <a:rPr lang="en-US"/>
              <a:t>Used when the data warehouse is created.</a:t>
            </a:r>
            <a:endParaRPr lang="en-US"/>
          </a:p>
          <a:p>
            <a:pPr lvl="0"/>
            <a:r>
              <a:rPr lang="en-US"/>
              <a:t>2. Full Load : Loads the entire dataset every time.</a:t>
            </a:r>
            <a:endParaRPr lang="en-US"/>
          </a:p>
          <a:p>
            <a:pPr lvl="1"/>
            <a:r>
              <a:rPr lang="en-US"/>
              <a:t>Existing data is replaced with the latest data.</a:t>
            </a:r>
            <a:endParaRPr lang="en-US"/>
          </a:p>
          <a:p>
            <a:pPr lvl="1"/>
            <a:r>
              <a:rPr lang="en-US"/>
              <a:t>Suitable for small datasets.</a:t>
            </a:r>
            <a:endParaRPr lang="en-US"/>
          </a:p>
          <a:p>
            <a:pPr lvl="0"/>
            <a:r>
              <a:rPr lang="en-US"/>
              <a:t>3. Incremental Load : Loads only new or updated since the last load.</a:t>
            </a:r>
            <a:endParaRPr lang="en-US"/>
          </a:p>
          <a:p>
            <a:pPr lvl="1"/>
            <a:r>
              <a:rPr lang="en-US"/>
              <a:t>Faster and more efficient than a full load.</a:t>
            </a:r>
            <a:endParaRPr lang="en-US"/>
          </a:p>
          <a:p>
            <a:pPr lvl="1"/>
            <a:r>
              <a:rPr lang="en-US"/>
              <a:t>Commonly used in large organizations.</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Types of Loading</a:t>
            </a:r>
            <a:endParaRPr lang="en-US"/>
          </a:p>
        </p:txBody>
      </p:sp>
      <p:sp>
        <p:nvSpPr>
          <p:cNvPr id="3" name="Content Placeholder 2"/>
          <p:cNvSpPr>
            <a:spLocks noGrp="1"/>
          </p:cNvSpPr>
          <p:nvPr>
            <p:ph idx="1"/>
          </p:nvPr>
        </p:nvSpPr>
        <p:spPr/>
        <p:txBody>
          <a:bodyPr/>
          <a:p>
            <a:r>
              <a:rPr lang="en-US"/>
              <a:t>4. Refresh Load :  Updates the data warehouse at regular intervals.(Daily, Weekly and Monthly).</a:t>
            </a:r>
            <a:endParaRPr lang="en-US"/>
          </a:p>
          <a:p>
            <a:pPr lvl="1"/>
            <a:r>
              <a:rPr lang="en-US"/>
              <a:t>Ensures reports contain recent data.</a:t>
            </a:r>
            <a:endParaRPr lang="en-US"/>
          </a:p>
          <a:p>
            <a:pPr lvl="1"/>
            <a:endParaRPr lang="en-US"/>
          </a:p>
          <a:p>
            <a:pPr lvl="0"/>
            <a:r>
              <a:rPr lang="en-US"/>
              <a:t>Advantages of Loading : </a:t>
            </a:r>
            <a:endParaRPr lang="en-US"/>
          </a:p>
          <a:p>
            <a:pPr lvl="1"/>
            <a:r>
              <a:rPr lang="en-US"/>
              <a:t>Stores data in a centralized location.</a:t>
            </a:r>
            <a:endParaRPr lang="en-US"/>
          </a:p>
          <a:p>
            <a:pPr lvl="1"/>
            <a:r>
              <a:rPr lang="en-US"/>
              <a:t>Makes data available for analysis and reporting.</a:t>
            </a:r>
            <a:endParaRPr lang="en-US"/>
          </a:p>
          <a:p>
            <a:pPr lvl="1"/>
            <a:r>
              <a:rPr lang="en-US"/>
              <a:t>Supports fast and accurate decision-making.</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US"/>
              <a:t>Thank you</a:t>
            </a:r>
            <a:endParaRPr lang="en-US"/>
          </a:p>
        </p:txBody>
      </p:sp>
      <p:sp>
        <p:nvSpPr>
          <p:cNvPr id="5" name="Subtitle 4"/>
          <p:cNvSpPr>
            <a:spLocks noGrp="1"/>
          </p:cNvSpPr>
          <p:nvPr>
            <p:ph type="subTitle" idx="1"/>
          </p:nvPr>
        </p:nvSpPr>
        <p:spPr/>
        <p:txBody>
          <a:bodyPr/>
          <a:p>
            <a:r>
              <a:rPr lang="en-US"/>
              <a:t>Next topic :  SSIS</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3831</Words>
  <Application>WPS Presentation</Application>
  <PresentationFormat>Widescreen</PresentationFormat>
  <Paragraphs>125</Paragraphs>
  <Slides>14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vt:i4>
      </vt:variant>
    </vt:vector>
  </HeadingPairs>
  <TitlesOfParts>
    <vt:vector size="22" baseType="lpstr">
      <vt:lpstr>Arial</vt:lpstr>
      <vt:lpstr>SimSun</vt:lpstr>
      <vt:lpstr>Wingdings</vt:lpstr>
      <vt:lpstr>Calibri Light</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Vraj Suratwala</dc:creator>
  <cp:lastModifiedBy>Vraj Suratwala</cp:lastModifiedBy>
  <cp:revision>20</cp:revision>
  <dcterms:created xsi:type="dcterms:W3CDTF">2025-07-23T00:59:00Z</dcterms:created>
  <dcterms:modified xsi:type="dcterms:W3CDTF">2026-07-21T18:50:58Z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2C786868D7BA49749C9E8AFB6C9D8F2E_11</vt:lpwstr>
  </property>
  <property fmtid="{D5CDD505-2E9C-101B-9397-08002B2CF9AE}" pid="3" name="KSOProductBuildVer">
    <vt:lpwstr>1033-12.1.0.25862</vt:lpwstr>
  </property>
</Properties>
</file>