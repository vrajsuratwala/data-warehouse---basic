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1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2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3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4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6.xml"/><Relationship Id="rId3" Type="http://schemas.openxmlformats.org/officeDocument/2006/relationships/image" Target="../media/image5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2.xml"/><Relationship Id="rId3" Type="http://schemas.openxmlformats.org/officeDocument/2006/relationships/image" Target="../media/image6.pn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5.xml"/><Relationship Id="rId3" Type="http://schemas.openxmlformats.org/officeDocument/2006/relationships/image" Target="../media/image7.png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1.xml"/><Relationship Id="rId3" Type="http://schemas.openxmlformats.org/officeDocument/2006/relationships/image" Target="../media/image8.png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8.xml"/><Relationship Id="rId3" Type="http://schemas.openxmlformats.org/officeDocument/2006/relationships/image" Target="../media/image9.png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1.xml"/><Relationship Id="rId3" Type="http://schemas.openxmlformats.org/officeDocument/2006/relationships/image" Target="../media/image10.png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6.xml"/><Relationship Id="rId3" Type="http://schemas.openxmlformats.org/officeDocument/2006/relationships/image" Target="../media/image11.png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9.xml"/><Relationship Id="rId3" Type="http://schemas.openxmlformats.org/officeDocument/2006/relationships/image" Target="../media/image12.png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2.xml"/><Relationship Id="rId3" Type="http://schemas.openxmlformats.org/officeDocument/2006/relationships/image" Target="../media/image13.png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Data Lake &amp; One Lake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/>
              <a:t>Vraj Suratwala </a:t>
            </a:r>
            <a:endParaRPr lang="en-US"/>
          </a:p>
          <a:p>
            <a:r>
              <a:rPr lang="en-US"/>
              <a:t>BI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Introduction to Data Storage &amp; OneLake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en-US" altLang="en-US"/>
              <a:t>Data Storage refers to the methods and technologies used to store, manage, organize, and retrieve data for operational and analytical purposes.</a:t>
            </a:r>
            <a:endParaRPr lang="en-US" altLang="en-US"/>
          </a:p>
          <a:p>
            <a:r>
              <a:rPr lang="en-US" altLang="en-US"/>
              <a:t>Organizations generate data from many sources:</a:t>
            </a:r>
            <a:endParaRPr lang="en-US" altLang="en-US"/>
          </a:p>
          <a:p>
            <a:r>
              <a:rPr lang="en-US" altLang="en-US"/>
              <a:t>Databases</a:t>
            </a:r>
            <a:endParaRPr lang="en-US" altLang="en-US"/>
          </a:p>
          <a:p>
            <a:r>
              <a:rPr lang="en-US" altLang="en-US"/>
              <a:t>Applications</a:t>
            </a:r>
            <a:endParaRPr lang="en-US" altLang="en-US"/>
          </a:p>
          <a:p>
            <a:r>
              <a:rPr lang="en-US" altLang="en-US"/>
              <a:t>Websites</a:t>
            </a:r>
            <a:endParaRPr lang="en-US" altLang="en-US"/>
          </a:p>
          <a:p>
            <a:r>
              <a:rPr lang="en-US" altLang="en-US"/>
              <a:t>IoT devices</a:t>
            </a:r>
            <a:endParaRPr lang="en-US" altLang="en-US"/>
          </a:p>
          <a:p>
            <a:r>
              <a:rPr lang="en-US" altLang="en-US"/>
              <a:t>Social media</a:t>
            </a:r>
            <a:endParaRPr lang="en-US" altLang="en-US"/>
          </a:p>
          <a:p>
            <a:r>
              <a:rPr lang="en-US" altLang="en-US"/>
              <a:t>Files and documents</a:t>
            </a:r>
            <a:endParaRPr lang="en-US" altLang="en-US"/>
          </a:p>
          <a:p>
            <a:r>
              <a:rPr lang="en-US" altLang="en-US"/>
              <a:t>Business applications</a:t>
            </a:r>
            <a:endParaRPr lang="en-US" altLang="en-US"/>
          </a:p>
          <a:p>
            <a:r>
              <a:rPr lang="en-US" altLang="en-US"/>
              <a:t>Sensors and machines</a:t>
            </a:r>
            <a:endParaRPr lang="en-US" altLang="en-US"/>
          </a:p>
          <a:p>
            <a:r>
              <a:rPr lang="en-US" altLang="en-US"/>
              <a:t>The storage system must be able to handle different volumes, formats, and types of data.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Types of Data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Before understanding Data Lakes, remember the three broad categories of data.</a:t>
            </a:r>
            <a:endParaRPr lang="en-US" altLang="en-US"/>
          </a:p>
          <a:p>
            <a:r>
              <a:rPr lang="en-US" altLang="en-US"/>
              <a:t>1. Structured Data</a:t>
            </a:r>
            <a:endParaRPr lang="en-US" altLang="en-US"/>
          </a:p>
          <a:p>
            <a:r>
              <a:rPr lang="en-US" altLang="en-US"/>
              <a:t>Data with a fixed schema and well-defined structure.</a:t>
            </a:r>
            <a:endParaRPr lang="en-US" altLang="en-US"/>
          </a:p>
          <a:p>
            <a:r>
              <a:rPr lang="en-US" altLang="en-US"/>
              <a:t>Examples:</a:t>
            </a:r>
            <a:endParaRPr lang="en-US" altLang="en-US"/>
          </a:p>
          <a:p>
            <a:pPr lvl="1"/>
            <a:r>
              <a:rPr lang="en-US" altLang="en-US"/>
              <a:t>SQL tables</a:t>
            </a:r>
            <a:endParaRPr lang="en-US" altLang="en-US"/>
          </a:p>
          <a:p>
            <a:pPr lvl="1"/>
            <a:r>
              <a:rPr lang="en-US" altLang="en-US"/>
              <a:t>Customer records</a:t>
            </a:r>
            <a:endParaRPr lang="en-US" altLang="en-US"/>
          </a:p>
          <a:p>
            <a:pPr lvl="1"/>
            <a:r>
              <a:rPr lang="en-US" altLang="en-US"/>
              <a:t>Sales transactions</a:t>
            </a:r>
            <a:endParaRPr lang="en-US" altLang="en-US"/>
          </a:p>
          <a:p>
            <a:pPr lvl="1"/>
            <a:r>
              <a:rPr lang="en-US" altLang="en-US"/>
              <a:t>Customer_ID 	| Name 		| City</a:t>
            </a:r>
            <a:endParaRPr lang="en-US" altLang="en-US"/>
          </a:p>
          <a:p>
            <a:pPr lvl="1"/>
            <a:r>
              <a:rPr lang="en-US" altLang="en-US"/>
              <a:t>101         		| Vraj 		| Surat</a:t>
            </a:r>
            <a:endParaRPr lang="en-US" altLang="en-US"/>
          </a:p>
          <a:p>
            <a:pPr lvl="1"/>
            <a:r>
              <a:rPr lang="en-US" altLang="en-US"/>
              <a:t>102         		| Rahul		| Mumbai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Types of Data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600"/>
              <a:t>2. Semi-Structured Data</a:t>
            </a:r>
            <a:endParaRPr lang="en-US" altLang="en-US" sz="1600"/>
          </a:p>
          <a:p>
            <a:r>
              <a:rPr lang="en-US" altLang="en-US" sz="1600"/>
              <a:t>Data that does not follow a strict tabular structure but contains some organizational information such as tags, keys, or metadata.</a:t>
            </a:r>
            <a:endParaRPr lang="en-US" altLang="en-US" sz="1600"/>
          </a:p>
          <a:p>
            <a:r>
              <a:rPr lang="en-US" altLang="en-US" sz="1600"/>
              <a:t>Examples:</a:t>
            </a:r>
            <a:endParaRPr lang="en-US" altLang="en-US" sz="1600"/>
          </a:p>
          <a:p>
            <a:r>
              <a:rPr lang="en-US" altLang="en-US" sz="1600"/>
              <a:t>JSON</a:t>
            </a:r>
            <a:endParaRPr lang="en-US" altLang="en-US" sz="1600"/>
          </a:p>
          <a:p>
            <a:r>
              <a:rPr lang="en-US" altLang="en-US" sz="1600"/>
              <a:t>XML</a:t>
            </a:r>
            <a:endParaRPr lang="en-US" altLang="en-US" sz="1600"/>
          </a:p>
          <a:p>
            <a:r>
              <a:rPr lang="en-US" altLang="en-US" sz="1600"/>
              <a:t>CSV</a:t>
            </a:r>
            <a:endParaRPr lang="en-US" altLang="en-US" sz="1600"/>
          </a:p>
          <a:p>
            <a:r>
              <a:rPr lang="en-US" altLang="en-US" sz="1600"/>
              <a:t>Web logs</a:t>
            </a:r>
            <a:endParaRPr lang="en-US" altLang="en-US" sz="1600"/>
          </a:p>
          <a:p>
            <a:pPr marL="457200" lvl="1" indent="0">
              <a:buNone/>
            </a:pPr>
            <a:r>
              <a:rPr lang="en-US" altLang="en-US" sz="1400"/>
              <a:t>Example:</a:t>
            </a:r>
            <a:br>
              <a:rPr lang="en-US" altLang="en-US" sz="1400"/>
            </a:br>
            <a:r>
              <a:rPr lang="en-US" altLang="en-US" sz="1400"/>
              <a:t>	{</a:t>
            </a:r>
            <a:endParaRPr lang="en-US" altLang="en-US" sz="1400"/>
          </a:p>
          <a:p>
            <a:pPr marL="457200" lvl="1" indent="0">
              <a:buNone/>
            </a:pPr>
            <a:r>
              <a:rPr lang="en-US" altLang="en-US" sz="1400"/>
              <a:t>  "CustomerID": 101,</a:t>
            </a:r>
            <a:endParaRPr lang="en-US" altLang="en-US" sz="1400"/>
          </a:p>
          <a:p>
            <a:pPr marL="457200" lvl="1" indent="0">
              <a:buNone/>
            </a:pPr>
            <a:r>
              <a:rPr lang="en-US" altLang="en-US" sz="1400"/>
              <a:t>  "Name": "Vraj",</a:t>
            </a:r>
            <a:endParaRPr lang="en-US" altLang="en-US" sz="1400"/>
          </a:p>
          <a:p>
            <a:pPr marL="457200" lvl="1" indent="0">
              <a:buNone/>
            </a:pPr>
            <a:r>
              <a:rPr lang="en-US" altLang="en-US" sz="1400"/>
              <a:t>  "City": "Surat"</a:t>
            </a:r>
            <a:endParaRPr lang="en-US" altLang="en-US" sz="1400"/>
          </a:p>
          <a:p>
            <a:pPr marL="457200" lvl="1" indent="0">
              <a:buNone/>
            </a:pPr>
            <a:r>
              <a:rPr lang="en-US" altLang="en-US" sz="1400"/>
              <a:t>}</a:t>
            </a:r>
            <a:endParaRPr lang="en-US" altLang="en-US" sz="14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Types of Data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en-US"/>
              <a:t>Data without a predefined tabular structure.</a:t>
            </a:r>
            <a:endParaRPr lang="en-US" altLang="en-US"/>
          </a:p>
          <a:p>
            <a:r>
              <a:rPr lang="en-US" altLang="en-US"/>
              <a:t>Examples:</a:t>
            </a:r>
            <a:endParaRPr lang="en-US" altLang="en-US"/>
          </a:p>
          <a:p>
            <a:r>
              <a:rPr lang="en-US" altLang="en-US"/>
              <a:t>Images</a:t>
            </a:r>
            <a:endParaRPr lang="en-US" altLang="en-US"/>
          </a:p>
          <a:p>
            <a:r>
              <a:rPr lang="en-US" altLang="en-US"/>
              <a:t>Videos</a:t>
            </a:r>
            <a:endParaRPr lang="en-US" altLang="en-US"/>
          </a:p>
          <a:p>
            <a:r>
              <a:rPr lang="en-US" altLang="en-US"/>
              <a:t>Audio</a:t>
            </a:r>
            <a:endParaRPr lang="en-US" altLang="en-US"/>
          </a:p>
          <a:p>
            <a:r>
              <a:rPr lang="en-US" altLang="en-US"/>
              <a:t>PDFs</a:t>
            </a:r>
            <a:endParaRPr lang="en-US" altLang="en-US"/>
          </a:p>
          <a:p>
            <a:r>
              <a:rPr lang="en-US" altLang="en-US"/>
              <a:t>Text documents</a:t>
            </a:r>
            <a:endParaRPr lang="en-US" altLang="en-US"/>
          </a:p>
          <a:p>
            <a:r>
              <a:rPr lang="en-US" altLang="en-US"/>
              <a:t>Emails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⭐ Exam Point</a:t>
            </a:r>
            <a:endParaRPr lang="en-US" altLang="en-US"/>
          </a:p>
          <a:p>
            <a:pPr lvl="1"/>
            <a:r>
              <a:rPr lang="en-US" altLang="en-US"/>
              <a:t>Data Lake is particularly useful because it can store structured, semi-structured, and unstructured data.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Traditional Data Storage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Traditionally, organizations stored data in systems such as:</a:t>
            </a:r>
            <a:endParaRPr lang="en-US" altLang="en-US"/>
          </a:p>
          <a:p>
            <a:r>
              <a:rPr lang="en-US" altLang="en-US"/>
              <a:t>Relational Databases</a:t>
            </a:r>
            <a:endParaRPr lang="en-US" altLang="en-US"/>
          </a:p>
          <a:p>
            <a:r>
              <a:rPr lang="en-US" altLang="en-US"/>
              <a:t>Used primarily for structured data.</a:t>
            </a:r>
            <a:endParaRPr lang="en-US" altLang="en-US"/>
          </a:p>
          <a:p>
            <a:r>
              <a:rPr lang="en-US" altLang="en-US"/>
              <a:t>Examples:</a:t>
            </a:r>
            <a:endParaRPr lang="en-US" altLang="en-US"/>
          </a:p>
          <a:p>
            <a:pPr lvl="1"/>
            <a:r>
              <a:rPr lang="en-US" altLang="en-US"/>
              <a:t>SQL Server</a:t>
            </a:r>
            <a:endParaRPr lang="en-US" altLang="en-US"/>
          </a:p>
          <a:p>
            <a:pPr lvl="1"/>
            <a:r>
              <a:rPr lang="en-US" altLang="en-US"/>
              <a:t>MySQL</a:t>
            </a:r>
            <a:endParaRPr lang="en-US" altLang="en-US"/>
          </a:p>
          <a:p>
            <a:pPr lvl="1"/>
            <a:r>
              <a:rPr lang="en-US" altLang="en-US"/>
              <a:t>Oracle</a:t>
            </a:r>
            <a:endParaRPr lang="en-US" altLang="en-US"/>
          </a:p>
          <a:p>
            <a:pPr lvl="1"/>
            <a:r>
              <a:rPr lang="en-US" altLang="en-US"/>
              <a:t>PostgreSQL</a:t>
            </a:r>
            <a:endParaRPr lang="en-US" altLang="en-US"/>
          </a:p>
          <a:p>
            <a:pPr lvl="0"/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Data Warehouses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Designed mainly for analytical processing and reporting.</a:t>
            </a:r>
            <a:endParaRPr lang="en-US" altLang="en-US"/>
          </a:p>
          <a:p>
            <a:pPr marL="457200" lvl="1" indent="0" algn="ctr">
              <a:buNone/>
            </a:pPr>
            <a:r>
              <a:rPr lang="en-US" altLang="en-US"/>
              <a:t>Operational Systems</a:t>
            </a:r>
            <a:endParaRPr lang="en-US" altLang="en-US"/>
          </a:p>
          <a:p>
            <a:pPr marL="457200" lvl="1" indent="0" algn="ctr"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457200" lvl="1" indent="0" algn="ctr">
              <a:buNone/>
            </a:pPr>
            <a:r>
              <a:rPr lang="en-US" altLang="en-US"/>
              <a:t>     ETL</a:t>
            </a:r>
            <a:endParaRPr lang="en-US" altLang="en-US"/>
          </a:p>
          <a:p>
            <a:pPr marL="457200" lvl="1" indent="0" algn="ctr"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457200" lvl="1" indent="0" algn="ctr">
              <a:buNone/>
            </a:pPr>
            <a:r>
              <a:rPr lang="en-US" altLang="en-US"/>
              <a:t>Data Warehouse</a:t>
            </a:r>
            <a:endParaRPr lang="en-US" altLang="en-US"/>
          </a:p>
          <a:p>
            <a:pPr marL="457200" lvl="1" indent="0" algn="ctr"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457200" lvl="1" indent="0" algn="ctr">
              <a:buNone/>
            </a:pPr>
            <a:r>
              <a:rPr lang="en-US" altLang="en-US"/>
              <a:t>Reports / BI</a:t>
            </a:r>
            <a:endParaRPr lang="en-US" altLang="en-US"/>
          </a:p>
          <a:p>
            <a:pPr marL="457200" lvl="1" indent="0" algn="ctr">
              <a:buNone/>
            </a:pPr>
            <a:endParaRPr lang="en-US" altLang="en-US"/>
          </a:p>
          <a:p>
            <a:pPr marL="457200" lvl="1" indent="0" algn="ctr">
              <a:buNone/>
            </a:pPr>
            <a:r>
              <a:rPr lang="en-US" altLang="en-US"/>
              <a:t>However, modern organizations generate huge amounts of diverse data that may not fit naturally into traditional relational systems.</a:t>
            </a:r>
            <a:br>
              <a:rPr lang="en-US" altLang="en-US"/>
            </a:br>
            <a:r>
              <a:rPr lang="en-US" altLang="en-US"/>
              <a:t>This led to the growth of Data Lakes.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Evolution of Data Storage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r>
              <a:rPr lang="en-US" altLang="en-US"/>
              <a:t>A simple evolution can be remembered as:</a:t>
            </a:r>
            <a:endParaRPr lang="en-US" altLang="en-US"/>
          </a:p>
          <a:p>
            <a:pPr marL="0" indent="0" algn="r">
              <a:buNone/>
            </a:pPr>
            <a:r>
              <a:rPr lang="en-US" altLang="en-US"/>
              <a:t>Files / Databases</a:t>
            </a:r>
            <a:endParaRPr lang="en-US" altLang="en-US"/>
          </a:p>
          <a:p>
            <a:pPr marL="0" indent="0" algn="r"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0" indent="0" algn="r">
              <a:buNone/>
            </a:pPr>
            <a:r>
              <a:rPr lang="en-US" altLang="en-US"/>
              <a:t>Data Warehouse</a:t>
            </a:r>
            <a:endParaRPr lang="en-US" altLang="en-US"/>
          </a:p>
          <a:p>
            <a:pPr marL="0" indent="0" algn="r"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0" indent="0" algn="r">
              <a:buNone/>
            </a:pPr>
            <a:r>
              <a:rPr lang="en-US" altLang="en-US"/>
              <a:t>Big Data Platforms</a:t>
            </a:r>
            <a:endParaRPr lang="en-US" altLang="en-US"/>
          </a:p>
          <a:p>
            <a:pPr marL="0" indent="0" algn="r"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0" indent="0" algn="r">
              <a:buNone/>
            </a:pPr>
            <a:r>
              <a:rPr lang="en-US" altLang="en-US"/>
              <a:t>Data Lake</a:t>
            </a:r>
            <a:endParaRPr lang="en-US" altLang="en-US"/>
          </a:p>
          <a:p>
            <a:pPr marL="0" indent="0" algn="r"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0" indent="0" algn="r">
              <a:buNone/>
            </a:pPr>
            <a:r>
              <a:rPr lang="en-US" altLang="en-US"/>
              <a:t>Modern Unified Data Platforms</a:t>
            </a:r>
            <a:endParaRPr lang="en-US" altLang="en-US"/>
          </a:p>
          <a:p>
            <a:pPr marL="0" indent="0" algn="r"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0" indent="0" algn="r">
              <a:buNone/>
            </a:pPr>
            <a:r>
              <a:rPr lang="en-US" altLang="en-US"/>
              <a:t>OneLake</a:t>
            </a:r>
            <a:endParaRPr lang="en-US" altLang="en-US"/>
          </a:p>
          <a:p>
            <a:pPr marL="0" indent="0" algn="ctr">
              <a:buNone/>
            </a:pP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992505" y="2187575"/>
            <a:ext cx="6537960" cy="406146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Aft>
                <a:spcPct val="60000"/>
              </a:spcAft>
            </a:pPr>
            <a:r>
              <a:rPr sz="2200" b="1" i="0">
                <a:solidFill>
                  <a:srgbClr val="000000"/>
                </a:solidFill>
              </a:rPr>
              <a:t>Why did Data Lakes emerge?</a:t>
            </a:r>
            <a:endParaRPr sz="2200" b="1" i="0">
              <a:solidFill>
                <a:srgbClr val="000000"/>
              </a:solidFill>
            </a:endParaRPr>
          </a:p>
          <a:p>
            <a:pPr marL="0" indent="0"/>
            <a:r>
              <a:rPr sz="1600" b="0" i="0">
                <a:solidFill>
                  <a:srgbClr val="000000"/>
                </a:solidFill>
              </a:rPr>
              <a:t>Traditional data warehouses generally expect structured, modeled data.</a:t>
            </a:r>
            <a:endParaRPr sz="1600" b="0" i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sz="1600" b="0" i="0">
                <a:solidFill>
                  <a:srgbClr val="000000"/>
                </a:solidFill>
              </a:rPr>
              <a:t>But organizations started dealing with:</a:t>
            </a:r>
            <a:endParaRPr sz="1600" b="0" i="0">
              <a:solidFill>
                <a:srgbClr val="000000"/>
              </a:solidFill>
            </a:endParaRPr>
          </a:p>
          <a:p>
            <a:pPr marL="0" indent="457200"/>
            <a:r>
              <a:rPr sz="1600" b="0" i="0">
                <a:solidFill>
                  <a:srgbClr val="000000"/>
                </a:solidFill>
              </a:rPr>
              <a:t>Huge + Diverse + Rapidly generated data</a:t>
            </a:r>
            <a:endParaRPr sz="1600" b="0" i="0">
              <a:solidFill>
                <a:srgbClr val="000000"/>
              </a:solidFill>
            </a:endParaRPr>
          </a:p>
          <a:p>
            <a:pPr marL="0" indent="457200"/>
            <a:r>
              <a:rPr sz="1600" b="0" i="0">
                <a:solidFill>
                  <a:srgbClr val="000000"/>
                </a:solidFill>
              </a:rPr>
              <a:t>Therefore, organizations needed storage that was:</a:t>
            </a:r>
            <a:endParaRPr sz="1600" b="0" i="0">
              <a:solidFill>
                <a:srgbClr val="000000"/>
              </a:solidFill>
            </a:endParaRPr>
          </a:p>
          <a:p>
            <a:pPr marL="914400" lvl="2" indent="0">
              <a:buFont typeface="Arial" panose="020B0604020202090204"/>
              <a:buChar char="•"/>
            </a:pPr>
            <a:r>
              <a:rPr sz="1600" b="0" i="0">
                <a:solidFill>
                  <a:srgbClr val="000000"/>
                </a:solidFill>
              </a:rPr>
              <a:t>Highly scalable</a:t>
            </a:r>
            <a:endParaRPr sz="1600" b="0" i="0">
              <a:solidFill>
                <a:srgbClr val="000000"/>
              </a:solidFill>
            </a:endParaRPr>
          </a:p>
          <a:p>
            <a:pPr marL="914400" lvl="2" indent="0">
              <a:buFont typeface="Arial" panose="020B0604020202090204"/>
              <a:buChar char="•"/>
            </a:pPr>
            <a:r>
              <a:rPr sz="1600" b="0" i="0">
                <a:solidFill>
                  <a:srgbClr val="000000"/>
                </a:solidFill>
              </a:rPr>
              <a:t>Cost-effective</a:t>
            </a:r>
            <a:endParaRPr sz="1600" b="0" i="0">
              <a:solidFill>
                <a:srgbClr val="000000"/>
              </a:solidFill>
            </a:endParaRPr>
          </a:p>
          <a:p>
            <a:pPr marL="914400" lvl="2" indent="0">
              <a:buFont typeface="Arial" panose="020B0604020202090204"/>
              <a:buChar char="•"/>
            </a:pPr>
            <a:r>
              <a:rPr sz="1600" b="0" i="0">
                <a:solidFill>
                  <a:srgbClr val="000000"/>
                </a:solidFill>
              </a:rPr>
              <a:t>Flexible</a:t>
            </a:r>
            <a:endParaRPr sz="1600" b="0" i="0">
              <a:solidFill>
                <a:srgbClr val="000000"/>
              </a:solidFill>
            </a:endParaRPr>
          </a:p>
          <a:p>
            <a:pPr marL="914400" lvl="2" indent="0">
              <a:buFont typeface="Arial" panose="020B0604020202090204"/>
              <a:buChar char="•"/>
            </a:pPr>
            <a:r>
              <a:rPr sz="1600" b="0" i="0">
                <a:solidFill>
                  <a:srgbClr val="000000"/>
                </a:solidFill>
              </a:rPr>
              <a:t>Capable of storing raw data</a:t>
            </a:r>
            <a:endParaRPr sz="1600" b="0" i="0">
              <a:solidFill>
                <a:srgbClr val="000000"/>
              </a:solidFill>
            </a:endParaRPr>
          </a:p>
          <a:p>
            <a:pPr marL="914400" lvl="2" indent="0">
              <a:buFont typeface="Arial" panose="020B0604020202090204"/>
              <a:buChar char="•"/>
            </a:pPr>
            <a:r>
              <a:rPr sz="1600" b="0" i="0">
                <a:solidFill>
                  <a:srgbClr val="000000"/>
                </a:solidFill>
              </a:rPr>
              <a:t>Suitable for different data formats</a:t>
            </a:r>
            <a:endParaRPr sz="1600" b="0" i="0">
              <a:solidFill>
                <a:srgbClr val="000000"/>
              </a:solidFill>
            </a:endParaRPr>
          </a:p>
          <a:p>
            <a:pPr marL="0" indent="457200"/>
            <a:r>
              <a:rPr sz="1600" b="0" i="0">
                <a:solidFill>
                  <a:srgbClr val="000000"/>
                </a:solidFill>
              </a:rPr>
              <a:t>This is where Data Lakes became important.</a:t>
            </a:r>
            <a:endParaRPr sz="1600" b="0" i="0">
              <a:solidFill>
                <a:srgbClr val="00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What is Data Lake 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A Data Lake is a centralized repository designed to store large volumes of data in its original or raw form, including structured, semi-structured, and unstructured data.</a:t>
            </a:r>
            <a:endParaRPr lang="en-US" altLang="en-US"/>
          </a:p>
          <a:p>
            <a:r>
              <a:rPr lang="en-US" altLang="en-US"/>
              <a:t>Simple Definition</a:t>
            </a:r>
            <a:endParaRPr lang="en-US" altLang="en-US"/>
          </a:p>
          <a:p>
            <a:r>
              <a:rPr lang="en-US" altLang="en-US"/>
              <a:t>Data Lake = Centralized storage for large amounts of diverse data, often kept in its original form until needed for processing.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260" y="3429000"/>
            <a:ext cx="4224020" cy="30327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Data Warehouse vs Data Lake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91920" y="1490345"/>
            <a:ext cx="940117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Introduction to Microsoft OneLake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Now we come to the important part of this unit.</a:t>
            </a:r>
            <a:endParaRPr lang="en-US" altLang="en-US"/>
          </a:p>
          <a:p>
            <a:r>
              <a:rPr lang="en-US" altLang="en-US"/>
              <a:t>OneLake is the single, unified, logical data lake for an organization within Microsoft Fabric.</a:t>
            </a:r>
            <a:endParaRPr lang="en-US" altLang="en-US"/>
          </a:p>
          <a:p>
            <a:r>
              <a:rPr lang="en-US" altLang="en-US"/>
              <a:t>Microsoft describes OneLake as a centralized data lake designed to eliminate data silos and provide a common storage layer for Fabric workloads.</a:t>
            </a:r>
            <a:endParaRPr lang="en-US" altLang="en-US"/>
          </a:p>
          <a:p>
            <a:r>
              <a:rPr lang="en-US" altLang="en-US"/>
              <a:t>Simple Definition</a:t>
            </a:r>
            <a:endParaRPr lang="en-US" altLang="en-US"/>
          </a:p>
          <a:p>
            <a:r>
              <a:rPr lang="en-US" altLang="en-US"/>
              <a:t>OneLake is a unified, organization-wide data lake that serves as the central storage foundation for Microsoft Fabric.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Need of OneLake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In a traditional organization, different teams may maintain separate storage systems:</a:t>
            </a:r>
            <a:endParaRPr lang="en-US" altLang="en-US"/>
          </a:p>
          <a:p>
            <a:pPr lvl="1"/>
            <a:r>
              <a:rPr lang="en-US" altLang="en-US"/>
              <a:t>Sales → Data Lake A</a:t>
            </a:r>
            <a:endParaRPr lang="en-US" altLang="en-US"/>
          </a:p>
          <a:p>
            <a:pPr lvl="1"/>
            <a:r>
              <a:rPr lang="en-US" altLang="en-US"/>
              <a:t>Finance → Database B</a:t>
            </a:r>
            <a:endParaRPr lang="en-US" altLang="en-US"/>
          </a:p>
          <a:p>
            <a:pPr lvl="1"/>
            <a:r>
              <a:rPr lang="en-US" altLang="en-US"/>
              <a:t>Marketing → Data Lake C</a:t>
            </a:r>
            <a:endParaRPr lang="en-US" altLang="en-US"/>
          </a:p>
          <a:p>
            <a:pPr lvl="1"/>
            <a:r>
              <a:rPr lang="en-US" altLang="en-US"/>
              <a:t>HR → Storage D</a:t>
            </a:r>
            <a:endParaRPr lang="en-US" altLang="en-US"/>
          </a:p>
          <a:p>
            <a:pPr lvl="0"/>
            <a:r>
              <a:rPr lang="en-US" altLang="en-US"/>
              <a:t>This can create:</a:t>
            </a:r>
            <a:endParaRPr lang="en-US" altLang="en-US"/>
          </a:p>
          <a:p>
            <a:pPr lvl="1"/>
            <a:r>
              <a:rPr lang="en-US" altLang="en-US"/>
              <a:t>Data duplication</a:t>
            </a:r>
            <a:endParaRPr lang="en-US" altLang="en-US"/>
          </a:p>
          <a:p>
            <a:pPr lvl="1"/>
            <a:r>
              <a:rPr lang="en-US" altLang="en-US"/>
              <a:t>Data silos</a:t>
            </a:r>
            <a:endParaRPr lang="en-US" altLang="en-US"/>
          </a:p>
          <a:p>
            <a:pPr lvl="1"/>
            <a:r>
              <a:rPr lang="en-US" altLang="en-US"/>
              <a:t>Multiple copies of the same data</a:t>
            </a:r>
            <a:endParaRPr lang="en-US" altLang="en-US"/>
          </a:p>
          <a:p>
            <a:pPr lvl="1"/>
            <a:r>
              <a:rPr lang="en-US" altLang="en-US"/>
              <a:t>Increased storage requirements</a:t>
            </a:r>
            <a:endParaRPr lang="en-US" altLang="en-US"/>
          </a:p>
          <a:p>
            <a:pPr lvl="1"/>
            <a:r>
              <a:rPr lang="en-US" altLang="en-US"/>
              <a:t>Difficult data governance</a:t>
            </a:r>
            <a:endParaRPr lang="en-US" altLang="en-US"/>
          </a:p>
          <a:p>
            <a:pPr lvl="1"/>
            <a:r>
              <a:rPr lang="en-US" altLang="en-US"/>
              <a:t>Complex data management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Aim of OneLake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25905"/>
            <a:ext cx="6524625" cy="25946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OneLake and Microsoft Fabric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OneLake is a fundamental component of Microsoft Fabric.</a:t>
            </a:r>
            <a:endParaRPr lang="en-US" altLang="en-US"/>
          </a:p>
          <a:p>
            <a:pPr lvl="1"/>
            <a:r>
              <a:rPr lang="en-US" altLang="en-US"/>
              <a:t>Fabric provides multiple workloads, such as:</a:t>
            </a:r>
            <a:endParaRPr lang="en-US" altLang="en-US"/>
          </a:p>
          <a:p>
            <a:pPr lvl="1"/>
            <a:r>
              <a:rPr lang="en-US" altLang="en-US"/>
              <a:t>Data Engineering</a:t>
            </a:r>
            <a:endParaRPr lang="en-US" altLang="en-US"/>
          </a:p>
          <a:p>
            <a:pPr lvl="1"/>
            <a:r>
              <a:rPr lang="en-US" altLang="en-US"/>
              <a:t>Data Factory</a:t>
            </a:r>
            <a:endParaRPr lang="en-US" altLang="en-US"/>
          </a:p>
          <a:p>
            <a:pPr lvl="1"/>
            <a:r>
              <a:rPr lang="en-US" altLang="en-US"/>
              <a:t>Data Science</a:t>
            </a:r>
            <a:endParaRPr lang="en-US" altLang="en-US"/>
          </a:p>
          <a:p>
            <a:pPr lvl="1"/>
            <a:r>
              <a:rPr lang="en-US" altLang="en-US"/>
              <a:t>Data Warehouse</a:t>
            </a:r>
            <a:endParaRPr lang="en-US" altLang="en-US"/>
          </a:p>
          <a:p>
            <a:pPr lvl="1"/>
            <a:r>
              <a:rPr lang="en-US" altLang="en-US"/>
              <a:t>Real-Time Intelligence</a:t>
            </a:r>
            <a:endParaRPr lang="en-US" altLang="en-US"/>
          </a:p>
          <a:p>
            <a:pPr lvl="1"/>
            <a:r>
              <a:rPr lang="en-US" altLang="en-US"/>
              <a:t>Power BI</a:t>
            </a:r>
            <a:endParaRPr lang="en-US" altLang="en-US"/>
          </a:p>
          <a:p>
            <a:r>
              <a:rPr lang="en-US" altLang="en-US"/>
              <a:t>These workloads can work with data stored in OneLake.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075" y="2106930"/>
            <a:ext cx="4762500" cy="2362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Characteristics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1. Single Storage Layer</a:t>
            </a:r>
            <a:endParaRPr lang="en-US" altLang="en-US"/>
          </a:p>
          <a:p>
            <a:r>
              <a:rPr lang="en-US" altLang="en-US"/>
              <a:t>2. Built into Microsoft Fabric</a:t>
            </a:r>
            <a:endParaRPr lang="en-US" altLang="en-US"/>
          </a:p>
          <a:p>
            <a:r>
              <a:rPr lang="en-US" altLang="en-US"/>
              <a:t>3. Supports Different Data Types</a:t>
            </a:r>
            <a:endParaRPr lang="en-US" altLang="en-US"/>
          </a:p>
          <a:p>
            <a:r>
              <a:rPr lang="en-US" altLang="en-US"/>
              <a:t>4. Reduces Data Silos</a:t>
            </a:r>
            <a:endParaRPr lang="en-US" altLang="en-US"/>
          </a:p>
          <a:p>
            <a:r>
              <a:rPr lang="en-US" altLang="en-US"/>
              <a:t>5. Centralized Governance</a:t>
            </a:r>
            <a:endParaRPr lang="en-US" altLang="en-US"/>
          </a:p>
          <a:p>
            <a:r>
              <a:rPr lang="en-US" altLang="en-US"/>
              <a:t>6. Avoids Unnecessary Data Duplication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OneLake Shortcuts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313870"/>
            <a:ext cx="10969200" cy="4759200"/>
          </a:xfrm>
        </p:spPr>
        <p:txBody>
          <a:bodyPr>
            <a:noAutofit/>
          </a:bodyPr>
          <a:p>
            <a:r>
              <a:rPr lang="en-US" altLang="en-US" sz="1400"/>
              <a:t>Shortcuts are an important OneLake concept.</a:t>
            </a:r>
            <a:endParaRPr lang="en-US" altLang="en-US" sz="1400"/>
          </a:p>
          <a:p>
            <a:r>
              <a:rPr lang="en-US" altLang="en-US" sz="1400"/>
              <a:t>A shortcut provides a way to reference data stored in another location without physically copying the data into OneLake.</a:t>
            </a:r>
            <a:endParaRPr lang="en-US" altLang="en-US" sz="1400"/>
          </a:p>
          <a:p>
            <a:r>
              <a:rPr lang="en-US" altLang="en-US" sz="1400"/>
              <a:t>Conceptually:</a:t>
            </a:r>
            <a:endParaRPr lang="en-US" altLang="en-US" sz="1400"/>
          </a:p>
          <a:p>
            <a:pPr lvl="1"/>
            <a:r>
              <a:rPr lang="en-US" altLang="en-US" sz="1400"/>
              <a:t>External Data</a:t>
            </a:r>
            <a:endParaRPr lang="en-US" altLang="en-US" sz="1400"/>
          </a:p>
          <a:p>
            <a:pPr lvl="1"/>
            <a:r>
              <a:rPr lang="en-US" altLang="en-US" sz="1400"/>
              <a:t>     │</a:t>
            </a:r>
            <a:endParaRPr lang="en-US" altLang="en-US" sz="1400"/>
          </a:p>
          <a:p>
            <a:pPr lvl="1"/>
            <a:r>
              <a:rPr lang="en-US" altLang="en-US" sz="1400"/>
              <a:t>     │ Shortcut</a:t>
            </a:r>
            <a:endParaRPr lang="en-US" altLang="en-US" sz="1400"/>
          </a:p>
          <a:p>
            <a:pPr lvl="1"/>
            <a:r>
              <a:rPr lang="en-US" altLang="en-US" sz="1400"/>
              <a:t>     ↓</a:t>
            </a:r>
            <a:endParaRPr lang="en-US" altLang="en-US" sz="1400"/>
          </a:p>
          <a:p>
            <a:pPr lvl="1"/>
            <a:r>
              <a:rPr lang="en-US" altLang="en-US" sz="1400"/>
              <a:t>   OneLake</a:t>
            </a:r>
            <a:endParaRPr lang="en-US" altLang="en-US" sz="1400"/>
          </a:p>
          <a:p>
            <a:pPr lvl="0"/>
            <a:r>
              <a:rPr lang="en-US" altLang="en-US" sz="1400"/>
              <a:t>This can help reduce:</a:t>
            </a:r>
            <a:endParaRPr lang="en-US" altLang="en-US" sz="1400"/>
          </a:p>
          <a:p>
            <a:pPr lvl="1"/>
            <a:r>
              <a:rPr lang="en-US" altLang="en-US" sz="1240"/>
              <a:t>Data duplication</a:t>
            </a:r>
            <a:endParaRPr lang="en-US" altLang="en-US" sz="1240"/>
          </a:p>
          <a:p>
            <a:pPr lvl="1"/>
            <a:r>
              <a:rPr lang="en-US" altLang="en-US" sz="1240"/>
              <a:t>Data movement</a:t>
            </a:r>
            <a:endParaRPr lang="en-US" altLang="en-US" sz="1240"/>
          </a:p>
          <a:p>
            <a:pPr lvl="1"/>
            <a:r>
              <a:rPr lang="en-US" altLang="en-US" sz="1240"/>
              <a:t>Storage costs</a:t>
            </a:r>
            <a:endParaRPr lang="en-US" altLang="en-US" sz="1240"/>
          </a:p>
          <a:p>
            <a:pPr lvl="1"/>
            <a:r>
              <a:rPr lang="en-US" altLang="en-US" sz="1240"/>
              <a:t>Data integration complexity</a:t>
            </a:r>
            <a:endParaRPr lang="en-US" altLang="en-US" sz="1240"/>
          </a:p>
          <a:p>
            <a:pPr lvl="0"/>
            <a:r>
              <a:rPr lang="en-US" altLang="en-US" sz="1400"/>
              <a:t>OneLake shortcuts provide access to data in external storage without requiring a traditional physical copy of the data.</a:t>
            </a:r>
            <a:endParaRPr lang="en-US" altLang="en-US" sz="1400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One Copy of Data Concep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r>
              <a:rPr lang="en-US" altLang="en-US"/>
              <a:t>OneLake promotes the idea of "one copy of data" rather than maintaining multiple copies for different analytics tools.</a:t>
            </a:r>
            <a:endParaRPr lang="en-US" altLang="en-US"/>
          </a:p>
          <a:p>
            <a:r>
              <a:rPr lang="en-US" altLang="en-US"/>
              <a:t>Traditional approach:</a:t>
            </a:r>
            <a:endParaRPr lang="en-US" altLang="en-US"/>
          </a:p>
          <a:p>
            <a:pPr lvl="1"/>
            <a:r>
              <a:rPr lang="en-US" altLang="en-US"/>
              <a:t>Source Data</a:t>
            </a:r>
            <a:endParaRPr lang="en-US" altLang="en-US"/>
          </a:p>
          <a:p>
            <a:pPr lvl="1"/>
            <a:r>
              <a:rPr lang="en-US" altLang="en-US"/>
              <a:t>   ├── Copy → BI</a:t>
            </a:r>
            <a:endParaRPr lang="en-US" altLang="en-US"/>
          </a:p>
          <a:p>
            <a:pPr lvl="1"/>
            <a:r>
              <a:rPr lang="en-US" altLang="en-US"/>
              <a:t>   ├── Copy → Data Science</a:t>
            </a:r>
            <a:endParaRPr lang="en-US" altLang="en-US"/>
          </a:p>
          <a:p>
            <a:pPr lvl="1"/>
            <a:r>
              <a:rPr lang="en-US" altLang="en-US"/>
              <a:t>   ├── Copy → Warehouse</a:t>
            </a:r>
            <a:endParaRPr lang="en-US" altLang="en-US"/>
          </a:p>
          <a:p>
            <a:pPr lvl="1"/>
            <a:r>
              <a:rPr lang="en-US" altLang="en-US"/>
              <a:t>   └── Copy → ML</a:t>
            </a:r>
            <a:endParaRPr lang="en-US" altLang="en-US"/>
          </a:p>
          <a:p>
            <a:pPr lvl="0"/>
            <a:r>
              <a:rPr lang="en-US" altLang="en-US"/>
              <a:t>OneLake approach:</a:t>
            </a:r>
            <a:endParaRPr lang="en-US" altLang="en-US"/>
          </a:p>
          <a:p>
            <a:pPr lvl="1"/>
            <a:r>
              <a:rPr lang="en-US" altLang="en-US"/>
              <a:t> ONE COPY</a:t>
            </a:r>
            <a:endParaRPr lang="en-US" altLang="en-US"/>
          </a:p>
          <a:p>
            <a:pPr lvl="1"/>
            <a:r>
              <a:rPr lang="en-US" altLang="en-US"/>
              <a:t>                    ↓</a:t>
            </a:r>
            <a:endParaRPr lang="en-US" altLang="en-US"/>
          </a:p>
          <a:p>
            <a:pPr lvl="1"/>
            <a:r>
              <a:rPr lang="en-US" altLang="en-US"/>
              <a:t>                  OneLake</a:t>
            </a:r>
            <a:endParaRPr lang="en-US" altLang="en-US"/>
          </a:p>
          <a:p>
            <a:pPr lvl="1"/>
            <a:r>
              <a:rPr lang="en-US" altLang="en-US"/>
              <a:t>              /      |      \</a:t>
            </a:r>
            <a:endParaRPr lang="en-US" altLang="en-US"/>
          </a:p>
          <a:p>
            <a:pPr lvl="1"/>
            <a:r>
              <a:rPr lang="en-US" altLang="en-US"/>
              <a:t>             ↓       ↓       ↓</a:t>
            </a:r>
            <a:endParaRPr lang="en-US" altLang="en-US"/>
          </a:p>
          <a:p>
            <a:pPr lvl="1"/>
            <a:r>
              <a:rPr lang="en-US" altLang="en-US"/>
              <a:t>            BI      ML    Analytics</a:t>
            </a:r>
            <a:endParaRPr lang="en-US" altLang="en-US"/>
          </a:p>
          <a:p>
            <a:pPr lvl="1"/>
            <a:r>
              <a:rPr lang="en-US" altLang="en-US"/>
              <a:t>This helps create a more unified data environment.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Comparision Table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87120" y="1490345"/>
            <a:ext cx="1001014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Data Ingestion &amp; INtegration with OneLake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/>
              <a:t>Included Data Ingestion Methods</a:t>
            </a:r>
            <a:endParaRPr lang="en-US"/>
          </a:p>
          <a:p>
            <a:r>
              <a:rPr lang="en-US"/>
              <a:t>BI</a:t>
            </a:r>
            <a:endParaRPr 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What is Data Ingestion?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Data Ingestion is the process of collecting and bringing data from different sources into a storage system such as OneLake.</a:t>
            </a:r>
            <a:endParaRPr lang="en-US" altLang="en-US"/>
          </a:p>
          <a:p>
            <a:pPr algn="ctr"/>
            <a:r>
              <a:rPr lang="en-US" altLang="en-US"/>
              <a:t>In simple words:</a:t>
            </a:r>
            <a:endParaRPr lang="en-US" altLang="en-US" sz="2800"/>
          </a:p>
          <a:p>
            <a:pPr algn="ctr"/>
            <a:r>
              <a:rPr lang="en-US" altLang="en-US" sz="2800"/>
              <a:t>Data Ingestion = Getting data from source systems into OneLake.</a:t>
            </a:r>
            <a:endParaRPr lang="en-US" altLang="en-US" sz="2800"/>
          </a:p>
          <a:p>
            <a:pPr marL="0" indent="0" algn="ctr">
              <a:buNone/>
            </a:pPr>
            <a:endParaRPr lang="en-US" altLang="en-US" sz="1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150" y="4132580"/>
            <a:ext cx="4711700" cy="24257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076055" y="4314825"/>
            <a:ext cx="2998470" cy="20612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600" b="0" i="0">
                <a:solidFill>
                  <a:srgbClr val="000000"/>
                </a:solidFill>
              </a:rPr>
              <a:t>Sources may include:</a:t>
            </a:r>
            <a:br>
              <a:rPr sz="1600" b="0" i="0">
                <a:solidFill>
                  <a:srgbClr val="000000"/>
                </a:solidFill>
              </a:rPr>
            </a:br>
            <a:endParaRPr sz="16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lang="en-US" sz="1600" b="0" i="0">
                <a:solidFill>
                  <a:srgbClr val="000000"/>
                </a:solidFill>
              </a:rPr>
              <a:t> </a:t>
            </a:r>
            <a:r>
              <a:rPr sz="1600" b="0" i="0">
                <a:solidFill>
                  <a:srgbClr val="000000"/>
                </a:solidFill>
              </a:rPr>
              <a:t>Databases</a:t>
            </a:r>
            <a:endParaRPr sz="16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lang="en-US" sz="1600" b="0" i="0">
                <a:solidFill>
                  <a:srgbClr val="000000"/>
                </a:solidFill>
              </a:rPr>
              <a:t> </a:t>
            </a:r>
            <a:r>
              <a:rPr sz="1600" b="0" i="0">
                <a:solidFill>
                  <a:srgbClr val="000000"/>
                </a:solidFill>
              </a:rPr>
              <a:t>Files</a:t>
            </a:r>
            <a:endParaRPr sz="16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lang="en-US" sz="1600" b="0" i="0">
                <a:solidFill>
                  <a:srgbClr val="000000"/>
                </a:solidFill>
              </a:rPr>
              <a:t> </a:t>
            </a:r>
            <a:r>
              <a:rPr sz="1600" b="0" i="0">
                <a:solidFill>
                  <a:srgbClr val="000000"/>
                </a:solidFill>
              </a:rPr>
              <a:t>Applications</a:t>
            </a:r>
            <a:endParaRPr sz="16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lang="en-US" sz="1600" b="0" i="0">
                <a:solidFill>
                  <a:srgbClr val="000000"/>
                </a:solidFill>
              </a:rPr>
              <a:t> </a:t>
            </a:r>
            <a:r>
              <a:rPr sz="1600" b="0" i="0">
                <a:solidFill>
                  <a:srgbClr val="000000"/>
                </a:solidFill>
              </a:rPr>
              <a:t>APIs</a:t>
            </a:r>
            <a:endParaRPr sz="16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lang="en-US" sz="1600" b="0" i="0">
                <a:solidFill>
                  <a:srgbClr val="000000"/>
                </a:solidFill>
              </a:rPr>
              <a:t> </a:t>
            </a:r>
            <a:r>
              <a:rPr sz="1600" b="0" i="0">
                <a:solidFill>
                  <a:srgbClr val="000000"/>
                </a:solidFill>
              </a:rPr>
              <a:t>Cloud storage</a:t>
            </a:r>
            <a:endParaRPr sz="16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lang="en-US" sz="1600" b="0" i="0">
                <a:solidFill>
                  <a:srgbClr val="000000"/>
                </a:solidFill>
              </a:rPr>
              <a:t> </a:t>
            </a:r>
            <a:r>
              <a:rPr sz="1600" b="0" i="0">
                <a:solidFill>
                  <a:srgbClr val="000000"/>
                </a:solidFill>
              </a:rPr>
              <a:t>IoT systems</a:t>
            </a:r>
            <a:endParaRPr sz="1600" b="0" i="0">
              <a:solidFill>
                <a:srgbClr val="000000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What is Data Integration?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Data Integration is the process of combining data from different sources and making it available in a unified environment.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35" y="2590165"/>
            <a:ext cx="10223500" cy="2806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3. Data Ingestion into OneLake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In Microsoft Fabric, data can be brought into OneLake using different methods.</a:t>
            </a:r>
            <a:endParaRPr lang="en-US" altLang="en-US"/>
          </a:p>
          <a:p>
            <a:r>
              <a:rPr lang="en-US" altLang="en-US"/>
              <a:t>Two important methods in your syllabus are:</a:t>
            </a:r>
            <a:endParaRPr lang="en-US" altLang="en-US"/>
          </a:p>
          <a:p>
            <a:pPr lvl="1"/>
            <a:r>
              <a:rPr lang="en-US" altLang="en-US"/>
              <a:t>Copy Activity in Data Factory</a:t>
            </a:r>
            <a:endParaRPr lang="en-US" altLang="en-US"/>
          </a:p>
          <a:p>
            <a:pPr lvl="1"/>
            <a:r>
              <a:rPr lang="en-US" altLang="en-US"/>
              <a:t>Spark Notebook</a:t>
            </a:r>
            <a:endParaRPr lang="en-US" altLang="en-US"/>
          </a:p>
          <a:p>
            <a:pPr lvl="1"/>
            <a:endParaRPr lang="en-US" altLang="en-US"/>
          </a:p>
          <a:p>
            <a:pPr lvl="0"/>
            <a:r>
              <a:rPr lang="en-US" altLang="en-US"/>
              <a:t>Copy Activity in Data Factory : Copy Activity is a data movement activity used to copy data from a source to a destination.</a:t>
            </a:r>
            <a:endParaRPr lang="en-US" altLang="en-US"/>
          </a:p>
          <a:p>
            <a:pPr lvl="0"/>
            <a:r>
              <a:rPr lang="en-US" altLang="en-US"/>
              <a:t>In Microsoft Fabric, Data Factory provides data integration capabilities, including pipelines and Copy Activity.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Basic Flow Diagram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07490"/>
            <a:ext cx="4013200" cy="4724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How Copy Activity Works ? 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996305" cy="4759325"/>
          </a:xfrm>
        </p:spPr>
        <p:txBody>
          <a:bodyPr/>
          <a:p>
            <a:r>
              <a:rPr lang="en-US" altLang="en-US"/>
              <a:t>A basic Copy Activity involves:</a:t>
            </a:r>
            <a:endParaRPr lang="en-US" altLang="en-US"/>
          </a:p>
          <a:p>
            <a:r>
              <a:rPr lang="en-US" altLang="en-US"/>
              <a:t>Step 1 — Select Source</a:t>
            </a:r>
            <a:endParaRPr lang="en-US" altLang="en-US"/>
          </a:p>
          <a:p>
            <a:r>
              <a:rPr lang="en-US" altLang="en-US"/>
              <a:t>The source is where the data currently exists.</a:t>
            </a:r>
            <a:endParaRPr lang="en-US" altLang="en-US"/>
          </a:p>
          <a:p>
            <a:pPr lvl="1"/>
            <a:r>
              <a:rPr lang="en-US" altLang="en-US"/>
              <a:t>Examples:</a:t>
            </a:r>
            <a:endParaRPr lang="en-US" altLang="en-US"/>
          </a:p>
          <a:p>
            <a:pPr lvl="1"/>
            <a:r>
              <a:rPr lang="en-US" altLang="en-US"/>
              <a:t>SQL Server</a:t>
            </a:r>
            <a:endParaRPr lang="en-US" altLang="en-US"/>
          </a:p>
          <a:p>
            <a:pPr lvl="1"/>
            <a:r>
              <a:rPr lang="en-US" altLang="en-US"/>
              <a:t>Azure SQL Database</a:t>
            </a:r>
            <a:endParaRPr lang="en-US" altLang="en-US"/>
          </a:p>
          <a:p>
            <a:pPr lvl="1"/>
            <a:r>
              <a:rPr lang="en-US" altLang="en-US"/>
              <a:t>CSV</a:t>
            </a:r>
            <a:endParaRPr lang="en-US" altLang="en-US"/>
          </a:p>
          <a:p>
            <a:pPr lvl="1"/>
            <a:r>
              <a:rPr lang="en-US" altLang="en-US"/>
              <a:t>Excel</a:t>
            </a:r>
            <a:endParaRPr lang="en-US" altLang="en-US"/>
          </a:p>
          <a:p>
            <a:pPr lvl="1"/>
            <a:r>
              <a:rPr lang="en-US" altLang="en-US"/>
              <a:t>Other supported data sources</a:t>
            </a:r>
            <a:endParaRPr lang="en-US" altLang="en-US"/>
          </a:p>
          <a:p>
            <a:pPr lvl="0"/>
            <a:endParaRPr lang="en-US" alt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708140" y="1313815"/>
            <a:ext cx="5373370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en-US"/>
              <a:t>Step 2 — Select Destination</a:t>
            </a:r>
            <a:endParaRPr lang="en-US" altLang="en-US"/>
          </a:p>
          <a:p>
            <a:pPr lvl="0"/>
            <a:r>
              <a:rPr lang="en-US" altLang="en-US"/>
              <a:t>The destination is where the data will be copied.</a:t>
            </a:r>
            <a:endParaRPr lang="en-US" altLang="en-US"/>
          </a:p>
          <a:p>
            <a:pPr lvl="0"/>
            <a:r>
              <a:rPr lang="en-US" altLang="en-US"/>
              <a:t>For this topic:</a:t>
            </a:r>
            <a:endParaRPr lang="en-US" altLang="en-US"/>
          </a:p>
          <a:p>
            <a:pPr lvl="0"/>
            <a:r>
              <a:rPr lang="en-US" altLang="en-US"/>
              <a:t>OneLake / Fabric Lakehouse</a:t>
            </a:r>
            <a:endParaRPr lang="en-US" altLang="en-US"/>
          </a:p>
          <a:p>
            <a:pPr lvl="0"/>
            <a:endParaRPr lang="en-US" altLang="en-US"/>
          </a:p>
          <a:p>
            <a:pPr lvl="0"/>
            <a:endParaRPr lang="en-US" altLang="en-US"/>
          </a:p>
          <a:p>
            <a:pPr lvl="0"/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lvl="0"/>
            <a:r>
              <a:rPr lang="en-US" altLang="en-US">
                <a:sym typeface="+mn-ea"/>
              </a:rPr>
              <a:t>Step 3 — Configure Mapping</a:t>
            </a:r>
            <a:endParaRPr lang="en-US" altLang="en-US"/>
          </a:p>
          <a:p>
            <a:pPr lvl="0"/>
            <a:r>
              <a:rPr lang="en-US" altLang="en-US">
                <a:sym typeface="+mn-ea"/>
              </a:rPr>
              <a:t>Source columns can be mapped to destination columns.</a:t>
            </a:r>
            <a:endParaRPr lang="en-US" altLang="en-US">
              <a:sym typeface="+mn-ea"/>
            </a:endParaRPr>
          </a:p>
          <a:p>
            <a:pPr lvl="0"/>
            <a:endParaRPr lang="en-US" altLang="en-US">
              <a:sym typeface="+mn-ea"/>
            </a:endParaRPr>
          </a:p>
          <a:p>
            <a:pPr lvl="0"/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Step 4 — Execute Pipeline</a:t>
            </a:r>
            <a:endParaRPr lang="en-US" altLang="en-US"/>
          </a:p>
          <a:p>
            <a:r>
              <a:rPr lang="en-US" altLang="en-US"/>
              <a:t>The Copy Activity reads data from the source and writes it to the destination.</a:t>
            </a: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65" y="2513965"/>
            <a:ext cx="4050665" cy="23971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 :  Copy Activity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0255" y="1490345"/>
            <a:ext cx="800989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Advantages :  Copy Activity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Simple data movement</a:t>
            </a:r>
            <a:endParaRPr lang="en-US" altLang="en-US"/>
          </a:p>
          <a:p>
            <a:r>
              <a:rPr lang="en-US" altLang="en-US"/>
              <a:t>Supports many data sources and destinations</a:t>
            </a:r>
            <a:endParaRPr lang="en-US" altLang="en-US"/>
          </a:p>
          <a:p>
            <a:r>
              <a:rPr lang="en-US" altLang="en-US"/>
              <a:t>Can be used in pipelines</a:t>
            </a:r>
            <a:endParaRPr lang="en-US" altLang="en-US"/>
          </a:p>
          <a:p>
            <a:r>
              <a:rPr lang="en-US" altLang="en-US"/>
              <a:t>Supports column mapping</a:t>
            </a:r>
            <a:endParaRPr lang="en-US" altLang="en-US"/>
          </a:p>
          <a:p>
            <a:r>
              <a:rPr lang="en-US" altLang="en-US"/>
              <a:t>Useful for scheduled/automated ingestion</a:t>
            </a:r>
            <a:endParaRPr lang="en-US" altLang="en-US"/>
          </a:p>
          <a:p>
            <a:r>
              <a:rPr lang="en-US" altLang="en-US"/>
              <a:t>Suitable for bulk data movement</a:t>
            </a:r>
            <a:endParaRPr lang="en-US" altLang="en-US"/>
          </a:p>
          <a:p>
            <a:r>
              <a:rPr lang="en-US" altLang="en-US"/>
              <a:t>Can be combined with other pipeline activities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Spark Notebook : Basic Usage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Spark Notebook provides an interactive environment where developers can use Apache Spark to read, process, transform, and write data.</a:t>
            </a:r>
            <a:endParaRPr lang="en-US" altLang="en-US"/>
          </a:p>
          <a:p>
            <a:r>
              <a:rPr lang="en-US" altLang="en-US"/>
              <a:t>In Microsoft Fabric, Spark notebooks can work with data stored in OneLake.</a:t>
            </a:r>
            <a:endParaRPr lang="en-US" altLang="en-US"/>
          </a:p>
          <a:p>
            <a:r>
              <a:rPr lang="en-US" altLang="en-US"/>
              <a:t>Data Source / OneLake</a:t>
            </a:r>
            <a:endParaRPr lang="en-US" altLang="en-US"/>
          </a:p>
          <a:p>
            <a:r>
              <a:rPr lang="en-US" altLang="en-US"/>
              <a:t>        ↓</a:t>
            </a:r>
            <a:endParaRPr lang="en-US" altLang="en-US"/>
          </a:p>
          <a:p>
            <a:r>
              <a:rPr lang="en-US" altLang="en-US"/>
              <a:t>   Spark Notebook</a:t>
            </a:r>
            <a:endParaRPr lang="en-US" altLang="en-US"/>
          </a:p>
          <a:p>
            <a:r>
              <a:rPr lang="en-US" altLang="en-US"/>
              <a:t>        ↓</a:t>
            </a:r>
            <a:endParaRPr lang="en-US" altLang="en-US"/>
          </a:p>
          <a:p>
            <a:r>
              <a:rPr lang="en-US" altLang="en-US"/>
              <a:t> Read / Process / Transform</a:t>
            </a:r>
            <a:endParaRPr lang="en-US" altLang="en-US"/>
          </a:p>
          <a:p>
            <a:r>
              <a:rPr lang="en-US" altLang="en-US"/>
              <a:t>        ↓</a:t>
            </a:r>
            <a:endParaRPr lang="en-US" altLang="en-US"/>
          </a:p>
          <a:p>
            <a:r>
              <a:rPr lang="en-US" altLang="en-US"/>
              <a:t>      OneLake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Basic Spark Notebook Operations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2000"/>
              <a:t>For your syllabus, remember only the basic usage.</a:t>
            </a:r>
            <a:endParaRPr lang="en-US" altLang="en-US" sz="2000"/>
          </a:p>
          <a:p>
            <a:pPr lvl="1"/>
            <a:r>
              <a:rPr lang="en-US" altLang="en-US" sz="1800"/>
              <a:t>A Spark Notebook can be used to:</a:t>
            </a:r>
            <a:endParaRPr lang="en-US" altLang="en-US" sz="1800"/>
          </a:p>
          <a:p>
            <a:pPr lvl="1"/>
            <a:r>
              <a:rPr lang="en-US" altLang="en-US" sz="1800"/>
              <a:t>Read data</a:t>
            </a:r>
            <a:endParaRPr lang="en-US" altLang="en-US" sz="1800"/>
          </a:p>
          <a:p>
            <a:pPr lvl="1"/>
            <a:r>
              <a:rPr lang="en-US" altLang="en-US" sz="1800"/>
              <a:t>Process data</a:t>
            </a:r>
            <a:endParaRPr lang="en-US" altLang="en-US" sz="1800"/>
          </a:p>
          <a:p>
            <a:pPr lvl="1"/>
            <a:r>
              <a:rPr lang="en-US" altLang="en-US" sz="1800"/>
              <a:t>Transform data</a:t>
            </a:r>
            <a:endParaRPr lang="en-US" altLang="en-US" sz="1800"/>
          </a:p>
          <a:p>
            <a:pPr lvl="1"/>
            <a:r>
              <a:rPr lang="en-US" altLang="en-US" sz="1800"/>
              <a:t>Write data back to OneLake</a:t>
            </a:r>
            <a:endParaRPr lang="en-US" altLang="en-US" sz="1800"/>
          </a:p>
          <a:p>
            <a:pPr lvl="1"/>
            <a:endParaRPr lang="en-US" altLang="en-US" sz="1800"/>
          </a:p>
          <a:p>
            <a:pPr lvl="1"/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8456930" y="2172335"/>
            <a:ext cx="3580130" cy="3793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/>
            <a:r>
              <a:rPr lang="en-US" altLang="en-US" sz="2000">
                <a:sym typeface="+mn-ea"/>
              </a:rPr>
              <a:t>Example : </a:t>
            </a:r>
            <a:br>
              <a:rPr lang="en-US" altLang="en-US" sz="2000">
                <a:sym typeface="+mn-ea"/>
              </a:rPr>
            </a:br>
            <a:endParaRPr lang="en-US" altLang="en-US" sz="2000">
              <a:sym typeface="+mn-ea"/>
            </a:endParaRPr>
          </a:p>
          <a:p>
            <a:pPr lvl="1"/>
            <a:r>
              <a:rPr lang="en-US" altLang="en-US" sz="2000">
                <a:sym typeface="+mn-ea"/>
              </a:rPr>
              <a:t>CSV / Lakehouse Table</a:t>
            </a:r>
            <a:endParaRPr lang="en-US" altLang="en-US" sz="2000"/>
          </a:p>
          <a:p>
            <a:pPr lvl="1"/>
            <a:r>
              <a:rPr lang="en-US" altLang="en-US" sz="2000">
                <a:sym typeface="+mn-ea"/>
              </a:rPr>
              <a:t>        ↓</a:t>
            </a:r>
            <a:endParaRPr lang="en-US" altLang="en-US" sz="2000"/>
          </a:p>
          <a:p>
            <a:pPr lvl="1"/>
            <a:r>
              <a:rPr lang="en-US" altLang="en-US" sz="2000">
                <a:sym typeface="+mn-ea"/>
              </a:rPr>
              <a:t>    Spark Read</a:t>
            </a:r>
            <a:endParaRPr lang="en-US" altLang="en-US" sz="2000"/>
          </a:p>
          <a:p>
            <a:pPr lvl="1"/>
            <a:r>
              <a:rPr lang="en-US" altLang="en-US" sz="2000">
                <a:sym typeface="+mn-ea"/>
              </a:rPr>
              <a:t>        ↓</a:t>
            </a:r>
            <a:endParaRPr lang="en-US" altLang="en-US" sz="2000"/>
          </a:p>
          <a:p>
            <a:pPr lvl="1"/>
            <a:r>
              <a:rPr lang="en-US" altLang="en-US" sz="2000">
                <a:sym typeface="+mn-ea"/>
              </a:rPr>
              <a:t> DataFrame</a:t>
            </a:r>
            <a:endParaRPr lang="en-US" altLang="en-US" sz="2000"/>
          </a:p>
          <a:p>
            <a:pPr lvl="1"/>
            <a:r>
              <a:rPr lang="en-US" altLang="en-US" sz="2000">
                <a:sym typeface="+mn-ea"/>
              </a:rPr>
              <a:t>        ↓</a:t>
            </a:r>
            <a:endParaRPr lang="en-US" altLang="en-US" sz="2000"/>
          </a:p>
          <a:p>
            <a:pPr lvl="1"/>
            <a:r>
              <a:rPr lang="en-US" altLang="en-US" sz="2000">
                <a:sym typeface="+mn-ea"/>
              </a:rPr>
              <a:t> Transformation</a:t>
            </a:r>
            <a:endParaRPr lang="en-US" altLang="en-US" sz="2000"/>
          </a:p>
          <a:p>
            <a:pPr lvl="1"/>
            <a:r>
              <a:rPr lang="en-US" altLang="en-US" sz="2000">
                <a:sym typeface="+mn-ea"/>
              </a:rPr>
              <a:t>        ↓</a:t>
            </a:r>
            <a:endParaRPr lang="en-US" altLang="en-US" sz="2000"/>
          </a:p>
          <a:p>
            <a:pPr lvl="1"/>
            <a:r>
              <a:rPr lang="en-US" altLang="en-US" sz="2000">
                <a:sym typeface="+mn-ea"/>
              </a:rPr>
              <a:t>    Write Data</a:t>
            </a:r>
            <a:endParaRPr lang="en-US" altLang="en-US" sz="2000"/>
          </a:p>
          <a:p>
            <a:pPr lvl="1"/>
            <a:r>
              <a:rPr lang="en-US" altLang="en-US" sz="2000">
                <a:sym typeface="+mn-ea"/>
              </a:rPr>
              <a:t>        ↓</a:t>
            </a:r>
            <a:endParaRPr lang="en-US" altLang="en-US" sz="2000"/>
          </a:p>
          <a:p>
            <a:pPr lvl="1"/>
            <a:r>
              <a:rPr lang="en-US" altLang="en-US" sz="2000">
                <a:sym typeface="+mn-ea"/>
              </a:rPr>
              <a:t>     OneLake</a:t>
            </a:r>
            <a:endParaRPr lang="en-US" altLang="en-US" sz="20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Spark DataFrame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965" y="1313815"/>
            <a:ext cx="11320780" cy="5288280"/>
          </a:xfrm>
        </p:spPr>
        <p:txBody>
          <a:bodyPr>
            <a:normAutofit fontScale="90000"/>
          </a:bodyPr>
          <a:p>
            <a:r>
              <a:rPr lang="en-US" altLang="en-US"/>
              <a:t>A DataFrame is a distributed data structure used by Spark to work with structured data.</a:t>
            </a:r>
            <a:endParaRPr lang="en-US" altLang="en-US"/>
          </a:p>
          <a:p>
            <a:r>
              <a:rPr lang="en-US" altLang="en-US"/>
              <a:t>Example concept:</a:t>
            </a:r>
            <a:endParaRPr lang="en-US" altLang="en-US"/>
          </a:p>
          <a:p>
            <a:r>
              <a:rPr lang="en-US" altLang="en-US"/>
              <a:t>Customer Data</a:t>
            </a:r>
            <a:endParaRPr lang="en-US" altLang="en-US"/>
          </a:p>
          <a:p>
            <a:r>
              <a:rPr lang="en-US" altLang="en-US"/>
              <a:t>      ↓</a:t>
            </a:r>
            <a:endParaRPr lang="en-US" altLang="en-US"/>
          </a:p>
          <a:p>
            <a:r>
              <a:rPr lang="en-US" altLang="en-US"/>
              <a:t>Spark DataFrame</a:t>
            </a:r>
            <a:endParaRPr lang="en-US" altLang="en-US"/>
          </a:p>
          <a:p>
            <a:r>
              <a:rPr lang="en-US" altLang="en-US"/>
              <a:t>      ↓</a:t>
            </a:r>
            <a:endParaRPr lang="en-US" altLang="en-US"/>
          </a:p>
          <a:p>
            <a:r>
              <a:rPr lang="en-US" altLang="en-US"/>
              <a:t>Filter / Select / Transform</a:t>
            </a:r>
            <a:endParaRPr lang="en-US" altLang="en-US"/>
          </a:p>
          <a:p>
            <a:r>
              <a:rPr lang="en-US" altLang="en-US"/>
              <a:t>      ↓</a:t>
            </a:r>
            <a:endParaRPr lang="en-US" altLang="en-US"/>
          </a:p>
          <a:p>
            <a:r>
              <a:rPr lang="en-US" altLang="en-US"/>
              <a:t>Output</a:t>
            </a:r>
            <a:endParaRPr lang="en-US" altLang="en-US"/>
          </a:p>
          <a:p>
            <a:pPr lvl="1"/>
            <a:r>
              <a:rPr lang="en-US" altLang="en-US"/>
              <a:t>For example, </a:t>
            </a:r>
            <a:br>
              <a:rPr lang="en-US" altLang="en-US"/>
            </a:br>
            <a:r>
              <a:rPr lang="en-US" altLang="en-US"/>
              <a:t>you could filter customers from Surat:</a:t>
            </a:r>
            <a:endParaRPr lang="en-US" altLang="en-US"/>
          </a:p>
          <a:p>
            <a:pPr lvl="1"/>
            <a:r>
              <a:rPr lang="en-US" altLang="en-US"/>
              <a:t>City == "Surat"</a:t>
            </a:r>
            <a:endParaRPr lang="en-US" altLang="en-US"/>
          </a:p>
          <a:p>
            <a:pPr lvl="1"/>
            <a:r>
              <a:rPr lang="en-US" altLang="en-US"/>
              <a:t>and write the resulting data back to OneLake.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Basic Spark Notebook Example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t="3429"/>
          <a:stretch>
            <a:fillRect/>
          </a:stretch>
        </p:blipFill>
        <p:spPr>
          <a:xfrm>
            <a:off x="608330" y="1465580"/>
            <a:ext cx="9792335" cy="45961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Comparision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13105" y="1478280"/>
            <a:ext cx="9982200" cy="4076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REAL - WORLD EXAMPLE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6595" y="1313815"/>
            <a:ext cx="6889115" cy="51454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/>
              <a:t>Vraj Suratwala</a:t>
            </a:r>
            <a:endParaRPr lang="en-US"/>
          </a:p>
          <a:p>
            <a:r>
              <a:rPr lang="en-US"/>
              <a:t>BI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7702</Words>
  <Application>WPS Presentation</Application>
  <PresentationFormat>Widescreen</PresentationFormat>
  <Paragraphs>351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Apple Color Emoji</vt:lpstr>
      <vt:lpstr>-webkit-standard</vt:lpstr>
      <vt:lpstr>Thonburi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Lake &amp; One Lake</dc:title>
  <dc:creator>suratwalavraj</dc:creator>
  <cp:lastModifiedBy>Vraj Suratwala</cp:lastModifiedBy>
  <cp:revision>2</cp:revision>
  <dcterms:created xsi:type="dcterms:W3CDTF">2026-09-02T14:40:30Z</dcterms:created>
  <dcterms:modified xsi:type="dcterms:W3CDTF">2026-09-02T14:40:30Z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B7C74AF20AB3566D632F986A094E5997_41</vt:lpwstr>
  </property>
</Properties>
</file>