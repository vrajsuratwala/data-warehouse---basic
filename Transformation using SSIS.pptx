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70" r:id="rId13"/>
    <p:sldId id="266" r:id="rId14"/>
    <p:sldId id="267" r:id="rId15"/>
    <p:sldId id="268" r:id="rId16"/>
    <p:sldId id="269"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9" r:id="rId42"/>
    <p:sldId id="296" r:id="rId43"/>
    <p:sldId id="295" r:id="rId44"/>
    <p:sldId id="298"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8.xml"/><Relationship Id="rId3" Type="http://schemas.openxmlformats.org/officeDocument/2006/relationships/image" Target="../media/image1.png"/><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6.xml"/><Relationship Id="rId2" Type="http://schemas.openxmlformats.org/officeDocument/2006/relationships/image" Target="../media/image2.png"/><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2.xml"/><Relationship Id="rId3" Type="http://schemas.openxmlformats.org/officeDocument/2006/relationships/image" Target="../media/image3.png"/><Relationship Id="rId2" Type="http://schemas.openxmlformats.org/officeDocument/2006/relationships/tags" Target="../tags/tag81.xml"/><Relationship Id="rId1" Type="http://schemas.openxmlformats.org/officeDocument/2006/relationships/tags" Target="../tags/tag80.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5.xml"/><Relationship Id="rId3" Type="http://schemas.openxmlformats.org/officeDocument/2006/relationships/image" Target="../media/image4.png"/><Relationship Id="rId2" Type="http://schemas.openxmlformats.org/officeDocument/2006/relationships/tags" Target="../tags/tag84.xml"/><Relationship Id="rId1" Type="http://schemas.openxmlformats.org/officeDocument/2006/relationships/tags" Target="../tags/tag83.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8.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tags" Target="../tags/tag87.xml"/><Relationship Id="rId1" Type="http://schemas.openxmlformats.org/officeDocument/2006/relationships/tags" Target="../tags/tag86.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9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tags" Target="../tags/tag90.xml"/><Relationship Id="rId1" Type="http://schemas.openxmlformats.org/officeDocument/2006/relationships/tags" Target="../tags/tag89.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9.xml"/><Relationship Id="rId2" Type="http://schemas.openxmlformats.org/officeDocument/2006/relationships/image" Target="../media/image9.png"/><Relationship Id="rId1" Type="http://schemas.openxmlformats.org/officeDocument/2006/relationships/tags" Target="../tags/tag98.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2.xml"/><Relationship Id="rId3" Type="http://schemas.openxmlformats.org/officeDocument/2006/relationships/image" Target="../media/image10.png"/><Relationship Id="rId2" Type="http://schemas.openxmlformats.org/officeDocument/2006/relationships/tags" Target="../tags/tag101.xml"/><Relationship Id="rId1" Type="http://schemas.openxmlformats.org/officeDocument/2006/relationships/tags" Target="../tags/tag100.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1.xml"/><Relationship Id="rId3" Type="http://schemas.openxmlformats.org/officeDocument/2006/relationships/image" Target="../media/image11.png"/><Relationship Id="rId2" Type="http://schemas.openxmlformats.org/officeDocument/2006/relationships/tags" Target="../tags/tag110.xml"/><Relationship Id="rId1" Type="http://schemas.openxmlformats.org/officeDocument/2006/relationships/tags" Target="../tags/tag109.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7.xml"/><Relationship Id="rId3" Type="http://schemas.openxmlformats.org/officeDocument/2006/relationships/image" Target="../media/image12.png"/><Relationship Id="rId2" Type="http://schemas.openxmlformats.org/officeDocument/2006/relationships/tags" Target="../tags/tag116.xml"/><Relationship Id="rId1" Type="http://schemas.openxmlformats.org/officeDocument/2006/relationships/tags" Target="../tags/tag115.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3.xml"/><Relationship Id="rId3" Type="http://schemas.openxmlformats.org/officeDocument/2006/relationships/image" Target="../media/image13.png"/><Relationship Id="rId2" Type="http://schemas.openxmlformats.org/officeDocument/2006/relationships/tags" Target="../tags/tag122.xml"/><Relationship Id="rId1" Type="http://schemas.openxmlformats.org/officeDocument/2006/relationships/tags" Target="../tags/tag121.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5.xml"/><Relationship Id="rId2" Type="http://schemas.openxmlformats.org/officeDocument/2006/relationships/image" Target="../media/image14.png"/><Relationship Id="rId1" Type="http://schemas.openxmlformats.org/officeDocument/2006/relationships/tags" Target="../tags/tag124.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8.xml"/><Relationship Id="rId3" Type="http://schemas.openxmlformats.org/officeDocument/2006/relationships/image" Target="../media/image15.png"/><Relationship Id="rId2" Type="http://schemas.openxmlformats.org/officeDocument/2006/relationships/tags" Target="../tags/tag127.xml"/><Relationship Id="rId1" Type="http://schemas.openxmlformats.org/officeDocument/2006/relationships/tags" Target="../tags/tag126.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0.xml"/><Relationship Id="rId2" Type="http://schemas.openxmlformats.org/officeDocument/2006/relationships/image" Target="../media/image16.png"/><Relationship Id="rId1" Type="http://schemas.openxmlformats.org/officeDocument/2006/relationships/tags" Target="../tags/tag129.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2.xml"/><Relationship Id="rId3" Type="http://schemas.openxmlformats.org/officeDocument/2006/relationships/image" Target="../media/image17.png"/><Relationship Id="rId2" Type="http://schemas.openxmlformats.org/officeDocument/2006/relationships/tags" Target="../tags/tag141.xml"/><Relationship Id="rId1" Type="http://schemas.openxmlformats.org/officeDocument/2006/relationships/tags" Target="../tags/tag140.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5.xml"/><Relationship Id="rId3" Type="http://schemas.openxmlformats.org/officeDocument/2006/relationships/image" Target="../media/image18.png"/><Relationship Id="rId2" Type="http://schemas.openxmlformats.org/officeDocument/2006/relationships/tags" Target="../tags/tag144.xml"/><Relationship Id="rId1" Type="http://schemas.openxmlformats.org/officeDocument/2006/relationships/tags" Target="../tags/tag143.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7.xml"/><Relationship Id="rId2" Type="http://schemas.openxmlformats.org/officeDocument/2006/relationships/image" Target="../media/image19.png"/><Relationship Id="rId1" Type="http://schemas.openxmlformats.org/officeDocument/2006/relationships/tags" Target="../tags/tag146.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9.xml"/><Relationship Id="rId2" Type="http://schemas.openxmlformats.org/officeDocument/2006/relationships/image" Target="../media/image20.png"/><Relationship Id="rId1" Type="http://schemas.openxmlformats.org/officeDocument/2006/relationships/tags" Target="../tags/tag148.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1.xml"/><Relationship Id="rId2" Type="http://schemas.openxmlformats.org/officeDocument/2006/relationships/image" Target="../media/image21.png"/><Relationship Id="rId1" Type="http://schemas.openxmlformats.org/officeDocument/2006/relationships/tags" Target="../tags/tag150.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4.xml"/><Relationship Id="rId3" Type="http://schemas.openxmlformats.org/officeDocument/2006/relationships/image" Target="../media/image22.png"/><Relationship Id="rId2" Type="http://schemas.openxmlformats.org/officeDocument/2006/relationships/tags" Target="../tags/tag153.xml"/><Relationship Id="rId1" Type="http://schemas.openxmlformats.org/officeDocument/2006/relationships/tags" Target="../tags/tag152.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7.xml"/><Relationship Id="rId3" Type="http://schemas.openxmlformats.org/officeDocument/2006/relationships/image" Target="../media/image23.png"/><Relationship Id="rId2" Type="http://schemas.openxmlformats.org/officeDocument/2006/relationships/tags" Target="../tags/tag156.xml"/><Relationship Id="rId1" Type="http://schemas.openxmlformats.org/officeDocument/2006/relationships/tags" Target="../tags/tag155.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0.xml"/><Relationship Id="rId3" Type="http://schemas.openxmlformats.org/officeDocument/2006/relationships/image" Target="../media/image24.png"/><Relationship Id="rId2" Type="http://schemas.openxmlformats.org/officeDocument/2006/relationships/tags" Target="../tags/tag159.xml"/><Relationship Id="rId1" Type="http://schemas.openxmlformats.org/officeDocument/2006/relationships/tags" Target="../tags/tag158.xml"/></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3.xml"/><Relationship Id="rId3" Type="http://schemas.openxmlformats.org/officeDocument/2006/relationships/image" Target="../media/image25.png"/><Relationship Id="rId2" Type="http://schemas.openxmlformats.org/officeDocument/2006/relationships/tags" Target="../tags/tag162.xml"/><Relationship Id="rId1" Type="http://schemas.openxmlformats.org/officeDocument/2006/relationships/tags" Target="../tags/tag161.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9.xml"/><Relationship Id="rId3" Type="http://schemas.openxmlformats.org/officeDocument/2006/relationships/image" Target="../media/image26.png"/><Relationship Id="rId2" Type="http://schemas.openxmlformats.org/officeDocument/2006/relationships/tags" Target="../tags/tag168.xml"/><Relationship Id="rId1" Type="http://schemas.openxmlformats.org/officeDocument/2006/relationships/tags" Target="../tags/tag167.xml"/></Relationships>
</file>

<file path=ppt/slides/_rels/slide3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72.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tags" Target="../tags/tag171.xml"/><Relationship Id="rId1" Type="http://schemas.openxmlformats.org/officeDocument/2006/relationships/tags" Target="../tags/tag170.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75.xml"/><Relationship Id="rId3" Type="http://schemas.openxmlformats.org/officeDocument/2006/relationships/image" Target="../media/image29.png"/><Relationship Id="rId2" Type="http://schemas.openxmlformats.org/officeDocument/2006/relationships/tags" Target="../tags/tag174.xml"/><Relationship Id="rId1" Type="http://schemas.openxmlformats.org/officeDocument/2006/relationships/tags" Target="../tags/tag173.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81.xml"/><Relationship Id="rId3" Type="http://schemas.openxmlformats.org/officeDocument/2006/relationships/image" Target="../media/image30.png"/><Relationship Id="rId2" Type="http://schemas.openxmlformats.org/officeDocument/2006/relationships/tags" Target="../tags/tag180.xml"/><Relationship Id="rId1" Type="http://schemas.openxmlformats.org/officeDocument/2006/relationships/tags" Target="../tags/tag179.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84.xml"/><Relationship Id="rId3" Type="http://schemas.openxmlformats.org/officeDocument/2006/relationships/image" Target="../media/image31.png"/><Relationship Id="rId2" Type="http://schemas.openxmlformats.org/officeDocument/2006/relationships/tags" Target="../tags/tag183.xml"/><Relationship Id="rId1" Type="http://schemas.openxmlformats.org/officeDocument/2006/relationships/tags" Target="../tags/tag182.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87.xml"/><Relationship Id="rId3" Type="http://schemas.openxmlformats.org/officeDocument/2006/relationships/image" Target="../media/image32.png"/><Relationship Id="rId2" Type="http://schemas.openxmlformats.org/officeDocument/2006/relationships/tags" Target="../tags/tag186.xml"/><Relationship Id="rId1" Type="http://schemas.openxmlformats.org/officeDocument/2006/relationships/tags" Target="../tags/tag185.xml"/></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90.xml"/><Relationship Id="rId3" Type="http://schemas.openxmlformats.org/officeDocument/2006/relationships/image" Target="../media/image33.png"/><Relationship Id="rId2" Type="http://schemas.openxmlformats.org/officeDocument/2006/relationships/tags" Target="../tags/tag189.xml"/><Relationship Id="rId1" Type="http://schemas.openxmlformats.org/officeDocument/2006/relationships/tags" Target="../tags/tag188.xml"/></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93.xml"/><Relationship Id="rId3" Type="http://schemas.openxmlformats.org/officeDocument/2006/relationships/image" Target="../media/image34.png"/><Relationship Id="rId2" Type="http://schemas.openxmlformats.org/officeDocument/2006/relationships/tags" Target="../tags/tag192.xml"/><Relationship Id="rId1" Type="http://schemas.openxmlformats.org/officeDocument/2006/relationships/tags" Target="../tags/tag191.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6.xml"/><Relationship Id="rId2" Type="http://schemas.openxmlformats.org/officeDocument/2006/relationships/tags" Target="../tags/tag195.xml"/><Relationship Id="rId1" Type="http://schemas.openxmlformats.org/officeDocument/2006/relationships/tags" Target="../tags/tag194.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99.xml"/><Relationship Id="rId3" Type="http://schemas.openxmlformats.org/officeDocument/2006/relationships/image" Target="../media/image35.png"/><Relationship Id="rId2" Type="http://schemas.openxmlformats.org/officeDocument/2006/relationships/tags" Target="../tags/tag198.xml"/><Relationship Id="rId1" Type="http://schemas.openxmlformats.org/officeDocument/2006/relationships/tags" Target="../tags/tag197.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0.xml"/><Relationship Id="rId1" Type="http://schemas.openxmlformats.org/officeDocument/2006/relationships/image" Target="../media/image36.pn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15.xml"/><Relationship Id="rId3" Type="http://schemas.openxmlformats.org/officeDocument/2006/relationships/image" Target="../media/image37.png"/><Relationship Id="rId2" Type="http://schemas.openxmlformats.org/officeDocument/2006/relationships/tags" Target="../tags/tag214.xml"/><Relationship Id="rId1" Type="http://schemas.openxmlformats.org/officeDocument/2006/relationships/tags" Target="../tags/tag213.xm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33.xml"/><Relationship Id="rId3" Type="http://schemas.openxmlformats.org/officeDocument/2006/relationships/image" Target="../media/image38.png"/><Relationship Id="rId2" Type="http://schemas.openxmlformats.org/officeDocument/2006/relationships/tags" Target="../tags/tag232.xml"/><Relationship Id="rId1" Type="http://schemas.openxmlformats.org/officeDocument/2006/relationships/tags" Target="../tags/tag231.xml"/></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s>
</file>

<file path=ppt/slides/_rels/slide6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39.xml"/><Relationship Id="rId3" Type="http://schemas.openxmlformats.org/officeDocument/2006/relationships/image" Target="../media/image39.png"/><Relationship Id="rId2" Type="http://schemas.openxmlformats.org/officeDocument/2006/relationships/tags" Target="../tags/tag238.xml"/><Relationship Id="rId1" Type="http://schemas.openxmlformats.org/officeDocument/2006/relationships/tags" Target="../tags/tag237.xml"/></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48.xml"/><Relationship Id="rId3" Type="http://schemas.openxmlformats.org/officeDocument/2006/relationships/image" Target="../media/image40.png"/><Relationship Id="rId2" Type="http://schemas.openxmlformats.org/officeDocument/2006/relationships/tags" Target="../tags/tag247.xml"/><Relationship Id="rId1" Type="http://schemas.openxmlformats.org/officeDocument/2006/relationships/tags" Target="../tags/tag246.xml"/></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53.xml"/><Relationship Id="rId2" Type="http://schemas.openxmlformats.org/officeDocument/2006/relationships/image" Target="../media/image41.png"/><Relationship Id="rId1" Type="http://schemas.openxmlformats.org/officeDocument/2006/relationships/tags" Target="../tags/tag252.xml"/></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55.xml"/><Relationship Id="rId2" Type="http://schemas.openxmlformats.org/officeDocument/2006/relationships/image" Target="../media/image42.png"/><Relationship Id="rId1" Type="http://schemas.openxmlformats.org/officeDocument/2006/relationships/tags" Target="../tags/tag254.xml"/></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58.xml"/><Relationship Id="rId3" Type="http://schemas.openxmlformats.org/officeDocument/2006/relationships/image" Target="../media/image43.png"/><Relationship Id="rId2" Type="http://schemas.openxmlformats.org/officeDocument/2006/relationships/tags" Target="../tags/tag257.xml"/><Relationship Id="rId1" Type="http://schemas.openxmlformats.org/officeDocument/2006/relationships/tags" Target="../tags/tag256.xml"/></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60.xml"/><Relationship Id="rId2" Type="http://schemas.openxmlformats.org/officeDocument/2006/relationships/image" Target="../media/image44.png"/><Relationship Id="rId1" Type="http://schemas.openxmlformats.org/officeDocument/2006/relationships/tags" Target="../tags/tag259.xml"/></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62.xml"/><Relationship Id="rId2" Type="http://schemas.openxmlformats.org/officeDocument/2006/relationships/image" Target="../media/image45.png"/><Relationship Id="rId1" Type="http://schemas.openxmlformats.org/officeDocument/2006/relationships/tags" Target="../tags/tag261.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3.xml"/><Relationship Id="rId1" Type="http://schemas.openxmlformats.org/officeDocument/2006/relationships/image" Target="../media/image46.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64.xml"/><Relationship Id="rId2" Type="http://schemas.openxmlformats.org/officeDocument/2006/relationships/image" Target="../media/image48.png"/><Relationship Id="rId1" Type="http://schemas.openxmlformats.org/officeDocument/2006/relationships/image" Target="../media/image47.png"/></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67.xml"/><Relationship Id="rId2" Type="http://schemas.openxmlformats.org/officeDocument/2006/relationships/tags" Target="../tags/tag266.xml"/><Relationship Id="rId1" Type="http://schemas.openxmlformats.org/officeDocument/2006/relationships/tags" Target="../tags/tag265.xml"/></Relationships>
</file>

<file path=ppt/slides/_rels/slide7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tags" Target="../tags/tag268.xml"/></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72.xml"/><Relationship Id="rId2" Type="http://schemas.openxmlformats.org/officeDocument/2006/relationships/image" Target="../media/image49.png"/><Relationship Id="rId1" Type="http://schemas.openxmlformats.org/officeDocument/2006/relationships/tags" Target="../tags/tag271.xml"/></Relationships>
</file>

<file path=ppt/slides/_rels/slide7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s>
</file>

<file path=ppt/slides/_rels/slide7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78.xml"/><Relationship Id="rId2" Type="http://schemas.openxmlformats.org/officeDocument/2006/relationships/tags" Target="../tags/tag277.xml"/><Relationship Id="rId1" Type="http://schemas.openxmlformats.org/officeDocument/2006/relationships/tags" Target="../tags/tag276.xml"/></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81.xml"/><Relationship Id="rId2" Type="http://schemas.openxmlformats.org/officeDocument/2006/relationships/tags" Target="../tags/tag280.xml"/><Relationship Id="rId1" Type="http://schemas.openxmlformats.org/officeDocument/2006/relationships/tags" Target="../tags/tag279.xml"/></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tags" Target="../tags/tag2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r>
              <a:rPr lang="en-US"/>
              <a:t>Transformation using SSIS</a:t>
            </a:r>
            <a:endParaRPr lang="en-US"/>
          </a:p>
        </p:txBody>
      </p:sp>
      <p:sp>
        <p:nvSpPr>
          <p:cNvPr id="3" name="Subtitle 2"/>
          <p:cNvSpPr>
            <a:spLocks noGrp="1"/>
          </p:cNvSpPr>
          <p:nvPr>
            <p:ph type="subTitle" idx="1"/>
            <p:custDataLst>
              <p:tags r:id="rId2"/>
            </p:custDataLst>
          </p:nvPr>
        </p:nvSpPr>
        <p:spPr/>
        <p:txBody>
          <a:bodyPr/>
          <a:p>
            <a:r>
              <a:rPr lang="en-US"/>
              <a:t>Vraj Suratwala</a:t>
            </a:r>
            <a:endParaRPr lang="en-US"/>
          </a:p>
          <a:p>
            <a:r>
              <a:rPr lang="en-US"/>
              <a:t>Department of ICT, VNSGU</a:t>
            </a:r>
            <a:endParaRPr 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Introduction</a:t>
            </a:r>
            <a:endParaRPr lang="en-US"/>
          </a:p>
        </p:txBody>
      </p:sp>
      <p:sp>
        <p:nvSpPr>
          <p:cNvPr id="3" name="Content Placeholder 2"/>
          <p:cNvSpPr>
            <a:spLocks noGrp="1"/>
          </p:cNvSpPr>
          <p:nvPr>
            <p:ph idx="1"/>
            <p:custDataLst>
              <p:tags r:id="rId2"/>
            </p:custDataLst>
          </p:nvPr>
        </p:nvSpPr>
        <p:spPr/>
        <p:txBody>
          <a:bodyPr/>
          <a:p>
            <a:r>
              <a:rPr lang="en-US" altLang="en-US"/>
              <a:t>SSIS (SQL Server Integration Services) is a Microsoft tool used to perform ETL — Extract, Transform, Load operations.</a:t>
            </a:r>
            <a:endParaRPr lang="en-US" altLang="en-US"/>
          </a:p>
          <a:p>
            <a:r>
              <a:rPr lang="en-US" altLang="en-US"/>
              <a:t>In SSIS, Transformation means changing, cleaning, converting, combining, or enriching data after it is extracted from the source and before it is loaded into the Data Warehouse.</a:t>
            </a:r>
            <a:endParaRPr lang="en-US" altLang="en-US"/>
          </a:p>
          <a:p>
            <a:endParaRPr lang="en-US" altLang="en-US"/>
          </a:p>
        </p:txBody>
      </p:sp>
      <p:pic>
        <p:nvPicPr>
          <p:cNvPr id="4" name="Picture 3"/>
          <p:cNvPicPr>
            <a:picLocks noChangeAspect="1"/>
          </p:cNvPicPr>
          <p:nvPr/>
        </p:nvPicPr>
        <p:blipFill>
          <a:blip r:embed="rId3"/>
          <a:stretch>
            <a:fillRect/>
          </a:stretch>
        </p:blipFill>
        <p:spPr>
          <a:xfrm>
            <a:off x="7051675" y="3151505"/>
            <a:ext cx="5140325" cy="3706495"/>
          </a:xfrm>
          <a:prstGeom prst="rect">
            <a:avLst/>
          </a:prstGeom>
        </p:spPr>
      </p:pic>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Important Transformation</a:t>
            </a:r>
            <a:endParaRPr lang="en-US"/>
          </a:p>
        </p:txBody>
      </p:sp>
      <p:sp>
        <p:nvSpPr>
          <p:cNvPr id="3" name="Content Placeholder 2"/>
          <p:cNvSpPr>
            <a:spLocks noGrp="1"/>
          </p:cNvSpPr>
          <p:nvPr>
            <p:ph idx="1"/>
            <p:custDataLst>
              <p:tags r:id="rId2"/>
            </p:custDataLst>
          </p:nvPr>
        </p:nvSpPr>
        <p:spPr/>
        <p:txBody>
          <a:bodyPr>
            <a:normAutofit lnSpcReduction="10000"/>
          </a:bodyPr>
          <a:p>
            <a:r>
              <a:rPr lang="en-US"/>
              <a:t>1. Data Conversion </a:t>
            </a:r>
            <a:endParaRPr lang="en-US"/>
          </a:p>
          <a:p>
            <a:r>
              <a:rPr lang="en-US"/>
              <a:t>2. Derived Column </a:t>
            </a:r>
            <a:endParaRPr lang="en-US"/>
          </a:p>
          <a:p>
            <a:r>
              <a:rPr lang="en-US"/>
              <a:t>3. Conditional Split </a:t>
            </a:r>
            <a:endParaRPr lang="en-US"/>
          </a:p>
          <a:p>
            <a:r>
              <a:rPr lang="en-US"/>
              <a:t>4. Lookup</a:t>
            </a:r>
            <a:endParaRPr lang="en-US"/>
          </a:p>
          <a:p>
            <a:r>
              <a:rPr lang="en-US"/>
              <a:t>5. Merge</a:t>
            </a:r>
            <a:endParaRPr lang="en-US"/>
          </a:p>
          <a:p>
            <a:r>
              <a:rPr lang="en-US"/>
              <a:t>6. Merge Join</a:t>
            </a:r>
            <a:endParaRPr lang="en-US"/>
          </a:p>
          <a:p>
            <a:r>
              <a:rPr lang="en-US"/>
              <a:t>7. Aggregate</a:t>
            </a:r>
            <a:endParaRPr lang="en-US"/>
          </a:p>
          <a:p>
            <a:r>
              <a:rPr lang="en-US"/>
              <a:t>8. Sort</a:t>
            </a:r>
            <a:endParaRPr lang="en-US"/>
          </a:p>
          <a:p>
            <a:r>
              <a:rPr lang="en-US"/>
              <a:t>9.Row Count</a:t>
            </a:r>
            <a:endParaRPr lang="en-US"/>
          </a:p>
          <a:p>
            <a:r>
              <a:rPr lang="en-US"/>
              <a:t>10. Data Cleaning Transformation</a:t>
            </a:r>
            <a:endParaRPr lang="en-US"/>
          </a:p>
          <a:p>
            <a:endParaRPr 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Copy Column Transformation</a:t>
            </a:r>
            <a:endParaRPr lang="en-US"/>
          </a:p>
        </p:txBody>
      </p:sp>
      <p:sp>
        <p:nvSpPr>
          <p:cNvPr id="3" name="Content Placeholder 2"/>
          <p:cNvSpPr>
            <a:spLocks noGrp="1"/>
          </p:cNvSpPr>
          <p:nvPr>
            <p:ph idx="1"/>
            <p:custDataLst>
              <p:tags r:id="rId2"/>
            </p:custDataLst>
          </p:nvPr>
        </p:nvSpPr>
        <p:spPr/>
        <p:txBody>
          <a:bodyPr/>
          <a:p>
            <a:r>
              <a:rPr lang="en-US" altLang="en-US"/>
              <a:t>Copy Column Transformation is an SSIS transformation used to create a copy of an existing column in the data flow.</a:t>
            </a:r>
            <a:endParaRPr lang="en-US" altLang="en-US"/>
          </a:p>
          <a:p>
            <a:r>
              <a:rPr lang="en-US" altLang="en-US"/>
              <a:t>The original column remains unchanged, while a new column containing the same values is created.</a:t>
            </a:r>
            <a:endParaRPr lang="en-US" altLang="en-US"/>
          </a:p>
          <a:p>
            <a:endParaRPr lang="en-US" altLang="en-US"/>
          </a:p>
          <a:p>
            <a:r>
              <a:rPr lang="en-US" altLang="en-US"/>
              <a:t>SIMPLE DEFINITION :</a:t>
            </a:r>
            <a:endParaRPr lang="en-US" altLang="en-US"/>
          </a:p>
          <a:p>
            <a:pPr lvl="1"/>
            <a:r>
              <a:rPr lang="en-US" altLang="en-US"/>
              <a:t>Copy Column Transformation copies the contents of an existing input column into a new output column.n</a:t>
            </a:r>
            <a:endParaRPr lang="en-US"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1234440" y="0"/>
            <a:ext cx="9026525" cy="6845300"/>
          </a:xfrm>
          <a:prstGeom prst="rect">
            <a:avLst/>
          </a:prstGeom>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Usage</a:t>
            </a:r>
            <a:endParaRPr lang="en-US"/>
          </a:p>
        </p:txBody>
      </p:sp>
      <p:sp>
        <p:nvSpPr>
          <p:cNvPr id="3" name="Content Placeholder 2"/>
          <p:cNvSpPr>
            <a:spLocks noGrp="1"/>
          </p:cNvSpPr>
          <p:nvPr>
            <p:ph idx="1"/>
            <p:custDataLst>
              <p:tags r:id="rId2"/>
            </p:custDataLst>
          </p:nvPr>
        </p:nvSpPr>
        <p:spPr/>
        <p:txBody>
          <a:bodyPr/>
          <a:p>
            <a:r>
              <a:rPr lang="en-US" altLang="en-US"/>
              <a:t>Keep the original value for reference.</a:t>
            </a:r>
            <a:endParaRPr lang="en-US" altLang="en-US"/>
          </a:p>
          <a:p>
            <a:r>
              <a:rPr lang="en-US" altLang="en-US"/>
              <a:t>Create a duplicate column for further processing.</a:t>
            </a:r>
            <a:endParaRPr lang="en-US" altLang="en-US"/>
          </a:p>
          <a:p>
            <a:r>
              <a:rPr lang="en-US" altLang="en-US"/>
              <a:t>Preserve source data before applying another transformation.</a:t>
            </a:r>
            <a:endParaRPr lang="en-US" altLang="en-US"/>
          </a:p>
          <a:p>
            <a:r>
              <a:rPr lang="en-US" altLang="en-US"/>
              <a:t>Use the copied column for comparison or validation.</a:t>
            </a:r>
            <a:endParaRPr lang="en-US"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Comparision</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758190" y="1492250"/>
            <a:ext cx="10668000" cy="3390900"/>
          </a:xfrm>
          <a:prstGeom prst="rect">
            <a:avLst/>
          </a:prstGeo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Data Conversion Transformation in SSIS</a:t>
            </a:r>
            <a:endParaRPr lang="en-US" altLang="en-US"/>
          </a:p>
        </p:txBody>
      </p:sp>
      <p:sp>
        <p:nvSpPr>
          <p:cNvPr id="3" name="Content Placeholder 2"/>
          <p:cNvSpPr>
            <a:spLocks noGrp="1"/>
          </p:cNvSpPr>
          <p:nvPr>
            <p:ph idx="1"/>
            <p:custDataLst>
              <p:tags r:id="rId2"/>
            </p:custDataLst>
          </p:nvPr>
        </p:nvSpPr>
        <p:spPr/>
        <p:txBody>
          <a:bodyPr/>
          <a:p>
            <a:r>
              <a:rPr lang="en-US" altLang="en-US"/>
              <a:t>Data Conversion Transformation in SSIS is used to change the data type of a column from one data type to another</a:t>
            </a:r>
            <a:endParaRPr lang="en-US" altLang="en-US"/>
          </a:p>
          <a:p>
            <a:r>
              <a:rPr lang="en-US" altLang="en-US"/>
              <a:t>Data Conversion Transformation converts the data type of input columns into another compatible data type required by the destination.</a:t>
            </a:r>
            <a:endParaRPr lang="en-US" altLang="en-US"/>
          </a:p>
          <a:p>
            <a:r>
              <a:rPr lang="en-US" altLang="en-US"/>
              <a:t>NEED : </a:t>
            </a:r>
            <a:endParaRPr lang="en-US" altLang="en-US"/>
          </a:p>
          <a:p>
            <a:pPr lvl="1"/>
            <a:r>
              <a:rPr lang="en-US" altLang="en-US"/>
              <a:t>Different systems may store the same type of data using different data </a:t>
            </a:r>
            <a:br>
              <a:rPr lang="en-US" altLang="en-US"/>
            </a:br>
            <a:r>
              <a:rPr lang="en-US" altLang="en-US"/>
              <a:t>types.</a:t>
            </a:r>
            <a:endParaRPr lang="en-US" altLang="en-US"/>
          </a:p>
          <a:p>
            <a:pPr lvl="1"/>
            <a:r>
              <a:rPr lang="en-US" altLang="en-US"/>
              <a:t>If the destination expects an INT but the source provides a VARCHAR, we need Data Conversion Transformation.</a:t>
            </a:r>
            <a:endParaRPr lang="en-US" altLang="en-US"/>
          </a:p>
        </p:txBody>
      </p:sp>
      <p:pic>
        <p:nvPicPr>
          <p:cNvPr id="4" name="Picture 3"/>
          <p:cNvPicPr>
            <a:picLocks noChangeAspect="1"/>
          </p:cNvPicPr>
          <p:nvPr/>
        </p:nvPicPr>
        <p:blipFill>
          <a:blip r:embed="rId3"/>
          <a:stretch>
            <a:fillRect/>
          </a:stretch>
        </p:blipFill>
        <p:spPr>
          <a:xfrm>
            <a:off x="9539605" y="3467100"/>
            <a:ext cx="2730500" cy="3390900"/>
          </a:xfrm>
          <a:prstGeom prst="rect">
            <a:avLst/>
          </a:prstGeom>
        </p:spPr>
      </p:pic>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Example</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0" y="0"/>
            <a:ext cx="11158220" cy="6842760"/>
          </a:xfrm>
          <a:prstGeom prst="rect">
            <a:avLst/>
          </a:prstGeom>
        </p:spPr>
      </p:pic>
      <p:pic>
        <p:nvPicPr>
          <p:cNvPr id="5" name="Picture 4"/>
          <p:cNvPicPr>
            <a:picLocks noChangeAspect="1"/>
          </p:cNvPicPr>
          <p:nvPr/>
        </p:nvPicPr>
        <p:blipFill>
          <a:blip r:embed="rId4"/>
          <a:stretch>
            <a:fillRect/>
          </a:stretch>
        </p:blipFill>
        <p:spPr>
          <a:xfrm>
            <a:off x="5090795" y="4128770"/>
            <a:ext cx="7101205" cy="2729230"/>
          </a:xfrm>
          <a:prstGeom prst="rect">
            <a:avLst/>
          </a:prstGeom>
        </p:spPr>
      </p:pic>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IMP Point</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1466850"/>
            <a:ext cx="10210800" cy="3924300"/>
          </a:xfrm>
          <a:prstGeom prst="rect">
            <a:avLst/>
          </a:prstGeom>
        </p:spPr>
      </p:pic>
      <p:pic>
        <p:nvPicPr>
          <p:cNvPr id="5" name="Picture 4"/>
          <p:cNvPicPr>
            <a:picLocks noChangeAspect="1"/>
          </p:cNvPicPr>
          <p:nvPr/>
        </p:nvPicPr>
        <p:blipFill>
          <a:blip r:embed="rId4"/>
          <a:srcRect r="68489"/>
          <a:stretch>
            <a:fillRect/>
          </a:stretch>
        </p:blipFill>
        <p:spPr>
          <a:xfrm>
            <a:off x="8903970" y="2847975"/>
            <a:ext cx="3288030" cy="4010025"/>
          </a:xfrm>
          <a:prstGeom prst="rect">
            <a:avLst/>
          </a:prstGeom>
        </p:spPr>
      </p:pic>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en-US"/>
              <a:t>Control Flow &amp; Data Flow</a:t>
            </a:r>
            <a:endParaRPr lang="en-US"/>
          </a:p>
        </p:txBody>
      </p:sp>
      <p:sp>
        <p:nvSpPr>
          <p:cNvPr id="5" name="Subtitle 4"/>
          <p:cNvSpPr>
            <a:spLocks noGrp="1"/>
          </p:cNvSpPr>
          <p:nvPr>
            <p:ph type="subTitle" idx="1"/>
            <p:custDataLst>
              <p:tags r:id="rId2"/>
            </p:custDataLst>
          </p:nvPr>
        </p:nvSpPr>
        <p:spPr/>
        <p:txBody>
          <a:bodyPr/>
          <a:p>
            <a:r>
              <a:rPr lang="en-US"/>
              <a:t>BI</a:t>
            </a:r>
            <a:endParaRPr lang="en-US"/>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Control Flow</a:t>
            </a:r>
            <a:endParaRPr lang="en-US"/>
          </a:p>
        </p:txBody>
      </p:sp>
      <p:sp>
        <p:nvSpPr>
          <p:cNvPr id="3" name="Content Placeholder 2"/>
          <p:cNvSpPr>
            <a:spLocks noGrp="1"/>
          </p:cNvSpPr>
          <p:nvPr>
            <p:ph idx="1"/>
            <p:custDataLst>
              <p:tags r:id="rId2"/>
            </p:custDataLst>
          </p:nvPr>
        </p:nvSpPr>
        <p:spPr/>
        <p:txBody>
          <a:bodyPr/>
          <a:p>
            <a:r>
              <a:rPr lang="en-US" altLang="en-US"/>
              <a:t>Control Flow in SQL Server Integration Services (SSIS) defines the sequence and conditions in which tasks are executed within an SSIS package.</a:t>
            </a:r>
            <a:endParaRPr lang="en-US" altLang="en-US"/>
          </a:p>
          <a:p>
            <a:r>
              <a:rPr lang="en-US" altLang="en-US"/>
              <a:t>In simple words:</a:t>
            </a:r>
            <a:endParaRPr lang="en-US" altLang="en-US"/>
          </a:p>
          <a:p>
            <a:pPr marL="0" indent="457200" algn="ctr">
              <a:buNone/>
            </a:pPr>
            <a:r>
              <a:rPr lang="en-US" altLang="en-US" sz="2800"/>
              <a:t>Control Flow = Decides what to do, when to do it, and under what condition.</a:t>
            </a:r>
            <a:endParaRPr lang="en-US" altLang="en-US" sz="2800"/>
          </a:p>
          <a:p>
            <a:r>
              <a:rPr lang="en-US" altLang="en-US"/>
              <a:t>It consists mainly of Tasks, Containers, and Precedence Constraints.</a:t>
            </a:r>
            <a:endParaRPr lang="en-US" altLang="en-US"/>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Main Component</a:t>
            </a:r>
            <a:endParaRPr lang="en-US"/>
          </a:p>
        </p:txBody>
      </p:sp>
      <p:pic>
        <p:nvPicPr>
          <p:cNvPr id="5" name="Picture 4"/>
          <p:cNvPicPr>
            <a:picLocks noChangeAspect="1"/>
          </p:cNvPicPr>
          <p:nvPr/>
        </p:nvPicPr>
        <p:blipFill>
          <a:blip r:embed="rId2"/>
          <a:stretch>
            <a:fillRect/>
          </a:stretch>
        </p:blipFill>
        <p:spPr>
          <a:xfrm>
            <a:off x="720725" y="1447800"/>
            <a:ext cx="10210800" cy="4902200"/>
          </a:xfrm>
          <a:prstGeom prst="rect">
            <a:avLst/>
          </a:prstGeom>
        </p:spPr>
      </p:pic>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3. Tasks</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713105" y="1313815"/>
            <a:ext cx="8382635" cy="5411470"/>
          </a:xfrm>
          <a:prstGeom prst="rect">
            <a:avLst/>
          </a:prstGeom>
        </p:spPr>
      </p:pic>
    </p:spTree>
    <p:custDataLst>
      <p:tags r:id="rId4"/>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4. Containers</a:t>
            </a:r>
            <a:endParaRPr lang="en-US"/>
          </a:p>
        </p:txBody>
      </p:sp>
      <p:sp>
        <p:nvSpPr>
          <p:cNvPr id="3" name="Content Placeholder 2"/>
          <p:cNvSpPr>
            <a:spLocks noGrp="1"/>
          </p:cNvSpPr>
          <p:nvPr>
            <p:ph idx="1"/>
            <p:custDataLst>
              <p:tags r:id="rId2"/>
            </p:custDataLst>
          </p:nvPr>
        </p:nvSpPr>
        <p:spPr/>
        <p:txBody>
          <a:bodyPr/>
          <a:p>
            <a:r>
              <a:rPr lang="en-US" altLang="en-US"/>
              <a:t>A Container is used to group multiple tasks and control their execution.</a:t>
            </a:r>
            <a:endParaRPr lang="en-US" altLang="en-US"/>
          </a:p>
          <a:p>
            <a:r>
              <a:rPr lang="en-US" altLang="en-US"/>
              <a:t>Types of Containers</a:t>
            </a:r>
            <a:endParaRPr lang="en-US" altLang="en-US"/>
          </a:p>
          <a:p>
            <a:pPr lvl="1"/>
            <a:r>
              <a:rPr lang="en-US" altLang="en-US"/>
              <a:t>1. Sequence Container</a:t>
            </a:r>
            <a:endParaRPr lang="en-US" altLang="en-US"/>
          </a:p>
          <a:p>
            <a:pPr lvl="1"/>
            <a:r>
              <a:rPr lang="en-US" altLang="en-US"/>
              <a:t>Groups related tasks into a logical unit.</a:t>
            </a:r>
            <a:endParaRPr lang="en-US" altLang="en-US"/>
          </a:p>
          <a:p>
            <a:pPr lvl="1"/>
            <a:r>
              <a:rPr lang="en-US" altLang="en-US"/>
              <a:t>Example :</a:t>
            </a:r>
            <a:endParaRPr lang="en-US" altLang="en-US"/>
          </a:p>
          <a:p>
            <a:pPr lvl="2"/>
            <a:r>
              <a:rPr lang="en-US" altLang="en-US"/>
              <a:t>Sequence Container</a:t>
            </a:r>
            <a:endParaRPr lang="en-US" altLang="en-US"/>
          </a:p>
          <a:p>
            <a:pPr lvl="2"/>
            <a:r>
              <a:rPr lang="en-US" altLang="en-US"/>
              <a:t> ├── Extract Data</a:t>
            </a:r>
            <a:endParaRPr lang="en-US" altLang="en-US"/>
          </a:p>
          <a:p>
            <a:pPr lvl="2"/>
            <a:r>
              <a:rPr lang="en-US" altLang="en-US"/>
              <a:t> ├── Transform Data</a:t>
            </a:r>
            <a:endParaRPr lang="en-US" altLang="en-US"/>
          </a:p>
          <a:p>
            <a:pPr lvl="2"/>
            <a:r>
              <a:rPr lang="en-US" altLang="en-US"/>
              <a:t> └── Load Data</a:t>
            </a:r>
            <a:endParaRPr lang="en-US" altLang="en-US"/>
          </a:p>
          <a:p>
            <a:pPr lvl="2"/>
            <a:r>
              <a:rPr lang="en-US" altLang="en-US"/>
              <a:t>NOTE : Useful when several tasks belong to the same process.</a:t>
            </a:r>
            <a:endParaRPr lang="en-US" altLang="en-US"/>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4. Containers</a:t>
            </a:r>
            <a:endParaRPr lang="en-US"/>
          </a:p>
        </p:txBody>
      </p:sp>
      <p:sp>
        <p:nvSpPr>
          <p:cNvPr id="3" name="Content Placeholder 2"/>
          <p:cNvSpPr>
            <a:spLocks noGrp="1"/>
          </p:cNvSpPr>
          <p:nvPr>
            <p:ph idx="1"/>
            <p:custDataLst>
              <p:tags r:id="rId2"/>
            </p:custDataLst>
          </p:nvPr>
        </p:nvSpPr>
        <p:spPr/>
        <p:txBody>
          <a:bodyPr>
            <a:normAutofit lnSpcReduction="20000"/>
          </a:bodyPr>
          <a:p>
            <a:r>
              <a:rPr lang="en-US" altLang="en-US"/>
              <a:t>2. For Loop Container</a:t>
            </a:r>
            <a:endParaRPr lang="en-US" altLang="en-US"/>
          </a:p>
          <a:p>
            <a:pPr lvl="1"/>
            <a:r>
              <a:rPr lang="en-US" altLang="en-US"/>
              <a:t>Repeats tasks until a specified condition becomes false.</a:t>
            </a:r>
            <a:endParaRPr lang="en-US" altLang="en-US"/>
          </a:p>
          <a:p>
            <a:pPr lvl="1"/>
            <a:r>
              <a:rPr lang="en-US" altLang="en-US"/>
              <a:t>Similar to:</a:t>
            </a:r>
            <a:endParaRPr lang="en-US" altLang="en-US"/>
          </a:p>
          <a:p>
            <a:pPr lvl="2"/>
            <a:r>
              <a:rPr lang="en-US" altLang="en-US"/>
              <a:t>for(initialization; condition; increment)</a:t>
            </a:r>
            <a:endParaRPr lang="en-US" altLang="en-US"/>
          </a:p>
          <a:p>
            <a:pPr lvl="1"/>
            <a:r>
              <a:rPr lang="en-US" altLang="en-US"/>
              <a:t>Example: Process files numbered from 1 to 10.</a:t>
            </a:r>
            <a:endParaRPr lang="en-US" altLang="en-US"/>
          </a:p>
          <a:p>
            <a:pPr lvl="1"/>
            <a:endParaRPr lang="en-US" altLang="en-US"/>
          </a:p>
          <a:p>
            <a:pPr lvl="0"/>
            <a:r>
              <a:rPr lang="en-US" altLang="en-US"/>
              <a:t>3. Foreach Loop Container</a:t>
            </a:r>
            <a:endParaRPr lang="en-US" altLang="en-US"/>
          </a:p>
          <a:p>
            <a:pPr lvl="1"/>
            <a:r>
              <a:rPr lang="en-US" altLang="en-US"/>
              <a:t>Repeats tasks for each item in a collection.</a:t>
            </a:r>
            <a:endParaRPr lang="en-US" altLang="en-US" sz="1600"/>
          </a:p>
          <a:p>
            <a:pPr lvl="1"/>
            <a:r>
              <a:rPr lang="en-US" altLang="en-US" sz="1600"/>
              <a:t>Folder</a:t>
            </a:r>
            <a:endParaRPr lang="en-US" altLang="en-US" sz="1600"/>
          </a:p>
          <a:p>
            <a:pPr lvl="1"/>
            <a:r>
              <a:rPr lang="en-US" altLang="en-US" sz="1600"/>
              <a:t> ├── Sales.csv</a:t>
            </a:r>
            <a:endParaRPr lang="en-US" altLang="en-US" sz="1600"/>
          </a:p>
          <a:p>
            <a:pPr lvl="1"/>
            <a:r>
              <a:rPr lang="en-US" altLang="en-US" sz="1600"/>
              <a:t> ├── Customer.csv</a:t>
            </a:r>
            <a:endParaRPr lang="en-US" altLang="en-US" sz="1600"/>
          </a:p>
          <a:p>
            <a:pPr lvl="1"/>
            <a:r>
              <a:rPr lang="en-US" altLang="en-US" sz="1600"/>
              <a:t> └── Product.csv</a:t>
            </a:r>
            <a:endParaRPr lang="en-US" altLang="en-US" sz="1600"/>
          </a:p>
          <a:p>
            <a:pPr lvl="1"/>
            <a:r>
              <a:rPr lang="en-US" altLang="en-US" sz="1600"/>
              <a:t>Foreach Loop can process each file one by one.</a:t>
            </a:r>
            <a:endParaRPr lang="en-US" altLang="en-US" sz="1600"/>
          </a:p>
          <a:p>
            <a:pPr lvl="1"/>
            <a:endParaRPr lang="en-US" altLang="en-US"/>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4. Containers</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97230" y="1545590"/>
            <a:ext cx="9144000" cy="2108200"/>
          </a:xfrm>
          <a:prstGeom prst="rect">
            <a:avLst/>
          </a:prstGeom>
        </p:spPr>
      </p:pic>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5. Precedence Constraints</a:t>
            </a:r>
            <a:endParaRPr lang="en-US" altLang="en-US"/>
          </a:p>
        </p:txBody>
      </p:sp>
      <p:sp>
        <p:nvSpPr>
          <p:cNvPr id="3" name="Content Placeholder 2"/>
          <p:cNvSpPr>
            <a:spLocks noGrp="1"/>
          </p:cNvSpPr>
          <p:nvPr>
            <p:ph idx="1"/>
            <p:custDataLst>
              <p:tags r:id="rId2"/>
            </p:custDataLst>
          </p:nvPr>
        </p:nvSpPr>
        <p:spPr/>
        <p:txBody>
          <a:bodyPr>
            <a:normAutofit lnSpcReduction="20000"/>
          </a:bodyPr>
          <a:p>
            <a:r>
              <a:rPr lang="en-US" altLang="en-US"/>
              <a:t>Precedence Constraints determine the order in which tasks or containers execute.</a:t>
            </a:r>
            <a:endParaRPr lang="en-US" altLang="en-US"/>
          </a:p>
          <a:p>
            <a:r>
              <a:rPr lang="en-US" altLang="en-US"/>
              <a:t>They connect tasks in the Control Flow.</a:t>
            </a:r>
            <a:endParaRPr lang="en-US" altLang="en-US"/>
          </a:p>
          <a:p>
            <a:pPr marL="0" indent="0" algn="ctr">
              <a:buNone/>
            </a:pPr>
            <a:r>
              <a:rPr lang="en-US" altLang="en-US"/>
              <a:t>Extract Data</a:t>
            </a:r>
            <a:endParaRPr lang="en-US" altLang="en-US"/>
          </a:p>
          <a:p>
            <a:pPr marL="0" indent="0" algn="ctr">
              <a:buNone/>
            </a:pPr>
            <a:r>
              <a:rPr lang="en-US" altLang="en-US"/>
              <a:t>↓</a:t>
            </a:r>
            <a:endParaRPr lang="en-US" altLang="en-US"/>
          </a:p>
          <a:p>
            <a:pPr marL="0" indent="0" algn="ctr">
              <a:buNone/>
            </a:pPr>
            <a:r>
              <a:rPr lang="en-US" altLang="en-US"/>
              <a:t>Transform Data</a:t>
            </a:r>
            <a:endParaRPr lang="en-US" altLang="en-US"/>
          </a:p>
          <a:p>
            <a:pPr marL="0" indent="0" algn="ctr">
              <a:buNone/>
            </a:pPr>
            <a:r>
              <a:rPr lang="en-US" altLang="en-US"/>
              <a:t>↓</a:t>
            </a:r>
            <a:endParaRPr lang="en-US" altLang="en-US"/>
          </a:p>
          <a:p>
            <a:pPr marL="0" indent="0" algn="ctr">
              <a:buNone/>
            </a:pPr>
            <a:r>
              <a:rPr lang="en-US" altLang="en-US"/>
              <a:t>Load Data</a:t>
            </a:r>
            <a:endParaRPr lang="en-US" altLang="en-US"/>
          </a:p>
          <a:p>
            <a:pPr algn="l"/>
            <a:r>
              <a:rPr lang="en-US" altLang="en-US"/>
              <a:t>Types of Precedence Constraints :</a:t>
            </a:r>
            <a:endParaRPr lang="en-US" altLang="en-US"/>
          </a:p>
          <a:p>
            <a:pPr lvl="1" algn="l"/>
            <a:r>
              <a:rPr lang="en-US" altLang="en-US"/>
              <a:t>1. Success</a:t>
            </a:r>
            <a:endParaRPr lang="en-US" altLang="en-US"/>
          </a:p>
          <a:p>
            <a:pPr lvl="1" algn="l"/>
            <a:r>
              <a:rPr lang="en-US" altLang="en-US"/>
              <a:t>2. Failure</a:t>
            </a:r>
            <a:endParaRPr lang="en-US" altLang="en-US"/>
          </a:p>
          <a:p>
            <a:pPr lvl="1" algn="l"/>
            <a:r>
              <a:rPr lang="en-US" altLang="en-US"/>
              <a:t>3. Completion</a:t>
            </a:r>
            <a:endParaRPr lang="en-US" altLang="en-US"/>
          </a:p>
          <a:p>
            <a:pPr lvl="1" algn="l"/>
            <a:endParaRPr lang="en-US" altLang="en-US"/>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Types</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1490345"/>
            <a:ext cx="8889365" cy="4759325"/>
          </a:xfrm>
          <a:prstGeom prst="rect">
            <a:avLst/>
          </a:prstGeom>
        </p:spPr>
      </p:pic>
    </p:spTree>
    <p:custDataLst>
      <p:tags r:id="rId4"/>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fontScale="90000"/>
          </a:bodyPr>
          <a:p>
            <a:r>
              <a:rPr lang="en-US" altLang="en-US"/>
              <a:t>6. Expression-Based Precedence Constraints</a:t>
            </a:r>
            <a:endParaRPr lang="en-US" altLang="en-US"/>
          </a:p>
        </p:txBody>
      </p:sp>
      <p:sp>
        <p:nvSpPr>
          <p:cNvPr id="3" name="Content Placeholder 2"/>
          <p:cNvSpPr>
            <a:spLocks noGrp="1"/>
          </p:cNvSpPr>
          <p:nvPr>
            <p:ph idx="1"/>
            <p:custDataLst>
              <p:tags r:id="rId2"/>
            </p:custDataLst>
          </p:nvPr>
        </p:nvSpPr>
        <p:spPr/>
        <p:txBody>
          <a:bodyPr>
            <a:normAutofit/>
          </a:bodyPr>
          <a:p>
            <a:r>
              <a:rPr lang="en-US" altLang="en-US"/>
              <a:t>A precedence constraint can also use an expression to determine whether the next task should execute.</a:t>
            </a:r>
            <a:endParaRPr lang="en-US" altLang="en-US"/>
          </a:p>
          <a:p>
            <a:r>
              <a:rPr lang="en-US" altLang="en-US"/>
              <a:t>For example:</a:t>
            </a:r>
            <a:endParaRPr lang="en-US" altLang="en-US"/>
          </a:p>
          <a:p>
            <a:pPr lvl="1"/>
            <a:r>
              <a:rPr lang="en-US" altLang="en-US"/>
              <a:t>@RowCount &gt; 1000</a:t>
            </a:r>
            <a:endParaRPr lang="en-US" altLang="en-US"/>
          </a:p>
          <a:p>
            <a:pPr lvl="1"/>
            <a:r>
              <a:rPr lang="en-US" altLang="en-US"/>
              <a:t>The connected task executes only when the expression evaluates to TRUE.</a:t>
            </a:r>
            <a:endParaRPr lang="en-US" altLang="en-US"/>
          </a:p>
          <a:p>
            <a:pPr lvl="1"/>
            <a:r>
              <a:rPr lang="en-US" altLang="en-US"/>
              <a:t>Evaluation Options</a:t>
            </a:r>
            <a:endParaRPr lang="en-US" altLang="en-US"/>
          </a:p>
          <a:p>
            <a:r>
              <a:rPr lang="en-US" altLang="en-US"/>
              <a:t>SSIS supports:</a:t>
            </a:r>
            <a:endParaRPr lang="en-US" altLang="en-US"/>
          </a:p>
          <a:p>
            <a:pPr lvl="1"/>
            <a:r>
              <a:rPr lang="en-US" altLang="en-US"/>
              <a:t>Constraint</a:t>
            </a:r>
            <a:endParaRPr lang="en-US" altLang="en-US"/>
          </a:p>
          <a:p>
            <a:pPr lvl="1"/>
            <a:r>
              <a:rPr lang="en-US" altLang="en-US"/>
              <a:t>Expression</a:t>
            </a:r>
            <a:endParaRPr lang="en-US" altLang="en-US"/>
          </a:p>
          <a:p>
            <a:pPr lvl="1"/>
            <a:r>
              <a:rPr lang="en-US" altLang="en-US"/>
              <a:t>Expression and Constraint</a:t>
            </a:r>
            <a:endParaRPr lang="en-US" altLang="en-US"/>
          </a:p>
          <a:p>
            <a:pPr lvl="1"/>
            <a:r>
              <a:rPr lang="en-US" altLang="en-US"/>
              <a:t>Expression or Constraint</a:t>
            </a:r>
            <a:endParaRPr lang="en-US" altLang="en-US"/>
          </a:p>
        </p:txBody>
      </p: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608330"/>
            <a:ext cx="10961370" cy="5287645"/>
          </a:xfrm>
          <a:prstGeom prst="rect">
            <a:avLst/>
          </a:prstGeom>
        </p:spPr>
      </p:pic>
    </p:spTree>
    <p:custDataLst>
      <p:tags r:id="rId4"/>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666750" y="525780"/>
            <a:ext cx="10843895" cy="5334635"/>
          </a:xfrm>
          <a:prstGeom prst="rect">
            <a:avLst/>
          </a:prstGeom>
        </p:spPr>
      </p:pic>
      <p:sp>
        <p:nvSpPr>
          <p:cNvPr id="5" name="Text Box 4"/>
          <p:cNvSpPr txBox="1"/>
          <p:nvPr/>
        </p:nvSpPr>
        <p:spPr>
          <a:xfrm>
            <a:off x="5697220" y="4200525"/>
            <a:ext cx="6096000" cy="2306955"/>
          </a:xfrm>
          <a:prstGeom prst="rect">
            <a:avLst/>
          </a:prstGeom>
          <a:noFill/>
        </p:spPr>
        <p:txBody>
          <a:bodyPr wrap="square" rtlCol="0" anchor="t">
            <a:spAutoFit/>
          </a:bodyPr>
          <a:p>
            <a:r>
              <a:rPr lang="en-US" altLang="en-US"/>
              <a:t>Example : </a:t>
            </a:r>
            <a:endParaRPr lang="en-US" altLang="en-US"/>
          </a:p>
          <a:p>
            <a:r>
              <a:rPr lang="en-US" altLang="en-US"/>
              <a:t>Flat File Source</a:t>
            </a:r>
            <a:endParaRPr lang="en-US" altLang="en-US"/>
          </a:p>
          <a:p>
            <a:r>
              <a:rPr lang="en-US" altLang="en-US"/>
              <a:t>       ↓</a:t>
            </a:r>
            <a:endParaRPr lang="en-US" altLang="en-US"/>
          </a:p>
          <a:p>
            <a:r>
              <a:rPr lang="en-US" altLang="en-US"/>
              <a:t>Data Conversion</a:t>
            </a:r>
            <a:endParaRPr lang="en-US" altLang="en-US"/>
          </a:p>
          <a:p>
            <a:r>
              <a:rPr lang="en-US" altLang="en-US"/>
              <a:t>       ↓</a:t>
            </a:r>
            <a:endParaRPr lang="en-US" altLang="en-US"/>
          </a:p>
          <a:p>
            <a:r>
              <a:rPr lang="en-US" altLang="en-US"/>
              <a:t>Lookup</a:t>
            </a:r>
            <a:endParaRPr lang="en-US" altLang="en-US"/>
          </a:p>
          <a:p>
            <a:r>
              <a:rPr lang="en-US" altLang="en-US"/>
              <a:t>       ↓</a:t>
            </a:r>
            <a:endParaRPr lang="en-US" altLang="en-US"/>
          </a:p>
          <a:p>
            <a:r>
              <a:rPr lang="en-US" altLang="en-US"/>
              <a:t>OLE DB Destination</a:t>
            </a:r>
            <a:endParaRPr lang="en-US"/>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rcRect b="6482"/>
          <a:stretch>
            <a:fillRect/>
          </a:stretch>
        </p:blipFill>
        <p:spPr>
          <a:xfrm>
            <a:off x="608330" y="608330"/>
            <a:ext cx="11012170" cy="5066030"/>
          </a:xfrm>
          <a:prstGeom prst="rect">
            <a:avLst/>
          </a:prstGeom>
        </p:spPr>
      </p:pic>
      <p:sp>
        <p:nvSpPr>
          <p:cNvPr id="5" name="Text Box 4"/>
          <p:cNvSpPr txBox="1"/>
          <p:nvPr/>
        </p:nvSpPr>
        <p:spPr>
          <a:xfrm>
            <a:off x="6497320" y="4453572"/>
            <a:ext cx="5080000" cy="1887220"/>
          </a:xfrm>
          <a:prstGeom prst="rect">
            <a:avLst/>
          </a:prstGeom>
        </p:spPr>
        <p:txBody>
          <a:bodyPr>
            <a:spAutoFit/>
          </a:bodyPr>
          <a:p>
            <a:pPr marL="0" indent="0">
              <a:spcAft>
                <a:spcPct val="60000"/>
              </a:spcAft>
            </a:pPr>
            <a:r>
              <a:rPr sz="2200" b="1" i="0">
                <a:solidFill>
                  <a:srgbClr val="000000"/>
                </a:solidFill>
              </a:rPr>
              <a:t>Example</a:t>
            </a:r>
            <a:endParaRPr sz="2200" b="1" i="0">
              <a:solidFill>
                <a:srgbClr val="000000"/>
              </a:solidFill>
            </a:endParaRPr>
          </a:p>
          <a:p>
            <a:pPr marL="0" indent="0"/>
            <a:r>
              <a:rPr sz="1600" b="0" i="0">
                <a:solidFill>
                  <a:srgbClr val="000000"/>
                </a:solidFill>
              </a:rPr>
              <a:t>A variable can store the number of rows processed:</a:t>
            </a:r>
            <a:endParaRPr sz="1600" b="0" i="0">
              <a:solidFill>
                <a:srgbClr val="000000"/>
              </a:solidFill>
            </a:endParaRPr>
          </a:p>
          <a:p>
            <a:pPr marL="0" indent="0"/>
            <a:r>
              <a:rPr sz="1600" b="0" i="0">
                <a:solidFill>
                  <a:srgbClr val="000000"/>
                </a:solidFill>
              </a:rPr>
              <a:t>@RowCount = 5000</a:t>
            </a:r>
            <a:endParaRPr sz="1600" b="0" i="0">
              <a:solidFill>
                <a:srgbClr val="000000"/>
              </a:solidFill>
            </a:endParaRPr>
          </a:p>
          <a:p>
            <a:pPr marL="0" indent="0"/>
            <a:endParaRPr sz="1600" b="0" i="0">
              <a:solidFill>
                <a:srgbClr val="000000"/>
              </a:solidFill>
            </a:endParaRPr>
          </a:p>
          <a:p>
            <a:pPr marL="0" indent="0"/>
            <a:r>
              <a:rPr lang="en-US" altLang="en-US" sz="1600" b="0" i="0">
                <a:solidFill>
                  <a:srgbClr val="000000"/>
                </a:solidFill>
              </a:rPr>
              <a:t>Then a precedence constraint can use:</a:t>
            </a:r>
            <a:endParaRPr lang="en-US" altLang="en-US" sz="1600" b="0" i="0">
              <a:solidFill>
                <a:srgbClr val="000000"/>
              </a:solidFill>
            </a:endParaRPr>
          </a:p>
          <a:p>
            <a:pPr marL="0" indent="0"/>
            <a:r>
              <a:rPr lang="en-US" altLang="en-US" sz="1600" b="0" i="0">
                <a:solidFill>
                  <a:srgbClr val="000000"/>
                </a:solidFill>
              </a:rPr>
              <a:t>@RowCount &gt; 1000</a:t>
            </a:r>
            <a:endParaRPr lang="en-US" altLang="en-US" sz="1600" b="0" i="0">
              <a:solidFill>
                <a:srgbClr val="000000"/>
              </a:solidFill>
            </a:endParaRPr>
          </a:p>
        </p:txBody>
      </p:sp>
    </p:spTree>
    <p:custDataLst>
      <p:tags r:id="rId4"/>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911225" y="413385"/>
            <a:ext cx="10370185" cy="6031230"/>
          </a:xfrm>
          <a:prstGeom prst="rect">
            <a:avLst/>
          </a:prstGeom>
        </p:spPr>
      </p:pic>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en-US" altLang="en-US"/>
              <a:t>Derived Column Transformation in SSIS</a:t>
            </a:r>
            <a:endParaRPr lang="en-US" altLang="en-US"/>
          </a:p>
        </p:txBody>
      </p:sp>
      <p:sp>
        <p:nvSpPr>
          <p:cNvPr id="5" name="Subtitle 4"/>
          <p:cNvSpPr>
            <a:spLocks noGrp="1"/>
          </p:cNvSpPr>
          <p:nvPr>
            <p:ph type="subTitle" idx="1"/>
            <p:custDataLst>
              <p:tags r:id="rId2"/>
            </p:custDataLst>
          </p:nvPr>
        </p:nvSpPr>
        <p:spPr/>
        <p:txBody>
          <a:bodyPr/>
          <a:p>
            <a:r>
              <a:rPr lang="en-US"/>
              <a:t>BI</a:t>
            </a:r>
            <a:endParaRPr lang="en-US"/>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Derived Column Transformation in SSIS</a:t>
            </a:r>
            <a:endParaRPr lang="en-US" altLang="en-US"/>
          </a:p>
        </p:txBody>
      </p:sp>
      <p:sp>
        <p:nvSpPr>
          <p:cNvPr id="3" name="Content Placeholder 2"/>
          <p:cNvSpPr>
            <a:spLocks noGrp="1"/>
          </p:cNvSpPr>
          <p:nvPr>
            <p:ph idx="1"/>
            <p:custDataLst>
              <p:tags r:id="rId2"/>
            </p:custDataLst>
          </p:nvPr>
        </p:nvSpPr>
        <p:spPr/>
        <p:txBody>
          <a:bodyPr>
            <a:normAutofit/>
          </a:bodyPr>
          <a:p>
            <a:r>
              <a:rPr lang="en-US" altLang="en-US"/>
              <a:t>Derived Column Transformation in SSIS is used to create a new column or modify an existing column by using expressions.</a:t>
            </a:r>
            <a:endParaRPr lang="en-US" altLang="en-US"/>
          </a:p>
          <a:p>
            <a:r>
              <a:rPr lang="en-US" altLang="en-US"/>
              <a:t>It can perform calculations, string operations, conversions, and conditional logic on incoming data.</a:t>
            </a:r>
            <a:endParaRPr lang="en-US" altLang="en-US"/>
          </a:p>
          <a:p>
            <a:r>
              <a:rPr lang="en-US" altLang="en-US"/>
              <a:t>Simple Definition</a:t>
            </a:r>
            <a:endParaRPr lang="en-US" altLang="en-US"/>
          </a:p>
          <a:p>
            <a:r>
              <a:rPr lang="en-US" altLang="en-US"/>
              <a:t>Derived Column Transformation creates or modifies columns using SSIS expressions.</a:t>
            </a:r>
            <a:endParaRPr lang="en-US" altLang="en-US"/>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sym typeface="+mn-ea"/>
              </a:rPr>
              <a:t>Purpose of Derived Column Transformation</a:t>
            </a:r>
            <a:endParaRPr lang="en-US"/>
          </a:p>
        </p:txBody>
      </p:sp>
      <p:sp>
        <p:nvSpPr>
          <p:cNvPr id="3" name="Content Placeholder 2"/>
          <p:cNvSpPr>
            <a:spLocks noGrp="1"/>
          </p:cNvSpPr>
          <p:nvPr>
            <p:ph idx="1"/>
            <p:custDataLst>
              <p:tags r:id="rId2"/>
            </p:custDataLst>
          </p:nvPr>
        </p:nvSpPr>
        <p:spPr/>
        <p:txBody>
          <a:bodyPr>
            <a:normAutofit lnSpcReduction="10000"/>
          </a:bodyPr>
          <a:p>
            <a:r>
              <a:rPr lang="en-US" altLang="en-US">
                <a:sym typeface="+mn-ea"/>
              </a:rPr>
              <a:t>It is commonly used to:</a:t>
            </a:r>
            <a:endParaRPr lang="en-US" altLang="en-US"/>
          </a:p>
          <a:p>
            <a:r>
              <a:rPr lang="en-US" altLang="en-US">
                <a:sym typeface="+mn-ea"/>
              </a:rPr>
              <a:t>Create new columns</a:t>
            </a:r>
            <a:endParaRPr lang="en-US" altLang="en-US"/>
          </a:p>
          <a:p>
            <a:r>
              <a:rPr lang="en-US" altLang="en-US">
                <a:sym typeface="+mn-ea"/>
              </a:rPr>
              <a:t>Modify existing columns</a:t>
            </a:r>
            <a:endParaRPr lang="en-US" altLang="en-US"/>
          </a:p>
          <a:p>
            <a:r>
              <a:rPr lang="en-US" altLang="en-US">
                <a:sym typeface="+mn-ea"/>
              </a:rPr>
              <a:t>Perform calculations</a:t>
            </a:r>
            <a:endParaRPr lang="en-US" altLang="en-US"/>
          </a:p>
          <a:p>
            <a:r>
              <a:rPr lang="en-US" altLang="en-US">
                <a:sym typeface="+mn-ea"/>
              </a:rPr>
              <a:t>Concatenate strings</a:t>
            </a:r>
            <a:endParaRPr lang="en-US" altLang="en-US"/>
          </a:p>
          <a:p>
            <a:r>
              <a:rPr lang="en-US" altLang="en-US">
                <a:sym typeface="+mn-ea"/>
              </a:rPr>
              <a:t>Apply conditional logic</a:t>
            </a:r>
            <a:endParaRPr lang="en-US" altLang="en-US"/>
          </a:p>
          <a:p>
            <a:r>
              <a:rPr lang="en-US" altLang="en-US">
                <a:sym typeface="+mn-ea"/>
              </a:rPr>
              <a:t>Manipulate dates</a:t>
            </a:r>
            <a:endParaRPr lang="en-US" altLang="en-US"/>
          </a:p>
          <a:p>
            <a:r>
              <a:rPr lang="en-US" altLang="en-US">
                <a:sym typeface="+mn-ea"/>
              </a:rPr>
              <a:t>Handle NULL values</a:t>
            </a:r>
            <a:endParaRPr lang="en-US" altLang="en-US"/>
          </a:p>
          <a:p>
            <a:r>
              <a:rPr lang="en-US" altLang="en-US">
                <a:sym typeface="+mn-ea"/>
              </a:rPr>
              <a:t>Perform simple data cleansing</a:t>
            </a:r>
            <a:endParaRPr lang="en-US"/>
          </a:p>
        </p:txBody>
      </p:sp>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Working</a:t>
            </a:r>
            <a:endParaRPr lang="en-US"/>
          </a:p>
        </p:txBody>
      </p:sp>
      <p:sp>
        <p:nvSpPr>
          <p:cNvPr id="3" name="Content Placeholder 2"/>
          <p:cNvSpPr>
            <a:spLocks noGrp="1"/>
          </p:cNvSpPr>
          <p:nvPr>
            <p:ph idx="1"/>
            <p:custDataLst>
              <p:tags r:id="rId2"/>
            </p:custDataLst>
          </p:nvPr>
        </p:nvSpPr>
        <p:spPr/>
        <p:txBody>
          <a:bodyPr/>
          <a:p>
            <a:pPr marL="0" lvl="0" indent="0" algn="l">
              <a:buNone/>
            </a:pPr>
            <a:r>
              <a:rPr lang="en-US" altLang="en-US"/>
              <a:t>Source</a:t>
            </a:r>
            <a:endParaRPr lang="en-US" altLang="en-US"/>
          </a:p>
          <a:p>
            <a:pPr marL="0" lvl="0" indent="0" algn="l">
              <a:buNone/>
            </a:pPr>
            <a:r>
              <a:rPr lang="en-US" altLang="en-US"/>
              <a:t>   ↓</a:t>
            </a:r>
            <a:endParaRPr lang="en-US" altLang="en-US"/>
          </a:p>
          <a:p>
            <a:pPr marL="0" lvl="0" indent="0" algn="l">
              <a:buNone/>
            </a:pPr>
            <a:r>
              <a:rPr lang="en-US" altLang="en-US"/>
              <a:t>Derived Column Transformation</a:t>
            </a:r>
            <a:endParaRPr lang="en-US" altLang="en-US"/>
          </a:p>
          <a:p>
            <a:pPr marL="0" lvl="0" indent="0" algn="l">
              <a:buNone/>
            </a:pPr>
            <a:r>
              <a:rPr lang="en-US" altLang="en-US"/>
              <a:t>   ↓</a:t>
            </a:r>
            <a:endParaRPr lang="en-US" altLang="en-US"/>
          </a:p>
          <a:p>
            <a:pPr marL="0" lvl="0" indent="0" algn="l">
              <a:buNone/>
            </a:pPr>
            <a:r>
              <a:rPr lang="en-US" altLang="en-US"/>
              <a:t>Destination</a:t>
            </a:r>
            <a:endParaRPr lang="en-US" altLang="en-US"/>
          </a:p>
        </p:txBody>
      </p:sp>
      <p:pic>
        <p:nvPicPr>
          <p:cNvPr id="6" name="Picture 5"/>
          <p:cNvPicPr>
            <a:picLocks noChangeAspect="1"/>
          </p:cNvPicPr>
          <p:nvPr/>
        </p:nvPicPr>
        <p:blipFill>
          <a:blip r:embed="rId3"/>
          <a:stretch>
            <a:fillRect/>
          </a:stretch>
        </p:blipFill>
        <p:spPr>
          <a:xfrm>
            <a:off x="7118350" y="2269490"/>
            <a:ext cx="5073650" cy="4588510"/>
          </a:xfrm>
          <a:prstGeom prst="rect">
            <a:avLst/>
          </a:prstGeom>
        </p:spPr>
      </p:pic>
    </p:spTree>
    <p:custDataLst>
      <p:tags r:id="rId4"/>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608330"/>
            <a:ext cx="9114790" cy="5638800"/>
          </a:xfrm>
          <a:prstGeom prst="rect">
            <a:avLst/>
          </a:prstGeom>
        </p:spPr>
      </p:pic>
    </p:spTree>
    <p:custDataLst>
      <p:tags r:id="rId4"/>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608330" y="680085"/>
            <a:ext cx="10223500" cy="4686300"/>
          </a:xfrm>
          <a:prstGeom prst="rect">
            <a:avLst/>
          </a:prstGeom>
        </p:spPr>
      </p:pic>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608330" y="608330"/>
            <a:ext cx="7108825" cy="5793105"/>
          </a:xfrm>
          <a:prstGeom prst="rect">
            <a:avLst/>
          </a:prstGeom>
        </p:spPr>
      </p:pic>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rcRect b="6631"/>
          <a:stretch>
            <a:fillRect/>
          </a:stretch>
        </p:blipFill>
        <p:spPr>
          <a:xfrm>
            <a:off x="608330" y="279400"/>
            <a:ext cx="8096250" cy="6160135"/>
          </a:xfrm>
          <a:prstGeom prst="rect">
            <a:avLst/>
          </a:prstGeom>
        </p:spPr>
      </p:pic>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608330"/>
            <a:ext cx="10223500" cy="3835400"/>
          </a:xfrm>
          <a:prstGeom prst="rect">
            <a:avLst/>
          </a:prstGeom>
        </p:spPr>
      </p:pic>
    </p:spTree>
    <p:custDataLst>
      <p:tags r:id="rId4"/>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608330"/>
            <a:ext cx="8786495" cy="4759325"/>
          </a:xfrm>
          <a:prstGeom prst="rect">
            <a:avLst/>
          </a:prstGeom>
        </p:spPr>
      </p:pic>
    </p:spTree>
    <p:custDataLst>
      <p:tags r:id="rId4"/>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290830"/>
            <a:ext cx="7747635" cy="6438900"/>
          </a:xfrm>
          <a:prstGeom prst="rect">
            <a:avLst/>
          </a:prstGeom>
        </p:spPr>
      </p:pic>
    </p:spTree>
    <p:custDataLst>
      <p:tags r:id="rId4"/>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608330"/>
            <a:ext cx="10223500" cy="3975100"/>
          </a:xfrm>
          <a:prstGeom prst="rect">
            <a:avLst/>
          </a:prstGeom>
        </p:spPr>
      </p:pic>
    </p:spTree>
    <p:custDataLst>
      <p:tags r:id="rId4"/>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en-US"/>
              <a:t>Different Transformation</a:t>
            </a:r>
            <a:endParaRPr lang="en-US"/>
          </a:p>
        </p:txBody>
      </p:sp>
      <p:sp>
        <p:nvSpPr>
          <p:cNvPr id="5" name="Subtitle 4"/>
          <p:cNvSpPr>
            <a:spLocks noGrp="1"/>
          </p:cNvSpPr>
          <p:nvPr>
            <p:ph type="subTitle" idx="1"/>
            <p:custDataLst>
              <p:tags r:id="rId2"/>
            </p:custDataLst>
          </p:nvPr>
        </p:nvSpPr>
        <p:spPr/>
        <p:txBody>
          <a:bodyPr/>
          <a:p>
            <a:r>
              <a:rPr lang="en-US"/>
              <a:t>BI</a:t>
            </a:r>
            <a:endParaRPr lang="en-US"/>
          </a:p>
        </p:txBody>
      </p:sp>
    </p:spTree>
    <p:custDataLst>
      <p:tags r:id="rId3"/>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331470" y="208915"/>
            <a:ext cx="9298940" cy="6337300"/>
          </a:xfrm>
          <a:prstGeom prst="rect">
            <a:avLst/>
          </a:prstGeom>
        </p:spPr>
      </p:pic>
    </p:spTree>
    <p:custDataLst>
      <p:tags r:id="rId4"/>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374650" y="279400"/>
            <a:ext cx="6662420" cy="4759325"/>
          </a:xfrm>
          <a:prstGeom prst="rect">
            <a:avLst/>
          </a:prstGeom>
        </p:spPr>
      </p:pic>
      <p:pic>
        <p:nvPicPr>
          <p:cNvPr id="5" name="Picture 4"/>
          <p:cNvPicPr>
            <a:picLocks noChangeAspect="1"/>
          </p:cNvPicPr>
          <p:nvPr/>
        </p:nvPicPr>
        <p:blipFill>
          <a:blip r:embed="rId4"/>
          <a:stretch>
            <a:fillRect/>
          </a:stretch>
        </p:blipFill>
        <p:spPr>
          <a:xfrm>
            <a:off x="4636135" y="3429000"/>
            <a:ext cx="7543800" cy="3287395"/>
          </a:xfrm>
          <a:prstGeom prst="rect">
            <a:avLst/>
          </a:prstGeom>
        </p:spPr>
      </p:pic>
    </p:spTree>
    <p:custDataLst>
      <p:tags r:id="rId5"/>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408305"/>
            <a:ext cx="7359650" cy="5899150"/>
          </a:xfrm>
          <a:prstGeom prst="rect">
            <a:avLst/>
          </a:prstGeom>
        </p:spPr>
      </p:pic>
    </p:spTree>
    <p:custDataLst>
      <p:tags r:id="rId4"/>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Merge</a:t>
            </a:r>
            <a:endParaRPr lang="en-US"/>
          </a:p>
        </p:txBody>
      </p:sp>
      <p:sp>
        <p:nvSpPr>
          <p:cNvPr id="3" name="Content Placeholder 2"/>
          <p:cNvSpPr>
            <a:spLocks noGrp="1"/>
          </p:cNvSpPr>
          <p:nvPr>
            <p:ph idx="1"/>
            <p:custDataLst>
              <p:tags r:id="rId2"/>
            </p:custDataLst>
          </p:nvPr>
        </p:nvSpPr>
        <p:spPr/>
        <p:txBody>
          <a:bodyPr/>
          <a:p>
            <a:r>
              <a:rPr lang="en-US" altLang="en-US"/>
              <a:t>SSIS is able to take sorted data from more than one OLE DB data source and merge them into one table which can then be sent to an OLE DB destination. This 'Merge Join' transformation works in a similar way to a SQL join by specifying a 'join key' relationship.</a:t>
            </a:r>
            <a:endParaRPr lang="en-US" altLang="en-US"/>
          </a:p>
          <a:p>
            <a:r>
              <a:rPr lang="en-US" altLang="en-US"/>
              <a:t>works in a similar way to a SQL join by specifying a 'join key' relationship.</a:t>
            </a:r>
            <a:endParaRPr lang="en-US" altLang="en-US"/>
          </a:p>
        </p:txBody>
      </p:sp>
    </p:spTree>
    <p:custDataLst>
      <p:tags r:id="rId3"/>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Comparision</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902970" y="1554480"/>
            <a:ext cx="10803255" cy="4707255"/>
          </a:xfrm>
          <a:prstGeom prst="rect">
            <a:avLst/>
          </a:prstGeom>
        </p:spPr>
      </p:pic>
    </p:spTree>
    <p:custDataLst>
      <p:tags r:id="rId4"/>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0" y="0"/>
            <a:ext cx="8178165" cy="6858635"/>
          </a:xfrm>
          <a:prstGeom prst="rect">
            <a:avLst/>
          </a:prstGeom>
        </p:spPr>
      </p:pic>
    </p:spTree>
    <p:custDataLst>
      <p:tags r:id="rId4"/>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Cont...</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83260" y="1628140"/>
            <a:ext cx="8890000" cy="4483100"/>
          </a:xfrm>
          <a:prstGeom prst="rect">
            <a:avLst/>
          </a:prstGeom>
        </p:spPr>
      </p:pic>
    </p:spTree>
    <p:custDataLst>
      <p:tags r:id="rId4"/>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5. </a:t>
            </a:r>
            <a:r>
              <a:rPr lang="en-US" altLang="en-US"/>
              <a:t>Export Transformation</a:t>
            </a:r>
            <a:endParaRPr lang="en-US" altLang="en-US"/>
          </a:p>
        </p:txBody>
      </p:sp>
      <p:sp>
        <p:nvSpPr>
          <p:cNvPr id="3" name="Content Placeholder 2"/>
          <p:cNvSpPr>
            <a:spLocks noGrp="1"/>
          </p:cNvSpPr>
          <p:nvPr>
            <p:ph idx="1"/>
            <p:custDataLst>
              <p:tags r:id="rId2"/>
            </p:custDataLst>
          </p:nvPr>
        </p:nvSpPr>
        <p:spPr/>
        <p:txBody>
          <a:bodyPr>
            <a:normAutofit/>
          </a:bodyPr>
          <a:p>
            <a:r>
              <a:rPr lang="en-US" altLang="en-US"/>
              <a:t>If your syllabus specifically mentions Export Transformation, note that SSIS commonly uses destination components/tasks such as Flat File Destination, Excel Destination, OLE DB Destination, etc. for exporting data. There is not a standard built-in SSIS component officially named simply "Export Transformation."</a:t>
            </a:r>
            <a:endParaRPr lang="en-US" altLang="en-US"/>
          </a:p>
          <a:p>
            <a:r>
              <a:rPr lang="en-US" altLang="en-US"/>
              <a:t>Purpose</a:t>
            </a:r>
            <a:endParaRPr lang="en-US" altLang="en-US"/>
          </a:p>
          <a:p>
            <a:pPr lvl="1"/>
            <a:r>
              <a:rPr lang="en-US" altLang="en-US"/>
              <a:t>Exporting means transferring processed data from SSIS to an external destination such as:</a:t>
            </a:r>
            <a:endParaRPr lang="en-US" altLang="en-US"/>
          </a:p>
          <a:p>
            <a:pPr lvl="1"/>
            <a:r>
              <a:rPr lang="en-US" altLang="en-US"/>
              <a:t>CSV / Flat File</a:t>
            </a:r>
            <a:endParaRPr lang="en-US" altLang="en-US"/>
          </a:p>
          <a:p>
            <a:pPr lvl="1"/>
            <a:r>
              <a:rPr lang="en-US" altLang="en-US"/>
              <a:t>Excel</a:t>
            </a:r>
            <a:endParaRPr lang="en-US" altLang="en-US"/>
          </a:p>
          <a:p>
            <a:pPr lvl="1"/>
            <a:r>
              <a:rPr lang="en-US" altLang="en-US"/>
              <a:t>SQL Server</a:t>
            </a:r>
            <a:endParaRPr lang="en-US" altLang="en-US"/>
          </a:p>
          <a:p>
            <a:pPr lvl="1"/>
            <a:r>
              <a:rPr lang="en-US" altLang="en-US"/>
              <a:t>Other database systems</a:t>
            </a:r>
            <a:endParaRPr lang="en-US" altLang="en-US"/>
          </a:p>
          <a:p>
            <a:endParaRPr lang="en-US" altLang="en-US"/>
          </a:p>
        </p:txBody>
      </p:sp>
      <p:pic>
        <p:nvPicPr>
          <p:cNvPr id="4" name="Picture 3"/>
          <p:cNvPicPr>
            <a:picLocks noChangeAspect="1"/>
          </p:cNvPicPr>
          <p:nvPr/>
        </p:nvPicPr>
        <p:blipFill>
          <a:blip r:embed="rId3"/>
          <a:stretch>
            <a:fillRect/>
          </a:stretch>
        </p:blipFill>
        <p:spPr>
          <a:xfrm>
            <a:off x="8942705" y="4168775"/>
            <a:ext cx="3249295" cy="2688590"/>
          </a:xfrm>
          <a:prstGeom prst="rect">
            <a:avLst/>
          </a:prstGeom>
        </p:spPr>
      </p:pic>
    </p:spTree>
    <p:custDataLst>
      <p:tags r:id="rId4"/>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6. </a:t>
            </a:r>
            <a:r>
              <a:rPr lang="en-US" altLang="en-US"/>
              <a:t>Multicast Transformation</a:t>
            </a:r>
            <a:endParaRPr lang="en-US" altLang="en-US"/>
          </a:p>
        </p:txBody>
      </p:sp>
      <p:pic>
        <p:nvPicPr>
          <p:cNvPr id="4" name="Content Placeholder 3"/>
          <p:cNvPicPr>
            <a:picLocks noChangeAspect="1"/>
          </p:cNvPicPr>
          <p:nvPr>
            <p:ph idx="1"/>
            <p:custDataLst>
              <p:tags r:id="rId2"/>
            </p:custDataLst>
          </p:nvPr>
        </p:nvPicPr>
        <p:blipFill>
          <a:blip r:embed="rId3"/>
          <a:stretch>
            <a:fillRect/>
          </a:stretch>
        </p:blipFill>
        <p:spPr>
          <a:xfrm>
            <a:off x="736600" y="1313815"/>
            <a:ext cx="7291070" cy="5241290"/>
          </a:xfrm>
          <a:prstGeom prst="rect">
            <a:avLst/>
          </a:prstGeom>
        </p:spPr>
      </p:pic>
    </p:spTree>
    <p:custDataLst>
      <p:tags r:id="rId4"/>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7. </a:t>
            </a:r>
            <a:r>
              <a:rPr lang="en-US" altLang="en-US"/>
              <a:t>Merge Join Transformation</a:t>
            </a:r>
            <a:endParaRPr lang="en-US" altLang="en-US"/>
          </a:p>
        </p:txBody>
      </p:sp>
      <p:sp>
        <p:nvSpPr>
          <p:cNvPr id="3" name="Content Placeholder 2"/>
          <p:cNvSpPr>
            <a:spLocks noGrp="1"/>
          </p:cNvSpPr>
          <p:nvPr>
            <p:ph idx="1"/>
            <p:custDataLst>
              <p:tags r:id="rId2"/>
            </p:custDataLst>
          </p:nvPr>
        </p:nvSpPr>
        <p:spPr/>
        <p:txBody>
          <a:bodyPr>
            <a:normAutofit fontScale="90000" lnSpcReduction="20000"/>
          </a:bodyPr>
          <a:p>
            <a:r>
              <a:rPr lang="en-US" altLang="en-US"/>
              <a:t>Merge Join Transformation combines rows from two sorted inputs based on one or more matching columns.</a:t>
            </a:r>
            <a:endParaRPr lang="en-US" altLang="en-US"/>
          </a:p>
          <a:p>
            <a:r>
              <a:rPr lang="en-US" altLang="en-US"/>
              <a:t>It is similar to a SQL JOIN.</a:t>
            </a:r>
            <a:endParaRPr lang="en-US" altLang="en-US"/>
          </a:p>
          <a:p>
            <a:pPr marL="0" indent="0" algn="ctr">
              <a:buNone/>
            </a:pPr>
            <a:r>
              <a:rPr lang="en-US" altLang="en-US"/>
              <a:t>Customer ──→ Sorted ──┐</a:t>
            </a:r>
            <a:endParaRPr lang="en-US" altLang="en-US"/>
          </a:p>
          <a:p>
            <a:pPr marL="0" indent="0" algn="ctr">
              <a:buNone/>
            </a:pPr>
            <a:r>
              <a:rPr lang="en-US" altLang="en-US"/>
              <a:t>                      ├──→ Merge Join</a:t>
            </a:r>
            <a:endParaRPr lang="en-US" altLang="en-US"/>
          </a:p>
          <a:p>
            <a:pPr marL="0" indent="0" algn="ctr">
              <a:buNone/>
            </a:pPr>
            <a:r>
              <a:rPr lang="en-US" altLang="en-US"/>
              <a:t>Orders ─────→ Sorted ─┘</a:t>
            </a:r>
            <a:endParaRPr lang="en-US" altLang="en-US"/>
          </a:p>
          <a:p>
            <a:r>
              <a:rPr lang="en-US" altLang="en-US"/>
              <a:t>Important Requirement</a:t>
            </a:r>
            <a:endParaRPr lang="en-US" altLang="en-US"/>
          </a:p>
          <a:p>
            <a:r>
              <a:rPr lang="en-US" altLang="en-US"/>
              <a:t>Both input datasets must be sorted before entering the Merge Join.</a:t>
            </a:r>
            <a:endParaRPr lang="en-US" altLang="en-US"/>
          </a:p>
          <a:p>
            <a:r>
              <a:rPr lang="en-US" altLang="en-US"/>
              <a:t>FOUR TYPES OF MERGE JOIN : </a:t>
            </a:r>
            <a:endParaRPr lang="en-US" altLang="en-US"/>
          </a:p>
          <a:p>
            <a:pPr lvl="1"/>
            <a:r>
              <a:rPr lang="en-US" altLang="en-US"/>
              <a:t>1. INNER JOIN</a:t>
            </a:r>
            <a:endParaRPr lang="en-US" altLang="en-US"/>
          </a:p>
          <a:p>
            <a:pPr lvl="1"/>
            <a:r>
              <a:rPr lang="en-US" altLang="en-US"/>
              <a:t>2. LEFT OUTER JOIN</a:t>
            </a:r>
            <a:endParaRPr lang="en-US" altLang="en-US"/>
          </a:p>
          <a:p>
            <a:pPr lvl="1"/>
            <a:r>
              <a:rPr lang="en-US" altLang="en-US"/>
              <a:t>3. RIGHT OUTER JOIN</a:t>
            </a:r>
            <a:endParaRPr lang="en-US" altLang="en-US"/>
          </a:p>
          <a:p>
            <a:pPr lvl="1"/>
            <a:r>
              <a:rPr lang="en-US" altLang="en-US"/>
              <a:t>4. FULL OUTER JOIN</a:t>
            </a:r>
            <a:endParaRPr lang="en-US" altLang="en-US"/>
          </a:p>
        </p:txBody>
      </p:sp>
    </p:spTree>
    <p:custDataLst>
      <p:tags r:id="rId3"/>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608330"/>
            <a:ext cx="6248400" cy="5958205"/>
          </a:xfrm>
          <a:prstGeom prst="rect">
            <a:avLst/>
          </a:prstGeom>
        </p:spPr>
      </p:pic>
    </p:spTree>
    <p:custDataLst>
      <p:tags r:id="rId4"/>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descr="Screenshot 2026-09-02 at 4.20.59 PM"/>
          <p:cNvPicPr>
            <a:picLocks noChangeAspect="1"/>
          </p:cNvPicPr>
          <p:nvPr/>
        </p:nvPicPr>
        <p:blipFill>
          <a:blip r:embed="rId1"/>
          <a:stretch>
            <a:fillRect/>
          </a:stretch>
        </p:blipFill>
        <p:spPr>
          <a:xfrm>
            <a:off x="2182495" y="0"/>
            <a:ext cx="7820660" cy="6858000"/>
          </a:xfrm>
          <a:prstGeom prst="rect">
            <a:avLst/>
          </a:prstGeom>
        </p:spPr>
      </p:pic>
    </p:spTree>
    <p:custDataLst>
      <p:tags r:id="rId2"/>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8. Important Column Transformation</a:t>
            </a:r>
            <a:endParaRPr lang="en-US"/>
          </a:p>
        </p:txBody>
      </p:sp>
      <p:sp>
        <p:nvSpPr>
          <p:cNvPr id="3" name="Content Placeholder 2"/>
          <p:cNvSpPr>
            <a:spLocks noGrp="1"/>
          </p:cNvSpPr>
          <p:nvPr>
            <p:ph idx="1"/>
            <p:custDataLst>
              <p:tags r:id="rId2"/>
            </p:custDataLst>
          </p:nvPr>
        </p:nvSpPr>
        <p:spPr/>
        <p:txBody>
          <a:bodyPr>
            <a:noAutofit/>
          </a:bodyPr>
          <a:p>
            <a:r>
              <a:rPr lang="en-US" altLang="en-US" sz="1200"/>
              <a:t>mportant Column Transformation</a:t>
            </a:r>
            <a:endParaRPr lang="en-US" altLang="en-US" sz="1200"/>
          </a:p>
          <a:p>
            <a:r>
              <a:rPr lang="en-US" altLang="en-US" sz="1200"/>
              <a:t>The Important Column Transformation is used to mark selected columns as important or not important for downstream processing.</a:t>
            </a:r>
            <a:endParaRPr lang="en-US" altLang="en-US" sz="1200"/>
          </a:p>
          <a:p>
            <a:r>
              <a:rPr lang="en-US" altLang="en-US" sz="1200"/>
              <a:t>It is particularly useful when working with data mining / model training scenarios, where certain columns are identified as important for analysis.</a:t>
            </a:r>
            <a:endParaRPr lang="en-US" altLang="en-US" sz="1200"/>
          </a:p>
          <a:p>
            <a:pPr marL="0" indent="0" algn="ctr">
              <a:buNone/>
            </a:pPr>
            <a:r>
              <a:rPr lang="en-US" altLang="en-US" sz="1200"/>
              <a:t>Key Idea</a:t>
            </a:r>
            <a:endParaRPr lang="en-US" altLang="en-US" sz="1200"/>
          </a:p>
          <a:p>
            <a:pPr marL="0" indent="0" algn="ctr">
              <a:buNone/>
            </a:pPr>
            <a:r>
              <a:rPr lang="en-US" altLang="en-US" sz="1200"/>
              <a:t>Input</a:t>
            </a:r>
            <a:endParaRPr lang="en-US" altLang="en-US" sz="1200"/>
          </a:p>
          <a:p>
            <a:pPr marL="0" indent="0" algn="ctr">
              <a:buNone/>
            </a:pPr>
            <a:r>
              <a:rPr lang="en-US" altLang="en-US" sz="1200"/>
              <a:t> ↓</a:t>
            </a:r>
            <a:endParaRPr lang="en-US" altLang="en-US" sz="1200"/>
          </a:p>
          <a:p>
            <a:pPr marL="0" indent="0" algn="ctr">
              <a:buNone/>
            </a:pPr>
            <a:r>
              <a:rPr lang="en-US" altLang="en-US" sz="1200"/>
              <a:t>Important Column</a:t>
            </a:r>
            <a:endParaRPr lang="en-US" altLang="en-US" sz="1200"/>
          </a:p>
          <a:p>
            <a:pPr marL="0" indent="0" algn="ctr">
              <a:buNone/>
            </a:pPr>
            <a:r>
              <a:rPr lang="en-US" altLang="en-US" sz="1200"/>
              <a:t> ↓</a:t>
            </a:r>
            <a:endParaRPr lang="en-US" altLang="en-US" sz="1200"/>
          </a:p>
          <a:p>
            <a:pPr marL="0" indent="0" algn="ctr">
              <a:buNone/>
            </a:pPr>
            <a:r>
              <a:rPr lang="en-US" altLang="en-US" sz="1200"/>
              <a:t>Selected columns marked as Important</a:t>
            </a:r>
            <a:endParaRPr lang="en-US" altLang="en-US" sz="1200"/>
          </a:p>
          <a:p>
            <a:r>
              <a:rPr lang="en-US" altLang="en-US" sz="1200"/>
              <a:t>Important Column Transformation identifies columns that should be treated as important for downstream processing.</a:t>
            </a:r>
            <a:endParaRPr lang="en-US" altLang="en-US" sz="1200"/>
          </a:p>
          <a:p>
            <a:br>
              <a:rPr lang="en-US" altLang="en-US" sz="1200"/>
            </a:br>
            <a:r>
              <a:rPr lang="en-US" altLang="en-US" sz="1200"/>
              <a:t>Derived Column → creates/modifies values</a:t>
            </a:r>
            <a:endParaRPr lang="en-US" altLang="en-US" sz="1200"/>
          </a:p>
          <a:p>
            <a:r>
              <a:rPr lang="en-US" altLang="en-US" sz="1200"/>
              <a:t>Important Column → identifies important columns</a:t>
            </a:r>
            <a:endParaRPr lang="en-US" altLang="en-US" sz="1200"/>
          </a:p>
        </p:txBody>
      </p:sp>
    </p:spTree>
    <p:custDataLst>
      <p:tags r:id="rId3"/>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normAutofit fontScale="90000"/>
          </a:bodyPr>
          <a:p>
            <a:r>
              <a:rPr lang="en-US"/>
              <a:t>Event Handlers</a:t>
            </a:r>
            <a:br>
              <a:rPr lang="en-US"/>
            </a:br>
            <a:r>
              <a:rPr lang="en-US"/>
              <a:t>Delete-Update Operatiosn</a:t>
            </a:r>
            <a:endParaRPr lang="en-US"/>
          </a:p>
        </p:txBody>
      </p:sp>
      <p:sp>
        <p:nvSpPr>
          <p:cNvPr id="5" name="Subtitle 4"/>
          <p:cNvSpPr>
            <a:spLocks noGrp="1"/>
          </p:cNvSpPr>
          <p:nvPr>
            <p:ph type="subTitle" idx="1"/>
            <p:custDataLst>
              <p:tags r:id="rId2"/>
            </p:custDataLst>
          </p:nvPr>
        </p:nvSpPr>
        <p:spPr/>
        <p:txBody>
          <a:bodyPr/>
          <a:p>
            <a:r>
              <a:rPr lang="en-US"/>
              <a:t>BI</a:t>
            </a:r>
            <a:endParaRPr lang="en-US"/>
          </a:p>
        </p:txBody>
      </p:sp>
    </p:spTree>
    <p:custDataLst>
      <p:tags r:id="rId3"/>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Introduction</a:t>
            </a:r>
            <a:endParaRPr lang="en-US"/>
          </a:p>
        </p:txBody>
      </p:sp>
      <p:sp>
        <p:nvSpPr>
          <p:cNvPr id="3" name="Content Placeholder 2"/>
          <p:cNvSpPr>
            <a:spLocks noGrp="1"/>
          </p:cNvSpPr>
          <p:nvPr>
            <p:ph idx="1"/>
            <p:custDataLst>
              <p:tags r:id="rId2"/>
            </p:custDataLst>
          </p:nvPr>
        </p:nvSpPr>
        <p:spPr/>
        <p:txBody>
          <a:bodyPr/>
          <a:p>
            <a:r>
              <a:rPr lang="en-US" altLang="en-US"/>
              <a:t>Event Handlers in SSIS are used to respond to events that occur during package execution.</a:t>
            </a:r>
            <a:endParaRPr lang="en-US" altLang="en-US"/>
          </a:p>
          <a:p>
            <a:r>
              <a:rPr lang="en-US" altLang="en-US"/>
              <a:t>They allow you to execute additional tasks when a particular event occurs.</a:t>
            </a:r>
            <a:endParaRPr lang="en-US" altLang="en-US"/>
          </a:p>
          <a:p>
            <a:r>
              <a:rPr lang="en-US" altLang="en-US"/>
              <a:t>Example </a:t>
            </a:r>
            <a:endParaRPr lang="en-US" altLang="en-US"/>
          </a:p>
          <a:p>
            <a:pPr marL="457200" lvl="1" indent="0" algn="ctr">
              <a:buNone/>
            </a:pPr>
            <a:r>
              <a:rPr lang="en-US" altLang="en-US"/>
              <a:t>   Package Execution</a:t>
            </a:r>
            <a:endParaRPr lang="en-US" altLang="en-US"/>
          </a:p>
          <a:p>
            <a:pPr marL="457200" lvl="1" indent="0" algn="ctr">
              <a:buNone/>
            </a:pPr>
            <a:r>
              <a:rPr lang="en-US" altLang="en-US"/>
              <a:t>       ↓</a:t>
            </a:r>
            <a:endParaRPr lang="en-US" altLang="en-US"/>
          </a:p>
          <a:p>
            <a:pPr marL="457200" lvl="1" indent="0" algn="ctr">
              <a:buNone/>
            </a:pPr>
            <a:r>
              <a:rPr lang="en-US" altLang="en-US"/>
              <a:t>      Error</a:t>
            </a:r>
            <a:endParaRPr lang="en-US" altLang="en-US"/>
          </a:p>
          <a:p>
            <a:pPr marL="457200" lvl="1" indent="0" algn="ctr">
              <a:buNone/>
            </a:pPr>
            <a:r>
              <a:rPr lang="en-US" altLang="en-US"/>
              <a:t>       ↓</a:t>
            </a:r>
            <a:endParaRPr lang="en-US" altLang="en-US"/>
          </a:p>
          <a:p>
            <a:pPr marL="457200" lvl="1" indent="0" algn="ctr">
              <a:buNone/>
            </a:pPr>
            <a:r>
              <a:rPr lang="en-US" altLang="en-US"/>
              <a:t>   Event Handler</a:t>
            </a:r>
            <a:endParaRPr lang="en-US" altLang="en-US"/>
          </a:p>
          <a:p>
            <a:pPr marL="457200" lvl="1" indent="0" algn="ctr">
              <a:buNone/>
            </a:pPr>
            <a:r>
              <a:rPr lang="en-US" altLang="en-US"/>
              <a:t>       ↓</a:t>
            </a:r>
            <a:endParaRPr lang="en-US" altLang="en-US"/>
          </a:p>
          <a:p>
            <a:pPr marL="457200" lvl="1" indent="0" algn="ctr">
              <a:buNone/>
            </a:pPr>
            <a:r>
              <a:rPr lang="en-US" altLang="en-US"/>
              <a:t>Send Error Email</a:t>
            </a:r>
            <a:br>
              <a:rPr lang="en-US" altLang="en-US"/>
            </a:br>
            <a:endParaRPr lang="en-US" altLang="en-US"/>
          </a:p>
          <a:p>
            <a:pPr marL="457200" lvl="1" indent="0" algn="l">
              <a:buNone/>
            </a:pPr>
            <a:endParaRPr lang="en-US" altLang="en-US"/>
          </a:p>
        </p:txBody>
      </p:sp>
    </p:spTree>
    <p:custDataLst>
      <p:tags r:id="rId3"/>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Common Events</a:t>
            </a:r>
            <a:endParaRPr lang="en-US"/>
          </a:p>
        </p:txBody>
      </p:sp>
      <p:sp>
        <p:nvSpPr>
          <p:cNvPr id="3" name="Content Placeholder 2"/>
          <p:cNvSpPr>
            <a:spLocks noGrp="1"/>
          </p:cNvSpPr>
          <p:nvPr>
            <p:ph idx="1"/>
            <p:custDataLst>
              <p:tags r:id="rId2"/>
            </p:custDataLst>
          </p:nvPr>
        </p:nvSpPr>
        <p:spPr/>
        <p:txBody>
          <a:bodyPr/>
          <a:p>
            <a:r>
              <a:rPr lang="en-US" altLang="en-US"/>
              <a:t>Common Events</a:t>
            </a:r>
            <a:endParaRPr lang="en-US" altLang="en-US"/>
          </a:p>
          <a:p>
            <a:r>
              <a:rPr lang="en-US" altLang="en-US"/>
              <a:t>OnError</a:t>
            </a:r>
            <a:endParaRPr lang="en-US" altLang="en-US"/>
          </a:p>
          <a:p>
            <a:r>
              <a:rPr lang="en-US" altLang="en-US"/>
              <a:t>OnWarning</a:t>
            </a:r>
            <a:endParaRPr lang="en-US" altLang="en-US"/>
          </a:p>
          <a:p>
            <a:r>
              <a:rPr lang="en-US" altLang="en-US"/>
              <a:t>OnTaskFailed</a:t>
            </a:r>
            <a:endParaRPr lang="en-US" altLang="en-US"/>
          </a:p>
          <a:p>
            <a:r>
              <a:rPr lang="en-US" altLang="en-US"/>
              <a:t>OnPostExecute</a:t>
            </a:r>
            <a:endParaRPr lang="en-US" altLang="en-US"/>
          </a:p>
          <a:p>
            <a:r>
              <a:rPr lang="en-US" altLang="en-US"/>
              <a:t>OnPreExecute</a:t>
            </a:r>
            <a:endParaRPr lang="en-US" altLang="en-US"/>
          </a:p>
          <a:p>
            <a:r>
              <a:rPr lang="en-US" altLang="en-US"/>
              <a:t>OnInformation</a:t>
            </a:r>
            <a:endParaRPr lang="en-US" altLang="en-US"/>
          </a:p>
        </p:txBody>
      </p:sp>
    </p:spTree>
    <p:custDataLst>
      <p:tags r:id="rId3"/>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Example</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608330" y="608330"/>
            <a:ext cx="6086475" cy="3371215"/>
          </a:xfrm>
          <a:prstGeom prst="rect">
            <a:avLst/>
          </a:prstGeom>
        </p:spPr>
      </p:pic>
    </p:spTree>
    <p:custDataLst>
      <p:tags r:id="rId4"/>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Delete-Update Operations</a:t>
            </a:r>
            <a:endParaRPr lang="en-US"/>
          </a:p>
        </p:txBody>
      </p:sp>
      <p:sp>
        <p:nvSpPr>
          <p:cNvPr id="3" name="Content Placeholder 2"/>
          <p:cNvSpPr>
            <a:spLocks noGrp="1"/>
          </p:cNvSpPr>
          <p:nvPr>
            <p:ph idx="1"/>
            <p:custDataLst>
              <p:tags r:id="rId2"/>
            </p:custDataLst>
          </p:nvPr>
        </p:nvSpPr>
        <p:spPr/>
        <p:txBody>
          <a:bodyPr/>
          <a:p>
            <a:r>
              <a:rPr lang="en-US" altLang="en-US"/>
              <a:t>Delete and Update operations are commonly required when loading data into a Data Warehouse or database.</a:t>
            </a:r>
            <a:endParaRPr lang="en-US" altLang="en-US"/>
          </a:p>
          <a:p>
            <a:r>
              <a:rPr lang="en-US" altLang="en-US"/>
              <a:t>They are generally implemented using components such as:</a:t>
            </a:r>
            <a:endParaRPr lang="en-US" altLang="en-US"/>
          </a:p>
          <a:p>
            <a:pPr lvl="1"/>
            <a:r>
              <a:rPr lang="en-US" altLang="en-US"/>
              <a:t>OLE DB Command</a:t>
            </a:r>
            <a:endParaRPr lang="en-US" altLang="en-US"/>
          </a:p>
          <a:p>
            <a:pPr lvl="1"/>
            <a:r>
              <a:rPr lang="en-US" altLang="en-US"/>
              <a:t>Conditional Split</a:t>
            </a:r>
            <a:endParaRPr lang="en-US" altLang="en-US"/>
          </a:p>
          <a:p>
            <a:pPr lvl="1"/>
            <a:r>
              <a:rPr lang="en-US" altLang="en-US"/>
              <a:t>Lookup</a:t>
            </a:r>
            <a:endParaRPr lang="en-US" altLang="en-US"/>
          </a:p>
          <a:p>
            <a:pPr lvl="1"/>
            <a:r>
              <a:rPr lang="en-US" altLang="en-US"/>
              <a:t>Execute SQL Task</a:t>
            </a:r>
            <a:endParaRPr lang="en-US" altLang="en-US"/>
          </a:p>
          <a:p>
            <a:pPr lvl="1"/>
            <a:r>
              <a:rPr lang="en-US" altLang="en-US"/>
              <a:t>Data Flow logic</a:t>
            </a:r>
            <a:endParaRPr lang="en-US" altLang="en-US"/>
          </a:p>
        </p:txBody>
      </p:sp>
    </p:spTree>
    <p:custDataLst>
      <p:tags r:id="rId3"/>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Update Operations</a:t>
            </a:r>
            <a:endParaRPr lang="en-US"/>
          </a:p>
        </p:txBody>
      </p:sp>
      <p:sp>
        <p:nvSpPr>
          <p:cNvPr id="3" name="Content Placeholder 2"/>
          <p:cNvSpPr>
            <a:spLocks noGrp="1"/>
          </p:cNvSpPr>
          <p:nvPr>
            <p:ph idx="1"/>
            <p:custDataLst>
              <p:tags r:id="rId2"/>
            </p:custDataLst>
          </p:nvPr>
        </p:nvSpPr>
        <p:spPr/>
        <p:txBody>
          <a:bodyPr/>
          <a:p>
            <a:r>
              <a:rPr lang="en-US" altLang="en-US"/>
              <a:t>Used to modify existing records.</a:t>
            </a:r>
            <a:endParaRPr lang="en-US" altLang="en-US"/>
          </a:p>
          <a:p>
            <a:r>
              <a:rPr lang="en-US" altLang="en-US"/>
              <a:t>Example:</a:t>
            </a:r>
            <a:endParaRPr lang="en-US" altLang="en-US"/>
          </a:p>
          <a:p>
            <a:pPr lvl="1"/>
            <a:r>
              <a:rPr lang="en-US" altLang="en-US"/>
              <a:t>Employee ID = 101</a:t>
            </a:r>
            <a:endParaRPr lang="en-US" altLang="en-US"/>
          </a:p>
          <a:p>
            <a:pPr lvl="1"/>
            <a:r>
              <a:rPr lang="en-US" altLang="en-US"/>
              <a:t>Salary = 40,000</a:t>
            </a:r>
            <a:endParaRPr lang="en-US" altLang="en-US"/>
          </a:p>
          <a:p>
            <a:r>
              <a:rPr lang="en-US" altLang="en-US"/>
              <a:t>Update:</a:t>
            </a:r>
            <a:endParaRPr lang="en-US" altLang="en-US"/>
          </a:p>
          <a:p>
            <a:pPr lvl="1"/>
            <a:r>
              <a:rPr lang="en-US" altLang="en-US"/>
              <a:t>Salary = 45,000</a:t>
            </a:r>
            <a:endParaRPr lang="en-US" altLang="en-US"/>
          </a:p>
        </p:txBody>
      </p:sp>
    </p:spTree>
    <p:custDataLst>
      <p:tags r:id="rId3"/>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Delete Operations</a:t>
            </a:r>
            <a:endParaRPr lang="en-US"/>
          </a:p>
        </p:txBody>
      </p:sp>
      <p:sp>
        <p:nvSpPr>
          <p:cNvPr id="3" name="Content Placeholder 2"/>
          <p:cNvSpPr>
            <a:spLocks noGrp="1"/>
          </p:cNvSpPr>
          <p:nvPr>
            <p:ph idx="1"/>
            <p:custDataLst>
              <p:tags r:id="rId2"/>
            </p:custDataLst>
          </p:nvPr>
        </p:nvSpPr>
        <p:spPr>
          <a:xfrm>
            <a:off x="608330" y="1490345"/>
            <a:ext cx="10969625" cy="5076825"/>
          </a:xfrm>
        </p:spPr>
        <p:txBody>
          <a:bodyPr>
            <a:normAutofit fontScale="70000"/>
          </a:bodyPr>
          <a:p>
            <a:r>
              <a:rPr lang="en-US" altLang="en-US"/>
              <a:t>Used to remove existing records.</a:t>
            </a:r>
            <a:endParaRPr lang="en-US" altLang="en-US"/>
          </a:p>
          <a:p>
            <a:r>
              <a:rPr lang="en-US" altLang="en-US"/>
              <a:t>Example:</a:t>
            </a:r>
            <a:endParaRPr lang="en-US" altLang="en-US"/>
          </a:p>
          <a:p>
            <a:pPr lvl="1"/>
            <a:r>
              <a:rPr lang="en-US" altLang="en-US"/>
              <a:t>Employee ID = 101</a:t>
            </a:r>
            <a:endParaRPr lang="en-US" altLang="en-US"/>
          </a:p>
          <a:p>
            <a:r>
              <a:rPr lang="en-US" altLang="en-US"/>
              <a:t>After delete operation:</a:t>
            </a:r>
            <a:endParaRPr lang="en-US" altLang="en-US"/>
          </a:p>
          <a:p>
            <a:pPr lvl="1"/>
            <a:r>
              <a:rPr lang="en-US" altLang="en-US"/>
              <a:t>Employee ID 101 → Removed</a:t>
            </a:r>
            <a:endParaRPr lang="en-US" altLang="en-US"/>
          </a:p>
          <a:p>
            <a:pPr lvl="1"/>
            <a:endParaRPr lang="en-US" altLang="en-US"/>
          </a:p>
          <a:p>
            <a:pPr lvl="0"/>
            <a:r>
              <a:rPr lang="en-US" altLang="en-US"/>
              <a:t>TYPICAL ETL LOGIC : </a:t>
            </a:r>
            <a:endParaRPr lang="en-US" altLang="en-US"/>
          </a:p>
          <a:p>
            <a:pPr lvl="1"/>
            <a:r>
              <a:rPr lang="en-US" altLang="en-US"/>
              <a:t>Source  </a:t>
            </a:r>
            <a:endParaRPr lang="en-US" altLang="en-US"/>
          </a:p>
          <a:p>
            <a:pPr lvl="1"/>
            <a:r>
              <a:rPr lang="en-US" altLang="en-US"/>
              <a:t>↓</a:t>
            </a:r>
            <a:endParaRPr lang="en-US" altLang="en-US"/>
          </a:p>
          <a:p>
            <a:pPr lvl="1"/>
            <a:r>
              <a:rPr lang="en-US" altLang="en-US"/>
              <a:t>Lookup</a:t>
            </a:r>
            <a:endParaRPr lang="en-US" altLang="en-US"/>
          </a:p>
          <a:p>
            <a:pPr lvl="1"/>
            <a:r>
              <a:rPr lang="en-US" altLang="en-US"/>
              <a:t>  ↓</a:t>
            </a:r>
            <a:endParaRPr lang="en-US" altLang="en-US"/>
          </a:p>
          <a:p>
            <a:pPr lvl="1"/>
            <a:r>
              <a:rPr lang="en-US" altLang="en-US"/>
              <a:t>Conditional Split</a:t>
            </a:r>
            <a:endParaRPr lang="en-US" altLang="en-US"/>
          </a:p>
          <a:p>
            <a:pPr lvl="1"/>
            <a:r>
              <a:rPr lang="en-US" altLang="en-US"/>
              <a:t>  ├── New Record → Insert</a:t>
            </a:r>
            <a:endParaRPr lang="en-US" altLang="en-US"/>
          </a:p>
          <a:p>
            <a:pPr lvl="1"/>
            <a:r>
              <a:rPr lang="en-US" altLang="en-US"/>
              <a:t>  ├── Existing Record → Update</a:t>
            </a:r>
            <a:endParaRPr lang="en-US" altLang="en-US"/>
          </a:p>
          <a:p>
            <a:pPr lvl="1"/>
            <a:r>
              <a:rPr lang="en-US" altLang="en-US"/>
              <a:t>  └── Delete Flag → Delete</a:t>
            </a:r>
            <a:endParaRPr lang="en-US" altLang="en-US"/>
          </a:p>
        </p:txBody>
      </p:sp>
    </p:spTree>
    <p:custDataLst>
      <p:tags r:id="rId3"/>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en-US"/>
              <a:t>Script Task</a:t>
            </a:r>
            <a:endParaRPr lang="en-US"/>
          </a:p>
        </p:txBody>
      </p:sp>
      <p:sp>
        <p:nvSpPr>
          <p:cNvPr id="5" name="Subtitle 4"/>
          <p:cNvSpPr>
            <a:spLocks noGrp="1"/>
          </p:cNvSpPr>
          <p:nvPr>
            <p:ph type="subTitle" idx="1"/>
            <p:custDataLst>
              <p:tags r:id="rId2"/>
            </p:custDataLst>
          </p:nvPr>
        </p:nvSpPr>
        <p:spPr/>
        <p:txBody>
          <a:bodyPr/>
          <a:p>
            <a:r>
              <a:rPr lang="en-US"/>
              <a:t>BI</a:t>
            </a:r>
            <a:endParaRPr lang="en-US"/>
          </a:p>
        </p:txBody>
      </p:sp>
    </p:spTree>
    <p:custDataLst>
      <p:tags r:id="rId3"/>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Introduction</a:t>
            </a:r>
            <a:endParaRPr lang="en-US"/>
          </a:p>
        </p:txBody>
      </p:sp>
      <p:sp>
        <p:nvSpPr>
          <p:cNvPr id="3" name="Content Placeholder 2"/>
          <p:cNvSpPr>
            <a:spLocks noGrp="1"/>
          </p:cNvSpPr>
          <p:nvPr>
            <p:ph idx="1"/>
            <p:custDataLst>
              <p:tags r:id="rId2"/>
            </p:custDataLst>
          </p:nvPr>
        </p:nvSpPr>
        <p:spPr/>
        <p:txBody>
          <a:bodyPr/>
          <a:p>
            <a:r>
              <a:rPr lang="en-US" altLang="en-US"/>
              <a:t>The Script Task supports Microsoft Visual C# and Microsoft Visual Basic languages.</a:t>
            </a:r>
            <a:endParaRPr lang="en-US" altLang="en-US"/>
          </a:p>
          <a:p>
            <a:r>
              <a:rPr lang="en-US" altLang="en-US"/>
              <a:t>You can choose which language you will use prior to clicking the Edit Script button.</a:t>
            </a:r>
            <a:endParaRPr lang="en-US" altLang="en-US"/>
          </a:p>
          <a:p>
            <a:r>
              <a:rPr lang="en-US" altLang="en-US"/>
              <a:t>Once you’ve clicked the Edit Script button, you cannot change the Script Language property.</a:t>
            </a:r>
            <a:endParaRPr lang="en-US" altLang="en-US"/>
          </a:p>
          <a:p>
            <a:r>
              <a:rPr lang="en-US" altLang="en-US"/>
              <a:t>Main task of Script Task is: the ability to read a variable value from the SSIS package into the script and</a:t>
            </a:r>
            <a:endParaRPr lang="en-US" altLang="en-US"/>
          </a:p>
          <a:p>
            <a:r>
              <a:rPr lang="en-US" altLang="en-US"/>
              <a:t>then write a message out of the Script Task.</a:t>
            </a:r>
            <a:endParaRPr lang="en-US" altLang="en-US"/>
          </a:p>
          <a:p>
            <a:r>
              <a:rPr lang="en-US" altLang="en-US"/>
              <a:t>Because the Script Task can interact with SSIS variables,</a:t>
            </a:r>
            <a:endParaRPr lang="en-US" altLang="en-US"/>
          </a:p>
        </p:txBody>
      </p:sp>
    </p:spTree>
    <p:custDataLst>
      <p:tags r:id="rId3"/>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Varible Naming Convention</a:t>
            </a:r>
            <a:endParaRPr lang="en-US"/>
          </a:p>
        </p:txBody>
      </p:sp>
      <p:sp>
        <p:nvSpPr>
          <p:cNvPr id="3" name="Content Placeholder 2"/>
          <p:cNvSpPr>
            <a:spLocks noGrp="1"/>
          </p:cNvSpPr>
          <p:nvPr>
            <p:ph idx="1"/>
            <p:custDataLst>
              <p:tags r:id="rId2"/>
            </p:custDataLst>
          </p:nvPr>
        </p:nvSpPr>
        <p:spPr/>
        <p:txBody>
          <a:bodyPr>
            <a:normAutofit lnSpcReduction="20000"/>
          </a:bodyPr>
          <a:p>
            <a:r>
              <a:rPr lang="en-US" altLang="en-US"/>
              <a:t>SSIS variables use a two-part naming convention:</a:t>
            </a:r>
            <a:endParaRPr lang="en-US" altLang="en-US"/>
          </a:p>
          <a:p>
            <a:endParaRPr lang="en-US" altLang="en-US"/>
          </a:p>
          <a:p>
            <a:r>
              <a:rPr lang="en-US" altLang="en-US"/>
              <a:t>&lt;Namespace&gt;::&lt;VariableName&gt;.</a:t>
            </a:r>
            <a:endParaRPr lang="en-US" altLang="en-US"/>
          </a:p>
          <a:p>
            <a:endParaRPr lang="en-US" altLang="en-US"/>
          </a:p>
          <a:p>
            <a:r>
              <a:rPr lang="en-US" altLang="en-US"/>
              <a:t>The selected variables are in the System namespace and contain the name of the task and package, respectively.</a:t>
            </a:r>
            <a:endParaRPr lang="en-US" altLang="en-US"/>
          </a:p>
          <a:p>
            <a:endParaRPr lang="en-US" altLang="en-US"/>
          </a:p>
          <a:p>
            <a:r>
              <a:rPr lang="en-US" altLang="en-US"/>
              <a:t>Click the Edit Script button to open the script editing window</a:t>
            </a:r>
            <a:endParaRPr lang="en-US" altLang="en-US"/>
          </a:p>
        </p:txBody>
      </p:sp>
      <p:pic>
        <p:nvPicPr>
          <p:cNvPr id="4" name="Picture 3"/>
          <p:cNvPicPr>
            <a:picLocks noChangeAspect="1"/>
          </p:cNvPicPr>
          <p:nvPr/>
        </p:nvPicPr>
        <p:blipFill>
          <a:blip r:embed="rId3"/>
          <a:stretch>
            <a:fillRect/>
          </a:stretch>
        </p:blipFill>
        <p:spPr>
          <a:xfrm>
            <a:off x="1392555" y="4876800"/>
            <a:ext cx="8890000" cy="1981200"/>
          </a:xfrm>
          <a:prstGeom prst="rect">
            <a:avLst/>
          </a:prstGeom>
        </p:spPr>
      </p:pic>
    </p:spTree>
    <p:custDataLst>
      <p:tags r:id="rId4"/>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Variable Dispenser - object</a:t>
            </a:r>
            <a:endParaRPr lang="en-US" altLang="en-US"/>
          </a:p>
        </p:txBody>
      </p:sp>
      <p:sp>
        <p:nvSpPr>
          <p:cNvPr id="3" name="Content Placeholder 2"/>
          <p:cNvSpPr>
            <a:spLocks noGrp="1"/>
          </p:cNvSpPr>
          <p:nvPr>
            <p:ph idx="1"/>
            <p:custDataLst>
              <p:tags r:id="rId2"/>
            </p:custDataLst>
          </p:nvPr>
        </p:nvSpPr>
        <p:spPr/>
        <p:txBody>
          <a:bodyPr>
            <a:normAutofit/>
          </a:bodyPr>
          <a:p>
            <a:r>
              <a:rPr lang="en-US" altLang="en-US"/>
              <a:t>A explicit method - Provides methods for locking variables for read-only or read-write access and then retrieving them.</a:t>
            </a:r>
            <a:endParaRPr lang="en-US" altLang="en-US"/>
          </a:p>
          <a:p>
            <a:endParaRPr lang="en-US" altLang="en-US"/>
          </a:p>
          <a:p>
            <a:r>
              <a:rPr lang="en-US" altLang="en-US"/>
              <a:t>At one time, this was the standard way of accessing variables in scripts.</a:t>
            </a:r>
            <a:endParaRPr lang="en-US" altLang="en-US"/>
          </a:p>
          <a:p>
            <a:endParaRPr lang="en-US" altLang="en-US"/>
          </a:p>
          <a:p>
            <a:r>
              <a:rPr lang="en-US" altLang="en-US"/>
              <a:t>The explicit locking mechanism allows control in the Script Task to keep two processes from competing for accessing and changing a variable.</a:t>
            </a:r>
            <a:endParaRPr lang="en-US" altLang="en-US"/>
          </a:p>
        </p:txBody>
      </p:sp>
    </p:spTree>
    <p:custDataLst>
      <p:tags r:id="rId3"/>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Additional</a:t>
            </a:r>
            <a:endParaRPr lang="en-US"/>
          </a:p>
        </p:txBody>
      </p:sp>
      <p:pic>
        <p:nvPicPr>
          <p:cNvPr id="4" name="Content Placeholder 3"/>
          <p:cNvPicPr>
            <a:picLocks noChangeAspect="1"/>
          </p:cNvPicPr>
          <p:nvPr>
            <p:ph idx="1"/>
            <p:custDataLst>
              <p:tags r:id="rId2"/>
            </p:custDataLst>
          </p:nvPr>
        </p:nvPicPr>
        <p:blipFill>
          <a:blip r:embed="rId3"/>
          <a:stretch>
            <a:fillRect/>
          </a:stretch>
        </p:blipFill>
        <p:spPr>
          <a:xfrm>
            <a:off x="736600" y="1419860"/>
            <a:ext cx="7536815" cy="4759325"/>
          </a:xfrm>
          <a:prstGeom prst="rect">
            <a:avLst/>
          </a:prstGeom>
        </p:spPr>
      </p:pic>
    </p:spTree>
    <p:custDataLst>
      <p:tags r:id="rId4"/>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Usage &amp; Flow</a:t>
            </a:r>
            <a:endParaRPr lang="en-US"/>
          </a:p>
        </p:txBody>
      </p:sp>
      <p:sp>
        <p:nvSpPr>
          <p:cNvPr id="3" name="Content Placeholder 2"/>
          <p:cNvSpPr>
            <a:spLocks noGrp="1"/>
          </p:cNvSpPr>
          <p:nvPr>
            <p:ph idx="1"/>
            <p:custDataLst>
              <p:tags r:id="rId2"/>
            </p:custDataLst>
          </p:nvPr>
        </p:nvSpPr>
        <p:spPr/>
        <p:txBody>
          <a:bodyPr>
            <a:normAutofit fontScale="90000" lnSpcReduction="20000"/>
          </a:bodyPr>
          <a:p>
            <a:r>
              <a:rPr lang="en-US" altLang="en-US"/>
              <a:t>Example Uses</a:t>
            </a:r>
            <a:endParaRPr lang="en-US" altLang="en-US"/>
          </a:p>
          <a:p>
            <a:r>
              <a:rPr lang="en-US" altLang="en-US"/>
              <a:t>Custom validation</a:t>
            </a:r>
            <a:endParaRPr lang="en-US" altLang="en-US"/>
          </a:p>
          <a:p>
            <a:r>
              <a:rPr lang="en-US" altLang="en-US"/>
              <a:t>File manipulation</a:t>
            </a:r>
            <a:endParaRPr lang="en-US" altLang="en-US"/>
          </a:p>
          <a:p>
            <a:r>
              <a:rPr lang="en-US" altLang="en-US"/>
              <a:t>Complex calculations</a:t>
            </a:r>
            <a:endParaRPr lang="en-US" altLang="en-US"/>
          </a:p>
          <a:p>
            <a:r>
              <a:rPr lang="en-US" altLang="en-US"/>
              <a:t>Custom error handling</a:t>
            </a:r>
            <a:endParaRPr lang="en-US" altLang="en-US"/>
          </a:p>
          <a:p>
            <a:r>
              <a:rPr lang="en-US" altLang="en-US"/>
              <a:t>Calling custom APIs/services</a:t>
            </a:r>
            <a:endParaRPr lang="en-US" altLang="en-US"/>
          </a:p>
          <a:p>
            <a:r>
              <a:rPr lang="en-US" altLang="en-US"/>
              <a:t>Implementing business logic</a:t>
            </a:r>
            <a:endParaRPr lang="en-US" altLang="en-US"/>
          </a:p>
          <a:p>
            <a:pPr marL="0" indent="0" algn="ctr">
              <a:buNone/>
            </a:pPr>
            <a:r>
              <a:rPr lang="en-US" altLang="en-US"/>
              <a:t>Control Flow</a:t>
            </a:r>
            <a:endParaRPr lang="en-US" altLang="en-US"/>
          </a:p>
          <a:p>
            <a:pPr marL="0" indent="0" algn="ctr">
              <a:buNone/>
            </a:pPr>
            <a:r>
              <a:rPr lang="en-US" altLang="en-US"/>
              <a:t>     ↓</a:t>
            </a:r>
            <a:endParaRPr lang="en-US" altLang="en-US"/>
          </a:p>
          <a:p>
            <a:pPr marL="0" indent="0" algn="ctr">
              <a:buNone/>
            </a:pPr>
            <a:r>
              <a:rPr lang="en-US" altLang="en-US"/>
              <a:t>Script Task</a:t>
            </a:r>
            <a:endParaRPr lang="en-US" altLang="en-US"/>
          </a:p>
          <a:p>
            <a:pPr marL="0" indent="0" algn="ctr">
              <a:buNone/>
            </a:pPr>
            <a:r>
              <a:rPr lang="en-US" altLang="en-US"/>
              <a:t>     ↓</a:t>
            </a:r>
            <a:endParaRPr lang="en-US" altLang="en-US"/>
          </a:p>
          <a:p>
            <a:pPr marL="0" indent="0" algn="ctr">
              <a:buNone/>
            </a:pPr>
            <a:r>
              <a:rPr lang="en-US" altLang="en-US"/>
              <a:t>Custom C# / VB.NET Code</a:t>
            </a:r>
            <a:endParaRPr lang="en-US" altLang="en-US"/>
          </a:p>
        </p:txBody>
      </p:sp>
    </p:spTree>
    <p:custDataLst>
      <p:tags r:id="rId3"/>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en-US"/>
              <a:t>Lookup - Introduction</a:t>
            </a:r>
            <a:endParaRPr lang="en-US"/>
          </a:p>
        </p:txBody>
      </p:sp>
      <p:sp>
        <p:nvSpPr>
          <p:cNvPr id="5" name="Subtitle 4"/>
          <p:cNvSpPr>
            <a:spLocks noGrp="1"/>
          </p:cNvSpPr>
          <p:nvPr>
            <p:ph type="subTitle" idx="1"/>
            <p:custDataLst>
              <p:tags r:id="rId2"/>
            </p:custDataLst>
          </p:nvPr>
        </p:nvSpPr>
        <p:spPr/>
        <p:txBody>
          <a:bodyPr/>
          <a:p>
            <a:r>
              <a:rPr lang="en-US"/>
              <a:t>BI</a:t>
            </a:r>
            <a:endParaRPr lang="en-US"/>
          </a:p>
        </p:txBody>
      </p:sp>
    </p:spTree>
    <p:custDataLst>
      <p:tags r:id="rId3"/>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Basic Understanding Diagram</a:t>
            </a:r>
            <a:endParaRPr lang="en-US"/>
          </a:p>
        </p:txBody>
      </p:sp>
      <p:pic>
        <p:nvPicPr>
          <p:cNvPr id="6" name="Content Placeholder 5"/>
          <p:cNvPicPr>
            <a:picLocks noChangeAspect="1"/>
          </p:cNvPicPr>
          <p:nvPr>
            <p:ph idx="1"/>
            <p:custDataLst>
              <p:tags r:id="rId2"/>
            </p:custDataLst>
          </p:nvPr>
        </p:nvPicPr>
        <p:blipFill>
          <a:blip r:embed="rId3"/>
          <a:srcRect l="4567" t="15277" r="7145" b="10861"/>
          <a:stretch>
            <a:fillRect/>
          </a:stretch>
        </p:blipFill>
        <p:spPr>
          <a:xfrm>
            <a:off x="2468245" y="1770380"/>
            <a:ext cx="8100060" cy="4279265"/>
          </a:xfrm>
          <a:prstGeom prst="rect">
            <a:avLst/>
          </a:prstGeom>
        </p:spPr>
      </p:pic>
    </p:spTree>
    <p:custDataLst>
      <p:tags r:id="rId4"/>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Definition</a:t>
            </a:r>
            <a:endParaRPr lang="en-US"/>
          </a:p>
        </p:txBody>
      </p:sp>
      <p:sp>
        <p:nvSpPr>
          <p:cNvPr id="3" name="Content Placeholder 2"/>
          <p:cNvSpPr>
            <a:spLocks noGrp="1"/>
          </p:cNvSpPr>
          <p:nvPr>
            <p:ph idx="1"/>
            <p:custDataLst>
              <p:tags r:id="rId2"/>
            </p:custDataLst>
          </p:nvPr>
        </p:nvSpPr>
        <p:spPr/>
        <p:txBody>
          <a:bodyPr/>
          <a:p>
            <a:r>
              <a:rPr lang="en-US" altLang="en-US"/>
              <a:t>Lookup Transformation in SSIS is a Data Flow transformation used to find matching records in a reference dataset based on one or more columns.</a:t>
            </a:r>
            <a:endParaRPr lang="en-US" altLang="en-US"/>
          </a:p>
          <a:p>
            <a:r>
              <a:rPr lang="en-US" altLang="en-US"/>
              <a:t>In simple words:</a:t>
            </a:r>
            <a:endParaRPr lang="en-US" altLang="en-US"/>
          </a:p>
          <a:p>
            <a:pPr marL="0" indent="0" algn="ctr">
              <a:buNone/>
            </a:pPr>
            <a:r>
              <a:rPr lang="en-US" altLang="en-US" sz="2800"/>
              <a:t>Lookup = Search for a matching value in another table/dataset and retrieve related information.</a:t>
            </a:r>
            <a:endParaRPr lang="en-US" altLang="en-US"/>
          </a:p>
          <a:p>
            <a:r>
              <a:rPr lang="en-US" altLang="en-US"/>
              <a:t>It is commonly used in ETL and Data Warehousing for finding surrogate keys, validating records, and enriching data.</a:t>
            </a:r>
            <a:endParaRPr lang="en-US" altLang="en-US"/>
          </a:p>
        </p:txBody>
      </p:sp>
    </p:spTree>
    <p:custDataLst>
      <p:tags r:id="rId3"/>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rcRect r="6837"/>
          <a:stretch>
            <a:fillRect/>
          </a:stretch>
        </p:blipFill>
        <p:spPr>
          <a:xfrm>
            <a:off x="608330" y="608330"/>
            <a:ext cx="10219055" cy="5839460"/>
          </a:xfrm>
          <a:prstGeom prst="rect">
            <a:avLst/>
          </a:prstGeom>
        </p:spPr>
      </p:pic>
    </p:spTree>
    <p:custDataLst>
      <p:tags r:id="rId3"/>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608330" y="608330"/>
            <a:ext cx="9792970" cy="5715000"/>
          </a:xfrm>
          <a:prstGeom prst="rect">
            <a:avLst/>
          </a:prstGeom>
        </p:spPr>
      </p:pic>
    </p:spTree>
    <p:custDataLst>
      <p:tags r:id="rId3"/>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Content Placeholder 3"/>
          <p:cNvPicPr>
            <a:picLocks noChangeAspect="1"/>
          </p:cNvPicPr>
          <p:nvPr>
            <p:ph idx="1"/>
            <p:custDataLst>
              <p:tags r:id="rId2"/>
            </p:custDataLst>
          </p:nvPr>
        </p:nvPicPr>
        <p:blipFill>
          <a:blip r:embed="rId3"/>
          <a:srcRect r="10878" b="11341"/>
          <a:stretch>
            <a:fillRect/>
          </a:stretch>
        </p:blipFill>
        <p:spPr>
          <a:xfrm>
            <a:off x="608330" y="608330"/>
            <a:ext cx="10077450" cy="5850255"/>
          </a:xfrm>
          <a:prstGeom prst="rect">
            <a:avLst/>
          </a:prstGeom>
        </p:spPr>
      </p:pic>
    </p:spTree>
    <p:custDataLst>
      <p:tags r:id="rId4"/>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608330" y="608330"/>
            <a:ext cx="9133840" cy="5610860"/>
          </a:xfrm>
          <a:prstGeom prst="rect">
            <a:avLst/>
          </a:prstGeom>
        </p:spPr>
      </p:pic>
    </p:spTree>
    <p:custDataLst>
      <p:tags r:id="rId3"/>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608330" y="537845"/>
            <a:ext cx="10337800" cy="4559300"/>
          </a:xfrm>
          <a:prstGeom prst="rect">
            <a:avLst/>
          </a:prstGeom>
        </p:spPr>
      </p:pic>
    </p:spTree>
    <p:custDataLst>
      <p:tags r:id="rId3"/>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6-09-02 at 4.51.32 PM"/>
          <p:cNvPicPr>
            <a:picLocks noChangeAspect="1"/>
          </p:cNvPicPr>
          <p:nvPr/>
        </p:nvPicPr>
        <p:blipFill>
          <a:blip r:embed="rId1"/>
          <a:stretch>
            <a:fillRect/>
          </a:stretch>
        </p:blipFill>
        <p:spPr>
          <a:xfrm>
            <a:off x="1716405" y="0"/>
            <a:ext cx="8185150" cy="6858000"/>
          </a:xfrm>
          <a:prstGeom prst="rect">
            <a:avLst/>
          </a:prstGeom>
        </p:spPr>
      </p:pic>
    </p:spTree>
    <p:custDataLst>
      <p:tags r:id="rId2"/>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6-09-02 at 4.52.16 PM"/>
          <p:cNvPicPr>
            <a:picLocks noChangeAspect="1"/>
          </p:cNvPicPr>
          <p:nvPr/>
        </p:nvPicPr>
        <p:blipFill>
          <a:blip r:embed="rId1"/>
          <a:stretch>
            <a:fillRect/>
          </a:stretch>
        </p:blipFill>
        <p:spPr>
          <a:xfrm>
            <a:off x="608330" y="76835"/>
            <a:ext cx="10337800" cy="6426200"/>
          </a:xfrm>
          <a:prstGeom prst="rect">
            <a:avLst/>
          </a:prstGeom>
        </p:spPr>
      </p:pic>
      <p:pic>
        <p:nvPicPr>
          <p:cNvPr id="5" name="Picture 4"/>
          <p:cNvPicPr>
            <a:picLocks noChangeAspect="1"/>
          </p:cNvPicPr>
          <p:nvPr/>
        </p:nvPicPr>
        <p:blipFill>
          <a:blip r:embed="rId2"/>
          <a:srcRect r="50706"/>
          <a:stretch>
            <a:fillRect/>
          </a:stretch>
        </p:blipFill>
        <p:spPr>
          <a:xfrm>
            <a:off x="5850255" y="4407535"/>
            <a:ext cx="5095875" cy="2095500"/>
          </a:xfrm>
          <a:prstGeom prst="rect">
            <a:avLst/>
          </a:prstGeom>
        </p:spPr>
      </p:pic>
    </p:spTree>
    <p:custDataLst>
      <p:tags r:id="rId3"/>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7. What Happens to No-Match Rows?</a:t>
            </a:r>
            <a:endParaRPr lang="en-US" altLang="en-US"/>
          </a:p>
        </p:txBody>
      </p:sp>
      <p:sp>
        <p:nvSpPr>
          <p:cNvPr id="3" name="Content Placeholder 2"/>
          <p:cNvSpPr>
            <a:spLocks noGrp="1"/>
          </p:cNvSpPr>
          <p:nvPr>
            <p:ph idx="1"/>
            <p:custDataLst>
              <p:tags r:id="rId2"/>
            </p:custDataLst>
          </p:nvPr>
        </p:nvSpPr>
        <p:spPr/>
        <p:txBody>
          <a:bodyPr>
            <a:normAutofit lnSpcReduction="10000"/>
          </a:bodyPr>
          <a:p>
            <a:r>
              <a:rPr lang="en-US" altLang="en-US"/>
              <a:t>This is an important exam concept.</a:t>
            </a:r>
            <a:endParaRPr lang="en-US" altLang="en-US"/>
          </a:p>
          <a:p>
            <a:r>
              <a:rPr lang="en-US" altLang="en-US"/>
              <a:t>SSIS Lookup can handle rows for which no matching reference record is found.</a:t>
            </a:r>
            <a:endParaRPr lang="en-US" altLang="en-US"/>
          </a:p>
          <a:p>
            <a:r>
              <a:rPr lang="en-US" altLang="en-US"/>
              <a:t>Depending on configuration, unmatched rows can be:</a:t>
            </a:r>
            <a:endParaRPr lang="en-US" altLang="en-US"/>
          </a:p>
          <a:p>
            <a:r>
              <a:rPr lang="en-US" altLang="en-US"/>
              <a:t>Redirected to a separate output</a:t>
            </a:r>
            <a:endParaRPr lang="en-US" altLang="en-US"/>
          </a:p>
          <a:p>
            <a:r>
              <a:rPr lang="en-US" altLang="en-US"/>
              <a:t>Ignored</a:t>
            </a:r>
            <a:endParaRPr lang="en-US" altLang="en-US"/>
          </a:p>
          <a:p>
            <a:r>
              <a:rPr lang="en-US" altLang="en-US"/>
              <a:t>Handled according to the configured error/no-match behavior</a:t>
            </a:r>
            <a:endParaRPr lang="en-US" altLang="en-US"/>
          </a:p>
          <a:p>
            <a:r>
              <a:rPr lang="en-US" altLang="en-US"/>
              <a:t>A common ETL pattern is:</a:t>
            </a:r>
            <a:endParaRPr lang="en-US" altLang="en-US"/>
          </a:p>
          <a:p>
            <a:pPr lvl="1"/>
            <a:r>
              <a:rPr lang="en-US" altLang="en-US"/>
              <a:t>Lookup</a:t>
            </a:r>
            <a:endParaRPr lang="en-US" altLang="en-US"/>
          </a:p>
          <a:p>
            <a:pPr lvl="1"/>
            <a:r>
              <a:rPr lang="en-US" altLang="en-US"/>
              <a:t>  ├── Match Output → Continue processing</a:t>
            </a:r>
            <a:endParaRPr lang="en-US" altLang="en-US"/>
          </a:p>
          <a:p>
            <a:pPr lvl="1"/>
            <a:r>
              <a:rPr lang="en-US" altLang="en-US"/>
              <a:t>  │</a:t>
            </a:r>
            <a:endParaRPr lang="en-US" altLang="en-US"/>
          </a:p>
          <a:p>
            <a:pPr lvl="1"/>
            <a:r>
              <a:rPr lang="en-US" altLang="en-US"/>
              <a:t>  └── No Match Output → Insert / Error Handling</a:t>
            </a:r>
            <a:endParaRPr lang="en-US" altLang="en-US"/>
          </a:p>
        </p:txBody>
      </p:sp>
    </p:spTree>
    <p:custDataLst>
      <p:tags r:id="rId3"/>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Example</a:t>
            </a:r>
            <a:endParaRPr lang="en-US"/>
          </a:p>
        </p:txBody>
      </p:sp>
      <p:sp>
        <p:nvSpPr>
          <p:cNvPr id="3" name="Content Placeholder 2"/>
          <p:cNvSpPr>
            <a:spLocks noGrp="1"/>
          </p:cNvSpPr>
          <p:nvPr>
            <p:ph idx="1"/>
            <p:custDataLst>
              <p:tags r:id="rId2"/>
            </p:custDataLst>
          </p:nvPr>
        </p:nvSpPr>
        <p:spPr/>
        <p:txBody>
          <a:bodyPr>
            <a:normAutofit lnSpcReduction="10000"/>
          </a:bodyPr>
          <a:p>
            <a:r>
              <a:rPr lang="en-US" altLang="en-US"/>
              <a:t>For example, if a new customer is not found in the Customer Dimension:</a:t>
            </a:r>
            <a:endParaRPr lang="en-US" altLang="en-US"/>
          </a:p>
          <a:p>
            <a:pPr marL="0" indent="0" algn="ctr">
              <a:buNone/>
            </a:pPr>
            <a:r>
              <a:rPr lang="en-US" altLang="en-US"/>
              <a:t>Customer Source</a:t>
            </a:r>
            <a:endParaRPr lang="en-US" altLang="en-US"/>
          </a:p>
          <a:p>
            <a:pPr marL="0" indent="0" algn="ctr">
              <a:buNone/>
            </a:pPr>
            <a:r>
              <a:rPr lang="en-US" altLang="en-US"/>
              <a:t>   ↓</a:t>
            </a:r>
            <a:endParaRPr lang="en-US" altLang="en-US"/>
          </a:p>
          <a:p>
            <a:pPr marL="0" indent="0" algn="ctr">
              <a:buNone/>
            </a:pPr>
            <a:r>
              <a:rPr lang="en-US" altLang="en-US"/>
              <a:t> Lookup</a:t>
            </a:r>
            <a:endParaRPr lang="en-US" altLang="en-US"/>
          </a:p>
          <a:p>
            <a:pPr marL="0" indent="0" algn="ctr">
              <a:buNone/>
            </a:pPr>
            <a:r>
              <a:rPr lang="en-US" altLang="en-US"/>
              <a:t>  ↓</a:t>
            </a:r>
            <a:endParaRPr lang="en-US" altLang="en-US"/>
          </a:p>
          <a:p>
            <a:pPr marL="0" indent="0" algn="ctr">
              <a:buNone/>
            </a:pPr>
            <a:r>
              <a:rPr lang="en-US" altLang="en-US"/>
              <a:t>  ┌───┴────┐</a:t>
            </a:r>
            <a:endParaRPr lang="en-US" altLang="en-US"/>
          </a:p>
          <a:p>
            <a:pPr marL="0" indent="457200" algn="ctr">
              <a:buNone/>
            </a:pPr>
            <a:r>
              <a:rPr lang="en-US" altLang="en-US"/>
              <a:t>Match    	No Match</a:t>
            </a:r>
            <a:endParaRPr lang="en-US" altLang="en-US"/>
          </a:p>
          <a:p>
            <a:pPr marL="0" indent="0" algn="ctr">
              <a:buNone/>
            </a:pPr>
            <a:r>
              <a:rPr lang="en-US" altLang="en-US"/>
              <a:t>  ↓	          ↓</a:t>
            </a:r>
            <a:endParaRPr lang="en-US" altLang="en-US"/>
          </a:p>
          <a:p>
            <a:pPr marL="0" indent="457200" algn="ctr">
              <a:buNone/>
            </a:pPr>
            <a:r>
              <a:rPr lang="en-US" altLang="en-US"/>
              <a:t>Fact      	New Customer</a:t>
            </a:r>
            <a:br>
              <a:rPr lang="en-US" altLang="en-US"/>
            </a:br>
            <a:r>
              <a:rPr lang="en-US" altLang="en-US"/>
              <a:t>   Load      	Processing</a:t>
            </a:r>
            <a:endParaRPr lang="en-US" altLang="en-US"/>
          </a:p>
        </p:txBody>
      </p:sp>
    </p:spTree>
    <p:custDataLst>
      <p:tags r:id="rId3"/>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custDataLst>
              <p:tags r:id="rId1"/>
            </p:custDataLst>
          </p:nvPr>
        </p:nvPicPr>
        <p:blipFill>
          <a:blip r:embed="rId2"/>
          <a:stretch>
            <a:fillRect/>
          </a:stretch>
        </p:blipFill>
        <p:spPr>
          <a:xfrm>
            <a:off x="608330" y="608330"/>
            <a:ext cx="8305800" cy="6031230"/>
          </a:xfrm>
          <a:prstGeom prst="rect">
            <a:avLst/>
          </a:prstGeom>
        </p:spPr>
      </p:pic>
    </p:spTree>
    <p:custDataLst>
      <p:tags r:id="rId3"/>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Lookup Caching</a:t>
            </a:r>
            <a:endParaRPr lang="en-US" altLang="en-US"/>
          </a:p>
        </p:txBody>
      </p:sp>
      <p:sp>
        <p:nvSpPr>
          <p:cNvPr id="3" name="Content Placeholder 2"/>
          <p:cNvSpPr>
            <a:spLocks noGrp="1"/>
          </p:cNvSpPr>
          <p:nvPr>
            <p:ph idx="1"/>
            <p:custDataLst>
              <p:tags r:id="rId2"/>
            </p:custDataLst>
          </p:nvPr>
        </p:nvSpPr>
        <p:spPr/>
        <p:txBody>
          <a:bodyPr>
            <a:normAutofit/>
          </a:bodyPr>
          <a:p>
            <a:r>
              <a:rPr lang="en-US" altLang="en-US"/>
              <a:t>SSIS Lookup can use caching to improve performance.</a:t>
            </a:r>
            <a:endParaRPr lang="en-US" altLang="en-US"/>
          </a:p>
          <a:p>
            <a:r>
              <a:rPr lang="en-US" altLang="en-US"/>
              <a:t>The reference data can be stored in memory so that repeated searches can be performed faster.</a:t>
            </a:r>
            <a:endParaRPr lang="en-US" altLang="en-US"/>
          </a:p>
          <a:p>
            <a:r>
              <a:rPr lang="en-US" altLang="en-US"/>
              <a:t>Common cache modes include:</a:t>
            </a:r>
            <a:endParaRPr lang="en-US" altLang="en-US"/>
          </a:p>
          <a:p>
            <a:r>
              <a:rPr lang="en-US" altLang="en-US"/>
              <a:t>Full Cache</a:t>
            </a:r>
            <a:endParaRPr lang="en-US" altLang="en-US"/>
          </a:p>
          <a:p>
            <a:pPr lvl="1"/>
            <a:r>
              <a:rPr lang="en-US" altLang="en-US"/>
              <a:t>The complete reference dataset is loaded into memory before the Lookup starts processing.</a:t>
            </a:r>
            <a:endParaRPr lang="en-US" altLang="en-US"/>
          </a:p>
          <a:p>
            <a:pPr lvl="1"/>
            <a:r>
              <a:rPr lang="en-US" altLang="en-US"/>
              <a:t>Advantage: Fast lookup operations.</a:t>
            </a:r>
            <a:endParaRPr lang="en-US" altLang="en-US"/>
          </a:p>
          <a:p>
            <a:pPr lvl="1"/>
            <a:r>
              <a:rPr lang="en-US" altLang="en-US"/>
              <a:t>Disadvantage: Requires more memory.</a:t>
            </a:r>
            <a:endParaRPr lang="en-US" altLang="en-US"/>
          </a:p>
          <a:p>
            <a:r>
              <a:rPr lang="en-US" altLang="en-US"/>
              <a:t>Partial Cache</a:t>
            </a:r>
            <a:endParaRPr lang="en-US" altLang="en-US"/>
          </a:p>
          <a:p>
            <a:pPr lvl="1"/>
            <a:r>
              <a:rPr lang="en-US" altLang="en-US"/>
              <a:t>Only required reference data is loaded into cache as it is requested.</a:t>
            </a:r>
            <a:endParaRPr lang="en-US" altLang="en-US"/>
          </a:p>
          <a:p>
            <a:pPr lvl="1"/>
            <a:r>
              <a:rPr lang="en-US" altLang="en-US"/>
              <a:t>Advantage: Can reduce memory usage compared with full cache.</a:t>
            </a:r>
            <a:endParaRPr lang="en-US" altLang="en-US"/>
          </a:p>
          <a:p>
            <a:endParaRPr lang="en-US" altLang="en-US"/>
          </a:p>
        </p:txBody>
      </p:sp>
    </p:spTree>
    <p:custDataLst>
      <p:tags r:id="rId3"/>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Lookup Caching</a:t>
            </a:r>
            <a:endParaRPr lang="en-US"/>
          </a:p>
        </p:txBody>
      </p:sp>
      <p:sp>
        <p:nvSpPr>
          <p:cNvPr id="3" name="Content Placeholder 2"/>
          <p:cNvSpPr>
            <a:spLocks noGrp="1"/>
          </p:cNvSpPr>
          <p:nvPr>
            <p:ph idx="1"/>
            <p:custDataLst>
              <p:tags r:id="rId2"/>
            </p:custDataLst>
          </p:nvPr>
        </p:nvSpPr>
        <p:spPr/>
        <p:txBody>
          <a:bodyPr/>
          <a:p>
            <a:r>
              <a:rPr lang="en-US" altLang="en-US"/>
              <a:t>No Cache</a:t>
            </a:r>
            <a:endParaRPr lang="en-US" altLang="en-US"/>
          </a:p>
          <a:p>
            <a:pPr lvl="1"/>
            <a:r>
              <a:rPr lang="en-US" altLang="en-US"/>
              <a:t>The reference data is not cached by the Lookup transformation.</a:t>
            </a:r>
            <a:endParaRPr lang="en-US" altLang="en-US"/>
          </a:p>
          <a:p>
            <a:pPr lvl="1"/>
            <a:r>
              <a:rPr lang="en-US" altLang="en-US"/>
              <a:t>The reference source is queried when required.</a:t>
            </a:r>
            <a:endParaRPr lang="en-US" altLang="en-US"/>
          </a:p>
        </p:txBody>
      </p:sp>
    </p:spTree>
    <p:custDataLst>
      <p:tags r:id="rId3"/>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IMP Properties</a:t>
            </a:r>
            <a:endParaRPr lang="en-US"/>
          </a:p>
        </p:txBody>
      </p:sp>
      <p:sp>
        <p:nvSpPr>
          <p:cNvPr id="3" name="Content Placeholder 2"/>
          <p:cNvSpPr>
            <a:spLocks noGrp="1"/>
          </p:cNvSpPr>
          <p:nvPr>
            <p:ph idx="1"/>
            <p:custDataLst>
              <p:tags r:id="rId2"/>
            </p:custDataLst>
          </p:nvPr>
        </p:nvSpPr>
        <p:spPr/>
        <p:txBody>
          <a:bodyPr>
            <a:normAutofit fontScale="90000"/>
          </a:bodyPr>
          <a:p>
            <a:r>
              <a:rPr lang="en-US" altLang="en-US"/>
              <a:t>Connection Manager</a:t>
            </a:r>
            <a:endParaRPr lang="en-US" altLang="en-US"/>
          </a:p>
          <a:p>
            <a:pPr lvl="1"/>
            <a:r>
              <a:rPr lang="en-US" altLang="en-US"/>
              <a:t>Lookup uses a connection to access the reference data.</a:t>
            </a:r>
            <a:endParaRPr lang="en-US" altLang="en-US"/>
          </a:p>
          <a:p>
            <a:pPr lvl="1"/>
            <a:r>
              <a:rPr lang="en-US" altLang="en-US"/>
              <a:t>The reference source can commonly be a database table or query.</a:t>
            </a:r>
            <a:endParaRPr lang="en-US" altLang="en-US"/>
          </a:p>
          <a:p>
            <a:pPr lvl="0"/>
            <a:r>
              <a:rPr lang="en-US" altLang="en-US"/>
              <a:t>Join / Matching Columns</a:t>
            </a:r>
            <a:endParaRPr lang="en-US" altLang="en-US"/>
          </a:p>
          <a:p>
            <a:pPr lvl="1"/>
            <a:r>
              <a:rPr lang="en-US" altLang="en-US"/>
              <a:t>Columns used to determine whether an input row matches a reference row.</a:t>
            </a:r>
            <a:endParaRPr lang="en-US" altLang="en-US"/>
          </a:p>
          <a:p>
            <a:pPr lvl="1"/>
            <a:r>
              <a:rPr lang="en-US" altLang="en-US"/>
              <a:t>Example:</a:t>
            </a:r>
            <a:endParaRPr lang="en-US" altLang="en-US"/>
          </a:p>
          <a:p>
            <a:pPr lvl="1"/>
            <a:r>
              <a:rPr lang="en-US" altLang="en-US"/>
              <a:t>Input.CustomerID = Reference.CustomerID</a:t>
            </a:r>
            <a:endParaRPr lang="en-US" altLang="en-US"/>
          </a:p>
          <a:p>
            <a:pPr lvl="1"/>
            <a:endParaRPr lang="en-US" altLang="en-US"/>
          </a:p>
          <a:p>
            <a:pPr lvl="0"/>
            <a:r>
              <a:rPr lang="en-US" altLang="en-US"/>
              <a:t>Return Columns</a:t>
            </a:r>
            <a:endParaRPr lang="en-US" altLang="en-US"/>
          </a:p>
          <a:p>
            <a:pPr lvl="1"/>
            <a:r>
              <a:rPr lang="en-US" altLang="en-US"/>
              <a:t>Columns obtained from the reference dataset.</a:t>
            </a:r>
            <a:endParaRPr lang="en-US" altLang="en-US"/>
          </a:p>
          <a:p>
            <a:pPr lvl="2"/>
            <a:r>
              <a:rPr lang="en-US" altLang="en-US"/>
              <a:t>Example:</a:t>
            </a:r>
            <a:endParaRPr lang="en-US" altLang="en-US"/>
          </a:p>
          <a:p>
            <a:pPr lvl="2"/>
            <a:r>
              <a:rPr lang="en-US" altLang="en-US"/>
              <a:t>CustomerKey</a:t>
            </a:r>
            <a:endParaRPr lang="en-US" altLang="en-US"/>
          </a:p>
          <a:p>
            <a:pPr lvl="2"/>
            <a:r>
              <a:rPr lang="en-US" altLang="en-US"/>
              <a:t>CustomerName</a:t>
            </a:r>
            <a:endParaRPr lang="en-US" altLang="en-US"/>
          </a:p>
        </p:txBody>
      </p:sp>
    </p:spTree>
    <p:custDataLst>
      <p:tags r:id="rId3"/>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en-US"/>
              <a:t>Thank You</a:t>
            </a:r>
            <a:endParaRPr lang="en-US"/>
          </a:p>
        </p:txBody>
      </p:sp>
      <p:sp>
        <p:nvSpPr>
          <p:cNvPr id="5" name="Subtitle 4"/>
          <p:cNvSpPr>
            <a:spLocks noGrp="1"/>
          </p:cNvSpPr>
          <p:nvPr>
            <p:ph type="subTitle" idx="1"/>
            <p:custDataLst>
              <p:tags r:id="rId2"/>
            </p:custDataLst>
          </p:nvPr>
        </p:nvSpPr>
        <p:spPr/>
        <p:txBody>
          <a:bodyPr/>
          <a:p>
            <a:r>
              <a:rPr lang="en-US"/>
              <a:t>Vraj Suratwala</a:t>
            </a:r>
            <a:endParaRPr lang="en-US"/>
          </a:p>
          <a:p>
            <a:r>
              <a:rPr lang="en-US"/>
              <a:t>Department of ICT, VNSGU</a:t>
            </a:r>
            <a:endParaRPr 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BEAUTIFY_FLAG" val="#wm#"/>
  <p:tag name="KSO_WM_TEMPLATE_CATEGORY" val="custom"/>
  <p:tag name="KSO_WM_TEMPLATE_INDEX" val="2020508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4.xml><?xml version="1.0" encoding="utf-8"?>
<p:tagLst xmlns:p="http://schemas.openxmlformats.org/presentationml/2006/main">
  <p:tag name="KSO_WM_BEAUTIFY_FLAG" val="#wm#"/>
  <p:tag name="KSO_WM_TEMPLATE_CATEGORY" val="custom"/>
  <p:tag name="KSO_WM_TEMPLATE_INDEX" val="2020508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BEAUTIFY_FLAG" val="#wm#"/>
  <p:tag name="KSO_WM_TEMPLATE_CATEGORY" val="custom"/>
  <p:tag name="KSO_WM_TEMPLATE_INDEX" val="2020508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p="http://schemas.openxmlformats.org/presentationml/2006/main">
  <p:tag name="KSO_WM_BEAUTIFY_FLAG" val="#wm#"/>
  <p:tag name="KSO_WM_TEMPLATE_CATEGORY" val="custom"/>
  <p:tag name="KSO_WM_TEMPLATE_INDEX" val="2020508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p="http://schemas.openxmlformats.org/presentationml/2006/main">
  <p:tag name="KSO_WM_BEAUTIFY_FLAG" val="#wm#"/>
  <p:tag name="KSO_WM_TEMPLATE_CATEGORY" val="custom"/>
  <p:tag name="KSO_WM_TEMPLATE_INDEX" val="2020508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p="http://schemas.openxmlformats.org/presentationml/2006/main">
  <p:tag name="KSO_WM_BEAUTIFY_FLAG" val="#wm#"/>
  <p:tag name="KSO_WM_TEMPLATE_CATEGORY" val="custom"/>
  <p:tag name="KSO_WM_TEMPLATE_INDEX" val="2020508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p="http://schemas.openxmlformats.org/presentationml/2006/main">
  <p:tag name="KSO_WM_BEAUTIFY_FLAG" val="#wm#"/>
  <p:tag name="KSO_WM_TEMPLATE_CATEGORY" val="custom"/>
  <p:tag name="KSO_WM_TEMPLATE_INDEX" val="2020508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1.xml><?xml version="1.0" encoding="utf-8"?>
<p:tagLst xmlns:p="http://schemas.openxmlformats.org/presentationml/2006/main">
  <p:tag name="KSO_WM_BEAUTIFY_FLAG" val="#wm#"/>
  <p:tag name="KSO_WM_TEMPLATE_CATEGORY" val="custom"/>
  <p:tag name="KSO_WM_TEMPLATE_INDEX" val="2020508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p="http://schemas.openxmlformats.org/presentationml/2006/main">
  <p:tag name="KSO_WM_BEAUTIFY_FLAG" val="#wm#"/>
  <p:tag name="KSO_WM_TEMPLATE_CATEGORY" val="custom"/>
  <p:tag name="KSO_WM_TEMPLATE_INDEX" val="2020508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xml><?xml version="1.0" encoding="utf-8"?>
<p:tagLst xmlns:p="http://schemas.openxmlformats.org/presentationml/2006/main">
  <p:tag name="KSO_WM_BEAUTIFY_FLAG" val="#wm#"/>
  <p:tag name="KSO_WM_TEMPLATE_CATEGORY" val="custom"/>
  <p:tag name="KSO_WM_TEMPLATE_INDEX" val="2020508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0.xml><?xml version="1.0" encoding="utf-8"?>
<p:tagLst xmlns:p="http://schemas.openxmlformats.org/presentationml/2006/main">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p="http://schemas.openxmlformats.org/presentationml/2006/main">
  <p:tag name="KSO_WM_BEAUTIFY_FLAG" val="#wm#"/>
  <p:tag name="KSO_WM_TEMPLATE_CATEGORY" val="custom"/>
  <p:tag name="KSO_WM_TEMPLATE_INDEX" val="2020508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p="http://schemas.openxmlformats.org/presentationml/2006/main">
  <p:tag name="KSO_WM_BEAUTIFY_FLAG" val="#wm#"/>
  <p:tag name="KSO_WM_TEMPLATE_CATEGORY" val="custom"/>
  <p:tag name="KSO_WM_TEMPLATE_INDEX" val="2020508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p="http://schemas.openxmlformats.org/presentationml/2006/main">
  <p:tag name="KSO_WM_BEAUTIFY_FLAG" val="#wm#"/>
  <p:tag name="KSO_WM_TEMPLATE_CATEGORY" val="custom"/>
  <p:tag name="KSO_WM_TEMPLATE_INDEX" val="2020508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xml><?xml version="1.0" encoding="utf-8"?>
<p:tagLst xmlns:p="http://schemas.openxmlformats.org/presentationml/2006/main">
  <p:tag name="KSO_WM_BEAUTIFY_FLAG" val="#wm#"/>
  <p:tag name="KSO_WM_TEMPLATE_CATEGORY" val="custom"/>
  <p:tag name="KSO_WM_TEMPLATE_INDEX" val="2020508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3.xml><?xml version="1.0" encoding="utf-8"?>
<p:tagLst xmlns:p="http://schemas.openxmlformats.org/presentationml/2006/main">
  <p:tag name="KSO_WM_BEAUTIFY_FLAG" val="#wm#"/>
  <p:tag name="KSO_WM_TEMPLATE_CATEGORY" val="custom"/>
  <p:tag name="KSO_WM_TEMPLATE_INDEX" val="2020508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6.xml><?xml version="1.0" encoding="utf-8"?>
<p:tagLst xmlns:p="http://schemas.openxmlformats.org/presentationml/2006/main">
  <p:tag name="KSO_WM_BEAUTIFY_FLAG" val="#wm#"/>
  <p:tag name="KSO_WM_TEMPLATE_CATEGORY" val="custom"/>
  <p:tag name="KSO_WM_TEMPLATE_INDEX" val="2020508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p="http://schemas.openxmlformats.org/presentationml/2006/main">
  <p:tag name="KSO_WM_BEAUTIFY_FLAG" val="#wm#"/>
  <p:tag name="KSO_WM_TEMPLATE_CATEGORY" val="custom"/>
  <p:tag name="KSO_WM_TEMPLATE_INDEX" val="2020508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p="http://schemas.openxmlformats.org/presentationml/2006/main">
  <p:tag name="KSO_WM_BEAUTIFY_FLAG" val="#wm#"/>
  <p:tag name="KSO_WM_TEMPLATE_CATEGORY" val="custom"/>
  <p:tag name="KSO_WM_TEMPLATE_INDEX" val="2020508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5.xml><?xml version="1.0" encoding="utf-8"?>
<p:tagLst xmlns:p="http://schemas.openxmlformats.org/presentationml/2006/main">
  <p:tag name="KSO_WM_BEAUTIFY_FLAG" val="#wm#"/>
  <p:tag name="KSO_WM_TEMPLATE_CATEGORY" val="custom"/>
  <p:tag name="KSO_WM_TEMPLATE_INDEX" val="2020508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7.xml><?xml version="1.0" encoding="utf-8"?>
<p:tagLst xmlns:p="http://schemas.openxmlformats.org/presentationml/2006/main">
  <p:tag name="KSO_WM_BEAUTIFY_FLAG" val="#wm#"/>
  <p:tag name="KSO_WM_TEMPLATE_CATEGORY" val="custom"/>
  <p:tag name="KSO_WM_TEMPLATE_INDEX" val="2020508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9.xml><?xml version="1.0" encoding="utf-8"?>
<p:tagLst xmlns:p="http://schemas.openxmlformats.org/presentationml/2006/main">
  <p:tag name="KSO_WM_BEAUTIFY_FLAG" val="#wm#"/>
  <p:tag name="KSO_WM_TEMPLATE_CATEGORY" val="custom"/>
  <p:tag name="KSO_WM_TEMPLATE_INDEX" val="2020508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1.xml><?xml version="1.0" encoding="utf-8"?>
<p:tagLst xmlns:p="http://schemas.openxmlformats.org/presentationml/2006/main">
  <p:tag name="KSO_WM_BEAUTIFY_FLAG" val="#wm#"/>
  <p:tag name="KSO_WM_TEMPLATE_CATEGORY" val="custom"/>
  <p:tag name="KSO_WM_TEMPLATE_INDEX" val="2020508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4.xml><?xml version="1.0" encoding="utf-8"?>
<p:tagLst xmlns:p="http://schemas.openxmlformats.org/presentationml/2006/main">
  <p:tag name="KSO_WM_BEAUTIFY_FLAG" val="#wm#"/>
  <p:tag name="KSO_WM_TEMPLATE_CATEGORY" val="custom"/>
  <p:tag name="KSO_WM_TEMPLATE_INDEX" val="2020508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7.xml><?xml version="1.0" encoding="utf-8"?>
<p:tagLst xmlns:p="http://schemas.openxmlformats.org/presentationml/2006/main">
  <p:tag name="KSO_WM_BEAUTIFY_FLAG" val="#wm#"/>
  <p:tag name="KSO_WM_TEMPLATE_CATEGORY" val="custom"/>
  <p:tag name="KSO_WM_TEMPLATE_INDEX" val="2020508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0.xml><?xml version="1.0" encoding="utf-8"?>
<p:tagLst xmlns:p="http://schemas.openxmlformats.org/presentationml/2006/main">
  <p:tag name="KSO_WM_BEAUTIFY_FLAG" val="#wm#"/>
  <p:tag name="KSO_WM_TEMPLATE_CATEGORY" val="custom"/>
  <p:tag name="KSO_WM_TEMPLATE_INDEX" val="2020508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3.xml><?xml version="1.0" encoding="utf-8"?>
<p:tagLst xmlns:p="http://schemas.openxmlformats.org/presentationml/2006/main">
  <p:tag name="KSO_WM_BEAUTIFY_FLAG" val="#wm#"/>
  <p:tag name="KSO_WM_TEMPLATE_CATEGORY" val="custom"/>
  <p:tag name="KSO_WM_TEMPLATE_INDEX" val="2020508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6.xml><?xml version="1.0" encoding="utf-8"?>
<p:tagLst xmlns:p="http://schemas.openxmlformats.org/presentationml/2006/main">
  <p:tag name="KSO_WM_BEAUTIFY_FLAG" val="#wm#"/>
  <p:tag name="KSO_WM_TEMPLATE_CATEGORY" val="custom"/>
  <p:tag name="KSO_WM_TEMPLATE_INDEX" val="2020508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9.xml><?xml version="1.0" encoding="utf-8"?>
<p:tagLst xmlns:p="http://schemas.openxmlformats.org/presentationml/2006/main">
  <p:tag name="KSO_WM_BEAUTIFY_FLAG" val="#wm#"/>
  <p:tag name="KSO_WM_TEMPLATE_CATEGORY" val="custom"/>
  <p:tag name="KSO_WM_TEMPLATE_INDEX" val="2020508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2.xml><?xml version="1.0" encoding="utf-8"?>
<p:tagLst xmlns:p="http://schemas.openxmlformats.org/presentationml/2006/main">
  <p:tag name="KSO_WM_BEAUTIFY_FLAG" val="#wm#"/>
  <p:tag name="KSO_WM_TEMPLATE_CATEGORY" val="custom"/>
  <p:tag name="KSO_WM_TEMPLATE_INDEX" val="2020508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5.xml><?xml version="1.0" encoding="utf-8"?>
<p:tagLst xmlns:p="http://schemas.openxmlformats.org/presentationml/2006/main">
  <p:tag name="KSO_WM_BEAUTIFY_FLAG" val="#wm#"/>
  <p:tag name="KSO_WM_TEMPLATE_CATEGORY" val="custom"/>
  <p:tag name="KSO_WM_TEMPLATE_INDEX" val="2020508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8.xml><?xml version="1.0" encoding="utf-8"?>
<p:tagLst xmlns:p="http://schemas.openxmlformats.org/presentationml/2006/main">
  <p:tag name="KSO_WM_BEAUTIFY_FLAG" val="#wm#"/>
  <p:tag name="KSO_WM_TEMPLATE_CATEGORY" val="custom"/>
  <p:tag name="KSO_WM_TEMPLATE_INDEX" val="2020508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1.xml><?xml version="1.0" encoding="utf-8"?>
<p:tagLst xmlns:p="http://schemas.openxmlformats.org/presentationml/2006/main">
  <p:tag name="KSO_WM_BEAUTIFY_FLAG" val="#wm#"/>
  <p:tag name="KSO_WM_TEMPLATE_CATEGORY" val="custom"/>
  <p:tag name="KSO_WM_TEMPLATE_INDEX" val="2020508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4.xml><?xml version="1.0" encoding="utf-8"?>
<p:tagLst xmlns:p="http://schemas.openxmlformats.org/presentationml/2006/main">
  <p:tag name="KSO_WM_BEAUTIFY_FLAG" val="#wm#"/>
  <p:tag name="KSO_WM_TEMPLATE_CATEGORY" val="custom"/>
  <p:tag name="KSO_WM_TEMPLATE_INDEX" val="2020508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7.xml><?xml version="1.0" encoding="utf-8"?>
<p:tagLst xmlns:p="http://schemas.openxmlformats.org/presentationml/2006/main">
  <p:tag name="KSO_WM_BEAUTIFY_FLAG" val="#wm#"/>
  <p:tag name="KSO_WM_TEMPLATE_CATEGORY" val="custom"/>
  <p:tag name="KSO_WM_TEMPLATE_INDEX" val="2020508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0.xml><?xml version="1.0" encoding="utf-8"?>
<p:tagLst xmlns:p="http://schemas.openxmlformats.org/presentationml/2006/main">
  <p:tag name="KSO_WM_BEAUTIFY_FLAG" val="#wm#"/>
  <p:tag name="KSO_WM_TEMPLATE_CATEGORY" val="custom"/>
  <p:tag name="KSO_WM_TEMPLATE_INDEX" val="2020508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3.xml><?xml version="1.0" encoding="utf-8"?>
<p:tagLst xmlns:p="http://schemas.openxmlformats.org/presentationml/2006/main">
  <p:tag name="KSO_WM_BEAUTIFY_FLAG" val="#wm#"/>
  <p:tag name="KSO_WM_TEMPLATE_CATEGORY" val="custom"/>
  <p:tag name="KSO_WM_TEMPLATE_INDEX" val="2020508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6.xml><?xml version="1.0" encoding="utf-8"?>
<p:tagLst xmlns:p="http://schemas.openxmlformats.org/presentationml/2006/main">
  <p:tag name="KSO_WM_BEAUTIFY_FLAG" val="#wm#"/>
  <p:tag name="KSO_WM_TEMPLATE_CATEGORY" val="custom"/>
  <p:tag name="KSO_WM_TEMPLATE_INDEX" val="2020508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9.xml><?xml version="1.0" encoding="utf-8"?>
<p:tagLst xmlns:p="http://schemas.openxmlformats.org/presentationml/2006/main">
  <p:tag name="KSO_WM_BEAUTIFY_FLAG" val="#wm#"/>
  <p:tag name="KSO_WM_TEMPLATE_CATEGORY" val="custom"/>
  <p:tag name="KSO_WM_TEMPLATE_INDEX" val="20205081"/>
</p:tagLst>
</file>

<file path=ppt/tags/tag200.xml><?xml version="1.0" encoding="utf-8"?>
<p:tagLst xmlns:p="http://schemas.openxmlformats.org/presentationml/2006/main">
  <p:tag name="KSO_WM_BEAUTIFY_FLAG" val="#wm#"/>
  <p:tag name="KSO_WM_TEMPLATE_CATEGORY" val="custom"/>
  <p:tag name="KSO_WM_TEMPLATE_INDEX" val="2020508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3.xml><?xml version="1.0" encoding="utf-8"?>
<p:tagLst xmlns:p="http://schemas.openxmlformats.org/presentationml/2006/main">
  <p:tag name="KSO_WM_BEAUTIFY_FLAG" val="#wm#"/>
  <p:tag name="KSO_WM_TEMPLATE_CATEGORY" val="custom"/>
  <p:tag name="KSO_WM_TEMPLATE_INDEX" val="2020508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6.xml><?xml version="1.0" encoding="utf-8"?>
<p:tagLst xmlns:p="http://schemas.openxmlformats.org/presentationml/2006/main">
  <p:tag name="KSO_WM_BEAUTIFY_FLAG" val="#wm#"/>
  <p:tag name="KSO_WM_TEMPLATE_CATEGORY" val="custom"/>
  <p:tag name="KSO_WM_TEMPLATE_INDEX" val="2020508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9.xml><?xml version="1.0" encoding="utf-8"?>
<p:tagLst xmlns:p="http://schemas.openxmlformats.org/presentationml/2006/main">
  <p:tag name="KSO_WM_BEAUTIFY_FLAG" val="#wm#"/>
  <p:tag name="KSO_WM_TEMPLATE_CATEGORY" val="custom"/>
  <p:tag name="KSO_WM_TEMPLATE_INDEX" val="2020508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2.xml><?xml version="1.0" encoding="utf-8"?>
<p:tagLst xmlns:p="http://schemas.openxmlformats.org/presentationml/2006/main">
  <p:tag name="KSO_WM_BEAUTIFY_FLAG" val="#wm#"/>
  <p:tag name="KSO_WM_TEMPLATE_CATEGORY" val="custom"/>
  <p:tag name="KSO_WM_TEMPLATE_INDEX" val="2020508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5.xml><?xml version="1.0" encoding="utf-8"?>
<p:tagLst xmlns:p="http://schemas.openxmlformats.org/presentationml/2006/main">
  <p:tag name="KSO_WM_BEAUTIFY_FLAG" val="#wm#"/>
  <p:tag name="KSO_WM_TEMPLATE_CATEGORY" val="custom"/>
  <p:tag name="KSO_WM_TEMPLATE_INDEX" val="2020508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8.xml><?xml version="1.0" encoding="utf-8"?>
<p:tagLst xmlns:p="http://schemas.openxmlformats.org/presentationml/2006/main">
  <p:tag name="KSO_WM_BEAUTIFY_FLAG" val="#wm#"/>
  <p:tag name="KSO_WM_TEMPLATE_CATEGORY" val="custom"/>
  <p:tag name="KSO_WM_TEMPLATE_INDEX" val="2020508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1.xml><?xml version="1.0" encoding="utf-8"?>
<p:tagLst xmlns:p="http://schemas.openxmlformats.org/presentationml/2006/main">
  <p:tag name="KSO_WM_BEAUTIFY_FLAG" val="#wm#"/>
  <p:tag name="KSO_WM_TEMPLATE_CATEGORY" val="custom"/>
  <p:tag name="KSO_WM_TEMPLATE_INDEX" val="2020508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4.xml><?xml version="1.0" encoding="utf-8"?>
<p:tagLst xmlns:p="http://schemas.openxmlformats.org/presentationml/2006/main">
  <p:tag name="KSO_WM_BEAUTIFY_FLAG" val="#wm#"/>
  <p:tag name="KSO_WM_TEMPLATE_CATEGORY" val="custom"/>
  <p:tag name="KSO_WM_TEMPLATE_INDEX" val="2020508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7.xml><?xml version="1.0" encoding="utf-8"?>
<p:tagLst xmlns:p="http://schemas.openxmlformats.org/presentationml/2006/main">
  <p:tag name="KSO_WM_BEAUTIFY_FLAG" val="#wm#"/>
  <p:tag name="KSO_WM_TEMPLATE_CATEGORY" val="custom"/>
  <p:tag name="KSO_WM_TEMPLATE_INDEX" val="2020508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0.xml><?xml version="1.0" encoding="utf-8"?>
<p:tagLst xmlns:p="http://schemas.openxmlformats.org/presentationml/2006/main">
  <p:tag name="KSO_WM_BEAUTIFY_FLAG" val="#wm#"/>
  <p:tag name="KSO_WM_TEMPLATE_CATEGORY" val="custom"/>
  <p:tag name="KSO_WM_TEMPLATE_INDEX" val="2020508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3.xml><?xml version="1.0" encoding="utf-8"?>
<p:tagLst xmlns:p="http://schemas.openxmlformats.org/presentationml/2006/main">
  <p:tag name="KSO_WM_BEAUTIFY_FLAG" val="#wm#"/>
  <p:tag name="KSO_WM_TEMPLATE_CATEGORY" val="custom"/>
  <p:tag name="KSO_WM_TEMPLATE_INDEX" val="2020508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6.xml><?xml version="1.0" encoding="utf-8"?>
<p:tagLst xmlns:p="http://schemas.openxmlformats.org/presentationml/2006/main">
  <p:tag name="KSO_WM_BEAUTIFY_FLAG" val="#wm#"/>
  <p:tag name="KSO_WM_TEMPLATE_CATEGORY" val="custom"/>
  <p:tag name="KSO_WM_TEMPLATE_INDEX" val="2020508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9.xml><?xml version="1.0" encoding="utf-8"?>
<p:tagLst xmlns:p="http://schemas.openxmlformats.org/presentationml/2006/main">
  <p:tag name="KSO_WM_BEAUTIFY_FLAG" val="#wm#"/>
  <p:tag name="KSO_WM_TEMPLATE_CATEGORY" val="custom"/>
  <p:tag name="KSO_WM_TEMPLATE_INDEX" val="2020508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2.xml><?xml version="1.0" encoding="utf-8"?>
<p:tagLst xmlns:p="http://schemas.openxmlformats.org/presentationml/2006/main">
  <p:tag name="KSO_WM_BEAUTIFY_FLAG" val="#wm#"/>
  <p:tag name="KSO_WM_TEMPLATE_CATEGORY" val="custom"/>
  <p:tag name="KSO_WM_TEMPLATE_INDEX" val="2020508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45.xml><?xml version="1.0" encoding="utf-8"?>
<p:tagLst xmlns:p="http://schemas.openxmlformats.org/presentationml/2006/main">
  <p:tag name="KSO_WM_BEAUTIFY_FLAG" val="#wm#"/>
  <p:tag name="KSO_WM_TEMPLATE_CATEGORY" val="custom"/>
  <p:tag name="KSO_WM_TEMPLATE_INDEX" val="2020508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8.xml><?xml version="1.0" encoding="utf-8"?>
<p:tagLst xmlns:p="http://schemas.openxmlformats.org/presentationml/2006/main">
  <p:tag name="KSO_WM_BEAUTIFY_FLAG" val="#wm#"/>
  <p:tag name="KSO_WM_TEMPLATE_CATEGORY" val="custom"/>
  <p:tag name="KSO_WM_TEMPLATE_INDEX" val="2020508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1.xml><?xml version="1.0" encoding="utf-8"?>
<p:tagLst xmlns:p="http://schemas.openxmlformats.org/presentationml/2006/main">
  <p:tag name="KSO_WM_BEAUTIFY_FLAG" val="#wm#"/>
  <p:tag name="KSO_WM_TEMPLATE_CATEGORY" val="custom"/>
  <p:tag name="KSO_WM_TEMPLATE_INDEX" val="20205081"/>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3.xml><?xml version="1.0" encoding="utf-8"?>
<p:tagLst xmlns:p="http://schemas.openxmlformats.org/presentationml/2006/main">
  <p:tag name="KSO_WM_BEAUTIFY_FLAG" val="#wm#"/>
  <p:tag name="KSO_WM_TEMPLATE_CATEGORY" val="custom"/>
  <p:tag name="KSO_WM_TEMPLATE_INDEX" val="2020508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5.xml><?xml version="1.0" encoding="utf-8"?>
<p:tagLst xmlns:p="http://schemas.openxmlformats.org/presentationml/2006/main">
  <p:tag name="KSO_WM_BEAUTIFY_FLAG" val="#wm#"/>
  <p:tag name="KSO_WM_TEMPLATE_CATEGORY" val="custom"/>
  <p:tag name="KSO_WM_TEMPLATE_INDEX" val="2020508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8.xml><?xml version="1.0" encoding="utf-8"?>
<p:tagLst xmlns:p="http://schemas.openxmlformats.org/presentationml/2006/main">
  <p:tag name="KSO_WM_BEAUTIFY_FLAG" val="#wm#"/>
  <p:tag name="KSO_WM_TEMPLATE_CATEGORY" val="custom"/>
  <p:tag name="KSO_WM_TEMPLATE_INDEX" val="2020508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0.xml><?xml version="1.0" encoding="utf-8"?>
<p:tagLst xmlns:p="http://schemas.openxmlformats.org/presentationml/2006/main">
  <p:tag name="KSO_WM_BEAUTIFY_FLAG" val="#wm#"/>
  <p:tag name="KSO_WM_TEMPLATE_CATEGORY" val="custom"/>
  <p:tag name="KSO_WM_TEMPLATE_INDEX" val="20205081"/>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2.xml><?xml version="1.0" encoding="utf-8"?>
<p:tagLst xmlns:p="http://schemas.openxmlformats.org/presentationml/2006/main">
  <p:tag name="KSO_WM_BEAUTIFY_FLAG" val="#wm#"/>
  <p:tag name="KSO_WM_TEMPLATE_CATEGORY" val="custom"/>
  <p:tag name="KSO_WM_TEMPLATE_INDEX" val="20205081"/>
</p:tagLst>
</file>

<file path=ppt/tags/tag263.xml><?xml version="1.0" encoding="utf-8"?>
<p:tagLst xmlns:p="http://schemas.openxmlformats.org/presentationml/2006/main">
  <p:tag name="KSO_WM_BEAUTIFY_FLAG" val="#wm#"/>
  <p:tag name="KSO_WM_TEMPLATE_CATEGORY" val="custom"/>
  <p:tag name="KSO_WM_TEMPLATE_INDEX" val="20205081"/>
</p:tagLst>
</file>

<file path=ppt/tags/tag264.xml><?xml version="1.0" encoding="utf-8"?>
<p:tagLst xmlns:p="http://schemas.openxmlformats.org/presentationml/2006/main">
  <p:tag name="KSO_WM_BEAUTIFY_FLAG" val="#wm#"/>
  <p:tag name="KSO_WM_TEMPLATE_CATEGORY" val="custom"/>
  <p:tag name="KSO_WM_TEMPLATE_INDEX" val="20205081"/>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7.xml><?xml version="1.0" encoding="utf-8"?>
<p:tagLst xmlns:p="http://schemas.openxmlformats.org/presentationml/2006/main">
  <p:tag name="KSO_WM_BEAUTIFY_FLAG" val="#wm#"/>
  <p:tag name="KSO_WM_TEMPLATE_CATEGORY" val="custom"/>
  <p:tag name="KSO_WM_TEMPLATE_INDEX" val="2020508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0.xml><?xml version="1.0" encoding="utf-8"?>
<p:tagLst xmlns:p="http://schemas.openxmlformats.org/presentationml/2006/main">
  <p:tag name="KSO_WM_BEAUTIFY_FLAG" val="#wm#"/>
  <p:tag name="KSO_WM_TEMPLATE_CATEGORY" val="custom"/>
  <p:tag name="KSO_WM_TEMPLATE_INDEX" val="2020508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2.xml><?xml version="1.0" encoding="utf-8"?>
<p:tagLst xmlns:p="http://schemas.openxmlformats.org/presentationml/2006/main">
  <p:tag name="KSO_WM_BEAUTIFY_FLAG" val="#wm#"/>
  <p:tag name="KSO_WM_TEMPLATE_CATEGORY" val="custom"/>
  <p:tag name="KSO_WM_TEMPLATE_INDEX" val="2020508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5.xml><?xml version="1.0" encoding="utf-8"?>
<p:tagLst xmlns:p="http://schemas.openxmlformats.org/presentationml/2006/main">
  <p:tag name="KSO_WM_BEAUTIFY_FLAG" val="#wm#"/>
  <p:tag name="KSO_WM_TEMPLATE_CATEGORY" val="custom"/>
  <p:tag name="KSO_WM_TEMPLATE_INDEX" val="2020508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8.xml><?xml version="1.0" encoding="utf-8"?>
<p:tagLst xmlns:p="http://schemas.openxmlformats.org/presentationml/2006/main">
  <p:tag name="KSO_WM_BEAUTIFY_FLAG" val="#wm#"/>
  <p:tag name="KSO_WM_TEMPLATE_CATEGORY" val="custom"/>
  <p:tag name="KSO_WM_TEMPLATE_INDEX" val="20205081"/>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1.xml><?xml version="1.0" encoding="utf-8"?>
<p:tagLst xmlns:p="http://schemas.openxmlformats.org/presentationml/2006/main">
  <p:tag name="KSO_WM_BEAUTIFY_FLAG" val="#wm#"/>
  <p:tag name="KSO_WM_TEMPLATE_CATEGORY" val="custom"/>
  <p:tag name="KSO_WM_TEMPLATE_INDEX" val="20205081"/>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84.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10517</Words>
  <Application>WPS Presentation</Application>
  <PresentationFormat>Widescreen</PresentationFormat>
  <Paragraphs>429</Paragraphs>
  <Slides>80</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80</vt:i4>
      </vt:variant>
    </vt:vector>
  </HeadingPairs>
  <TitlesOfParts>
    <vt:vector size="95" baseType="lpstr">
      <vt:lpstr>Arial</vt:lpstr>
      <vt:lpstr>SimSun</vt:lpstr>
      <vt:lpstr>Wingdings</vt:lpstr>
      <vt:lpstr>Wingdings</vt:lpstr>
      <vt:lpstr>Microsoft YaHei</vt:lpstr>
      <vt:lpstr>汉仪旗黑</vt:lpstr>
      <vt:lpstr>Arial Unicode MS</vt:lpstr>
      <vt:lpstr>Calibri</vt:lpstr>
      <vt:lpstr>Helvetica Neue</vt:lpstr>
      <vt:lpstr>Arial Bold</vt:lpstr>
      <vt:lpstr>宋体-简</vt:lpstr>
      <vt:lpstr>-webkit-standard</vt:lpstr>
      <vt:lpstr>Thonburi</vt:lpstr>
      <vt:lpstr>Apple Color Emoji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Transformation using SSIS</dc:title>
  <dc:creator>suratwalavraj</dc:creator>
  <cp:lastModifiedBy>Vraj Suratwala</cp:lastModifiedBy>
  <cp:revision>29</cp:revision>
  <dcterms:created xsi:type="dcterms:W3CDTF">2026-09-02T11:27:50Z</dcterms:created>
  <dcterms:modified xsi:type="dcterms:W3CDTF">2026-09-02T11:27:50Z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1033-12.1.26015.26015</vt:lpwstr>
  </property>
  <property fmtid="{D5CDD505-2E9C-101B-9397-08002B2CF9AE}" pid="3" name="ICV">
    <vt:lpwstr>71A2EA27AC8ADC03C1F3976A6C734364_41</vt:lpwstr>
  </property>
</Properties>
</file>