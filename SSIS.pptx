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2" Type="http://schemas.openxmlformats.org/officeDocument/2006/relationships/tableStyles" Target="tableStyles.xml"/><Relationship Id="rId91" Type="http://schemas.openxmlformats.org/officeDocument/2006/relationships/viewProps" Target="viewProps.xml"/><Relationship Id="rId90" Type="http://schemas.openxmlformats.org/officeDocument/2006/relationships/presProps" Target="presProps.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notesMaster" Target="notesMasters/notesMaster1.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SSIS</a:t>
            </a:r>
            <a:endParaRPr lang="en-US" dirty="0"/>
          </a:p>
        </p:txBody>
      </p:sp>
      <p:sp>
        <p:nvSpPr>
          <p:cNvPr id="3" name="Subtitle 2"/>
          <p:cNvSpPr>
            <a:spLocks noGrp="1"/>
          </p:cNvSpPr>
          <p:nvPr>
            <p:ph type="subTitle" idx="1"/>
          </p:nvPr>
        </p:nvSpPr>
        <p:spPr/>
        <p:txBody>
          <a:bodyPr/>
          <a:lstStyle/>
          <a:p>
            <a:r>
              <a:rPr lang="en-US"/>
              <a:t>Vraj Suratwala</a:t>
            </a:r>
            <a:endParaRPr lang="en-US"/>
          </a:p>
          <a:p>
            <a:r>
              <a:rPr lang="en-US"/>
              <a:t>Department of ICT, VNSGU</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16840"/>
            <a:ext cx="10515600" cy="1325563"/>
          </a:xfrm>
        </p:spPr>
        <p:txBody>
          <a:bodyPr/>
          <a:p>
            <a:r>
              <a:rPr lang="en-US"/>
              <a:t>What is SSIS ?</a:t>
            </a:r>
            <a:endParaRPr lang="en-US"/>
          </a:p>
        </p:txBody>
      </p:sp>
      <p:sp>
        <p:nvSpPr>
          <p:cNvPr id="3" name="Content Placeholder 2"/>
          <p:cNvSpPr>
            <a:spLocks noGrp="1"/>
          </p:cNvSpPr>
          <p:nvPr>
            <p:ph idx="1"/>
          </p:nvPr>
        </p:nvSpPr>
        <p:spPr>
          <a:xfrm>
            <a:off x="838200" y="1222375"/>
            <a:ext cx="11222990" cy="5222875"/>
          </a:xfrm>
        </p:spPr>
        <p:txBody>
          <a:bodyPr/>
          <a:p>
            <a:r>
              <a:rPr lang="en-US"/>
              <a:t>A software that can be used to execute a wide range of data migration tasks.</a:t>
            </a:r>
            <a:endParaRPr lang="en-US"/>
          </a:p>
          <a:p>
            <a:r>
              <a:rPr lang="en-US"/>
              <a:t>SSIS is a fast &amp; flexible data warehousinh tool used for data ETL like cleaning, aggregation, merging data etc...</a:t>
            </a:r>
            <a:endParaRPr lang="en-US"/>
          </a:p>
          <a:p>
            <a:r>
              <a:rPr lang="en-US"/>
              <a:t>SSIS can extract data from a wide variety od sources like SQL Server databases, Excel files, Oracle and DB2 databases, etc...</a:t>
            </a:r>
            <a:endParaRPr lang="en-US"/>
          </a:p>
          <a:p>
            <a:r>
              <a:rPr lang="en-US"/>
              <a:t>SSIS also includes graphical tool &amp; Wizards for performing workflow functions loke sending email, messages , FTP Operations, data Sources and Destinations.</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73990"/>
            <a:ext cx="10515600" cy="1325563"/>
          </a:xfrm>
        </p:spPr>
        <p:txBody>
          <a:bodyPr/>
          <a:p>
            <a:r>
              <a:rPr lang="en-US"/>
              <a:t>Purpose behind using SSIS</a:t>
            </a:r>
            <a:endParaRPr lang="en-US"/>
          </a:p>
        </p:txBody>
      </p:sp>
      <p:sp>
        <p:nvSpPr>
          <p:cNvPr id="3" name="Content Placeholder 2"/>
          <p:cNvSpPr>
            <a:spLocks noGrp="1"/>
          </p:cNvSpPr>
          <p:nvPr>
            <p:ph idx="1"/>
          </p:nvPr>
        </p:nvSpPr>
        <p:spPr>
          <a:xfrm>
            <a:off x="838200" y="1193800"/>
            <a:ext cx="10965180" cy="5376545"/>
          </a:xfrm>
        </p:spPr>
        <p:txBody>
          <a:bodyPr/>
          <a:p>
            <a:r>
              <a:rPr lang="en-US"/>
              <a:t>merge data from various resources.</a:t>
            </a:r>
            <a:endParaRPr lang="en-US"/>
          </a:p>
          <a:p>
            <a:r>
              <a:rPr lang="en-US"/>
              <a:t>Automated Administrative Functions and Data Loading</a:t>
            </a:r>
            <a:endParaRPr lang="en-US"/>
          </a:p>
          <a:p>
            <a:r>
              <a:rPr lang="en-US"/>
              <a:t>Populates Data Marts &amp; Data Warehouses.</a:t>
            </a:r>
            <a:endParaRPr lang="en-US"/>
          </a:p>
          <a:p>
            <a:r>
              <a:rPr lang="en-US"/>
              <a:t>Hepls you to clean and having standardize data</a:t>
            </a:r>
            <a:endParaRPr lang="en-US"/>
          </a:p>
          <a:p>
            <a:r>
              <a:rPr lang="en-US"/>
              <a:t>Building BI into a Data Transformation Process</a:t>
            </a:r>
            <a:endParaRPr lang="en-US"/>
          </a:p>
          <a:p>
            <a:r>
              <a:rPr lang="en-US"/>
              <a:t>Easy to Use UI rather then Writing Large Programs.</a:t>
            </a:r>
            <a:endParaRPr lang="en-US"/>
          </a:p>
          <a:p>
            <a:r>
              <a:rPr lang="en-US"/>
              <a:t>Analysing and Monitoring Data Changes</a:t>
            </a:r>
            <a:endParaRPr lang="en-US"/>
          </a:p>
          <a:p>
            <a:r>
              <a:rPr lang="en-US"/>
              <a:t>Co-ordinating data Maintainance , processing and cleaning as well.</a:t>
            </a:r>
            <a:endParaRPr lang="en-US"/>
          </a:p>
          <a:p>
            <a:r>
              <a:rPr lang="en-US"/>
              <a:t>SSIS Eliminating the need of harcode programmers.</a:t>
            </a:r>
            <a:endParaRPr lang="en-US"/>
          </a:p>
          <a:p>
            <a:r>
              <a:rPr lang="en-US"/>
              <a:t>SSIS offers robust error and event handling.</a:t>
            </a:r>
            <a:endParaRPr lang="en-US"/>
          </a:p>
          <a:p>
            <a:endParaRPr lang="en-US"/>
          </a:p>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History of SSIS</a:t>
            </a:r>
            <a:endParaRPr lang="en-US"/>
          </a:p>
        </p:txBody>
      </p:sp>
      <p:sp>
        <p:nvSpPr>
          <p:cNvPr id="3" name="Content Placeholder 2"/>
          <p:cNvSpPr>
            <a:spLocks noGrp="1"/>
          </p:cNvSpPr>
          <p:nvPr>
            <p:ph idx="1"/>
          </p:nvPr>
        </p:nvSpPr>
        <p:spPr>
          <a:xfrm>
            <a:off x="838200" y="1548130"/>
            <a:ext cx="10515600" cy="4629150"/>
          </a:xfrm>
        </p:spPr>
        <p:txBody>
          <a:bodyPr>
            <a:noAutofit/>
          </a:bodyPr>
          <a:p>
            <a:r>
              <a:rPr lang="en-US" altLang="en-US" sz="2400"/>
              <a:t>SQL Server 2005 : The Microsoft team decided to revamp DTS. However, instead of update DTS, they decided to name the product Integration Servic (SSIS).</a:t>
            </a:r>
            <a:endParaRPr lang="en-US" altLang="en-US" sz="2400"/>
          </a:p>
          <a:p>
            <a:r>
              <a:rPr lang="en-US" altLang="en-US" sz="2400"/>
              <a:t>2008 SQL server version : Plenty of performance improvements were made to SSIS. New sources were also introduced.</a:t>
            </a:r>
            <a:endParaRPr lang="en-US" altLang="en-US" sz="2400"/>
          </a:p>
          <a:p>
            <a:r>
              <a:rPr lang="en-US" altLang="en-US" sz="2400"/>
              <a:t>SQL Server 2012 : It was the biggest release for SSIS. With this version, the concept of the project deployment model introduced. It allows entire projects, andtheir packages are deployed to a server, in place of specific packages.</a:t>
            </a:r>
            <a:endParaRPr lang="en-US" altLang="en-US" sz="2400"/>
          </a:p>
          <a:p>
            <a:r>
              <a:rPr lang="en-US" altLang="en-US" sz="2400"/>
              <a:t>SQL Server 2014 : In this version, not many changes are made or SSIS. But new sources or transformations were added which was done by separate downloads through CodePlex or the SQL Server Feature Pack.</a:t>
            </a:r>
            <a:endParaRPr lang="en-US" altLang="en-US" sz="2400"/>
          </a:p>
          <a:p>
            <a:r>
              <a:rPr lang="en-US" altLang="en-US" sz="2400"/>
              <a:t>In SQL Server 2016 : The version allows you to deploy entire projects, instead, of individual packages. There are additional sources especially cloud, and big datasources and few changes were made to the catalog.</a:t>
            </a:r>
            <a:endParaRPr lang="en-US" alt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5979795" cy="6857365"/>
          </a:xfrm>
        </p:spPr>
        <p:txBody>
          <a:bodyPr>
            <a:normAutofit/>
          </a:bodyPr>
          <a:p>
            <a:r>
              <a:rPr lang="en-US"/>
              <a:t>SSIS Architecture</a:t>
            </a:r>
            <a:br>
              <a:rPr lang="en-US"/>
            </a:br>
            <a:r>
              <a:rPr lang="en-US" sz="2400"/>
              <a:t>	Main Component of SSIS Architecture</a:t>
            </a:r>
            <a:br>
              <a:rPr lang="en-US" sz="2400"/>
            </a:br>
            <a:r>
              <a:rPr lang="en-US" sz="2400"/>
              <a:t>	</a:t>
            </a:r>
            <a:br>
              <a:rPr lang="en-US" sz="2400"/>
            </a:br>
            <a:r>
              <a:rPr lang="en-US" sz="2400"/>
              <a:t>	1. Control Flow</a:t>
            </a:r>
            <a:br>
              <a:rPr lang="en-US" sz="2400"/>
            </a:br>
            <a:r>
              <a:rPr lang="en-US" sz="2400"/>
              <a:t>	2. Data Flow</a:t>
            </a:r>
            <a:br>
              <a:rPr lang="en-US" sz="2400"/>
            </a:br>
            <a:r>
              <a:rPr lang="en-US" sz="2400"/>
              <a:t>	3. Event Handler</a:t>
            </a:r>
            <a:br>
              <a:rPr lang="en-US" sz="2400"/>
            </a:br>
            <a:r>
              <a:rPr lang="en-US" sz="2400"/>
              <a:t>	4. Package Explorer</a:t>
            </a:r>
            <a:br>
              <a:rPr lang="en-US" sz="2400"/>
            </a:br>
            <a:r>
              <a:rPr lang="en-US" sz="2400"/>
              <a:t>	5. Parameters</a:t>
            </a:r>
            <a:br>
              <a:rPr lang="en-US"/>
            </a:br>
            <a:r>
              <a:rPr lang="en-US"/>
              <a:t>	</a:t>
            </a:r>
            <a:r>
              <a:rPr lang="en-US" sz="2800"/>
              <a:t>Let’s Explore them 	One By One...</a:t>
            </a:r>
            <a:endParaRPr lang="en-US" sz="2800"/>
          </a:p>
        </p:txBody>
      </p:sp>
      <p:pic>
        <p:nvPicPr>
          <p:cNvPr id="4" name="Picture 3"/>
          <p:cNvPicPr/>
          <p:nvPr/>
        </p:nvPicPr>
        <p:blipFill>
          <a:blip r:embed="rId1"/>
          <a:stretch>
            <a:fillRect/>
          </a:stretch>
        </p:blipFill>
        <p:spPr>
          <a:xfrm>
            <a:off x="6817360" y="0"/>
            <a:ext cx="5374640" cy="68573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SSIS Architecture</a:t>
            </a:r>
            <a:endParaRPr lang="en-US"/>
          </a:p>
        </p:txBody>
      </p:sp>
      <p:sp>
        <p:nvSpPr>
          <p:cNvPr id="3" name="Content Placeholder 2"/>
          <p:cNvSpPr>
            <a:spLocks noGrp="1"/>
          </p:cNvSpPr>
          <p:nvPr>
            <p:ph idx="1"/>
          </p:nvPr>
        </p:nvSpPr>
        <p:spPr/>
        <p:txBody>
          <a:bodyPr>
            <a:normAutofit/>
          </a:bodyPr>
          <a:p>
            <a:r>
              <a:rPr lang="en-US"/>
              <a:t>Control Flow : </a:t>
            </a:r>
            <a:r>
              <a:rPr lang="en-US" altLang="en-US"/>
              <a:t>Control flow is a brain of SSIS package. It helps you to arranges the order ofexecution for all its components. The components contain containers and tasks which are managed by precedence constraints.</a:t>
            </a:r>
            <a:endParaRPr lang="en-US" altLang="en-US"/>
          </a:p>
          <a:p>
            <a:r>
              <a:rPr lang="en-US" altLang="en-US"/>
              <a:t>Precedence Constraints : Precedence constrain are package component which direct tasks to execute in a predefined order. It also defines the workflow of the entire SSIS package.</a:t>
            </a:r>
            <a:endParaRPr lang="en-US" altLang="en-US"/>
          </a:p>
          <a:p>
            <a:pPr lvl="1"/>
            <a:r>
              <a:rPr lang="en-US" altLang="en-US"/>
              <a:t>It controls the execution of the two linked tasks by executing the destination</a:t>
            </a:r>
            <a:endParaRPr lang="en-US" altLang="en-US"/>
          </a:p>
          <a:p>
            <a:pPr lvl="1"/>
            <a:r>
              <a:rPr lang="en-US" altLang="en-US"/>
              <a:t>tasks based on the result of the earlier task — business rules which are</a:t>
            </a:r>
            <a:endParaRPr lang="en-US" altLang="en-US"/>
          </a:p>
          <a:p>
            <a:pPr lvl="1"/>
            <a:r>
              <a:rPr lang="en-US" altLang="en-US"/>
              <a:t>defined using special expressions.</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SSIS Architecture</a:t>
            </a:r>
            <a:endParaRPr lang="en-US"/>
          </a:p>
        </p:txBody>
      </p:sp>
      <p:sp>
        <p:nvSpPr>
          <p:cNvPr id="3" name="Content Placeholder 2"/>
          <p:cNvSpPr>
            <a:spLocks noGrp="1"/>
          </p:cNvSpPr>
          <p:nvPr>
            <p:ph idx="1"/>
          </p:nvPr>
        </p:nvSpPr>
        <p:spPr/>
        <p:txBody>
          <a:bodyPr>
            <a:normAutofit fontScale="90000" lnSpcReduction="10000"/>
          </a:bodyPr>
          <a:p>
            <a:r>
              <a:rPr lang="en-US" altLang="en-US"/>
              <a:t>Task : A 'Task' is an individual unit of work. It is the same as a method/function used in a programming language. However, in SSIS, you don't use coding methods.</a:t>
            </a:r>
            <a:endParaRPr lang="en-US" altLang="en-US"/>
          </a:p>
          <a:p>
            <a:pPr lvl="1"/>
            <a:r>
              <a:rPr lang="en-US" altLang="en-US"/>
              <a:t>Instead, you will use drag &amp; drop technique to design surface and to configure them.</a:t>
            </a:r>
            <a:endParaRPr lang="en-US" altLang="en-US"/>
          </a:p>
          <a:p>
            <a:pPr lvl="0"/>
            <a:r>
              <a:rPr lang="en-US" altLang="en-US"/>
              <a:t>Containers : The container is units for grouping tasks together into units of work. Apart from offering visual consistency, it also allows you to declare variables and event handlers which should be in the scope of that specific container.</a:t>
            </a:r>
            <a:endParaRPr lang="en-US" altLang="en-US"/>
          </a:p>
          <a:p>
            <a:pPr lvl="0"/>
            <a:r>
              <a:rPr lang="en-US" altLang="en-US"/>
              <a:t>Three Types of Containers : </a:t>
            </a:r>
            <a:endParaRPr lang="en-US" altLang="en-US"/>
          </a:p>
          <a:p>
            <a:pPr lvl="1"/>
            <a:r>
              <a:rPr lang="en-US" altLang="en-US"/>
              <a:t>1. A Sequence Container</a:t>
            </a:r>
            <a:endParaRPr lang="en-US" altLang="en-US"/>
          </a:p>
          <a:p>
            <a:pPr lvl="1"/>
            <a:r>
              <a:rPr lang="en-US" altLang="en-US"/>
              <a:t>2. A Foor Each Loop Container</a:t>
            </a:r>
            <a:endParaRPr lang="en-US" altLang="en-US"/>
          </a:p>
          <a:p>
            <a:pPr lvl="1"/>
            <a:r>
              <a:rPr lang="en-US" altLang="en-US"/>
              <a:t>3. A Foreach Loop Container...</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SSIS Architecture :  Understading Types of Containers</a:t>
            </a:r>
            <a:endParaRPr lang="en-US"/>
          </a:p>
        </p:txBody>
      </p:sp>
      <p:sp>
        <p:nvSpPr>
          <p:cNvPr id="3" name="Content Placeholder 2"/>
          <p:cNvSpPr>
            <a:spLocks noGrp="1"/>
          </p:cNvSpPr>
          <p:nvPr>
            <p:ph idx="1"/>
          </p:nvPr>
        </p:nvSpPr>
        <p:spPr/>
        <p:txBody>
          <a:bodyPr>
            <a:normAutofit lnSpcReduction="20000"/>
          </a:bodyPr>
          <a:p>
            <a:r>
              <a:rPr lang="en-US"/>
              <a:t>1. </a:t>
            </a:r>
            <a:r>
              <a:rPr lang="en-US" altLang="en-US"/>
              <a:t>A Sequence Container is used to group multiple tasks into a single logical unit. It allows developers to manage a set of related tasks together.</a:t>
            </a:r>
            <a:endParaRPr lang="en-US" altLang="en-US"/>
          </a:p>
          <a:p>
            <a:r>
              <a:rPr lang="en-US" altLang="en-US"/>
              <a:t>Features:</a:t>
            </a:r>
            <a:endParaRPr lang="en-US" altLang="en-US"/>
          </a:p>
          <a:p>
            <a:pPr lvl="1"/>
            <a:r>
              <a:rPr lang="en-US" altLang="en-US"/>
              <a:t>Groups related tasks into one unit.</a:t>
            </a:r>
            <a:endParaRPr lang="en-US" altLang="en-US"/>
          </a:p>
          <a:p>
            <a:pPr lvl="1"/>
            <a:r>
              <a:rPr lang="en-US" altLang="en-US"/>
              <a:t>Makes packages easier to organize and maintain.</a:t>
            </a:r>
            <a:endParaRPr lang="en-US" altLang="en-US"/>
          </a:p>
          <a:p>
            <a:pPr lvl="1"/>
            <a:r>
              <a:rPr lang="en-US" altLang="en-US"/>
              <a:t>Supports transactions for all tasks inside the container.</a:t>
            </a:r>
            <a:endParaRPr lang="en-US" altLang="en-US"/>
          </a:p>
          <a:p>
            <a:pPr lvl="1"/>
            <a:r>
              <a:rPr lang="en-US" altLang="en-US"/>
              <a:t>Allows common variables and event handlers.</a:t>
            </a:r>
            <a:endParaRPr lang="en-US" altLang="en-US"/>
          </a:p>
          <a:p>
            <a:pPr lvl="1"/>
            <a:r>
              <a:rPr lang="en-US" altLang="en-US"/>
              <a:t>Can be enabled or disabled as a whole.</a:t>
            </a:r>
            <a:endParaRPr lang="en-US" altLang="en-US"/>
          </a:p>
          <a:p>
            <a:pPr lvl="0"/>
            <a:r>
              <a:rPr lang="en-US" altLang="en-US"/>
              <a:t>Example :</a:t>
            </a:r>
            <a:endParaRPr lang="en-US" altLang="en-US"/>
          </a:p>
          <a:p>
            <a:pPr lvl="1"/>
            <a:r>
              <a:rPr lang="en-US" altLang="en-US"/>
              <a:t>An ETL process where data is extracted, transformed, and then loaded can be grouped into a single Sequence Container.</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SSIS Architecture :  Understading Types of Containers</a:t>
            </a:r>
            <a:endParaRPr lang="en-US"/>
          </a:p>
        </p:txBody>
      </p:sp>
      <p:sp>
        <p:nvSpPr>
          <p:cNvPr id="3" name="Content Placeholder 2"/>
          <p:cNvSpPr>
            <a:spLocks noGrp="1"/>
          </p:cNvSpPr>
          <p:nvPr>
            <p:ph idx="1"/>
          </p:nvPr>
        </p:nvSpPr>
        <p:spPr/>
        <p:txBody>
          <a:bodyPr>
            <a:normAutofit fontScale="70000"/>
          </a:bodyPr>
          <a:p>
            <a:r>
              <a:rPr lang="en-US"/>
              <a:t>2. </a:t>
            </a:r>
            <a:r>
              <a:rPr lang="en-US" altLang="en-US"/>
              <a:t>For Loop Container : A For Loop Container repeats a set of tasks until a specified condition becomes false. It works similarly to the for loop in programming languages such as C, C++, and Java.</a:t>
            </a:r>
            <a:endParaRPr lang="en-US" altLang="en-US"/>
          </a:p>
          <a:p>
            <a:r>
              <a:rPr lang="en-US" altLang="en-US"/>
              <a:t>Components:</a:t>
            </a:r>
            <a:endParaRPr lang="en-US" altLang="en-US"/>
          </a:p>
          <a:p>
            <a:pPr lvl="1"/>
            <a:r>
              <a:rPr lang="en-US" altLang="en-US"/>
              <a:t>InitExpression: Initializes the loop variable.</a:t>
            </a:r>
            <a:endParaRPr lang="en-US" altLang="en-US"/>
          </a:p>
          <a:p>
            <a:pPr lvl="1"/>
            <a:r>
              <a:rPr lang="en-US" altLang="en-US"/>
              <a:t>EvalExpression: Evaluates the condition.</a:t>
            </a:r>
            <a:endParaRPr lang="en-US" altLang="en-US"/>
          </a:p>
          <a:p>
            <a:pPr lvl="1"/>
            <a:r>
              <a:rPr lang="en-US" altLang="en-US"/>
              <a:t>AssignExpression: Updates the loop variable after each iteration.</a:t>
            </a:r>
            <a:endParaRPr lang="en-US" altLang="en-US"/>
          </a:p>
          <a:p>
            <a:r>
              <a:rPr lang="en-US" altLang="en-US"/>
              <a:t>Features:</a:t>
            </a:r>
            <a:endParaRPr lang="en-US" altLang="en-US"/>
          </a:p>
          <a:p>
            <a:pPr lvl="1"/>
            <a:r>
              <a:rPr lang="en-US" altLang="en-US"/>
              <a:t>Executes tasks repeatedly.</a:t>
            </a:r>
            <a:endParaRPr lang="en-US" altLang="en-US"/>
          </a:p>
          <a:p>
            <a:pPr lvl="1"/>
            <a:r>
              <a:rPr lang="en-US" altLang="en-US"/>
              <a:t>Supports initialization, condition checking, and increment/decrement.</a:t>
            </a:r>
            <a:endParaRPr lang="en-US" altLang="en-US"/>
          </a:p>
          <a:p>
            <a:pPr lvl="1"/>
            <a:r>
              <a:rPr lang="en-US" altLang="en-US"/>
              <a:t>Useful for counter-based iterations.</a:t>
            </a:r>
            <a:endParaRPr lang="en-US" altLang="en-US"/>
          </a:p>
          <a:p>
            <a:r>
              <a:rPr lang="en-US" altLang="en-US"/>
              <a:t>Example:</a:t>
            </a:r>
            <a:endParaRPr lang="en-US" altLang="en-US"/>
          </a:p>
          <a:p>
            <a:pPr lvl="1"/>
            <a:r>
              <a:rPr lang="en-US" altLang="en-US"/>
              <a:t>Running a task 10 times to process ten different files.</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ym typeface="+mn-ea"/>
              </a:rPr>
              <a:t>SSIS Architecture :  Understading Types of Containers</a:t>
            </a:r>
            <a:endParaRPr lang="en-US"/>
          </a:p>
        </p:txBody>
      </p:sp>
      <p:sp>
        <p:nvSpPr>
          <p:cNvPr id="3" name="Content Placeholder 2"/>
          <p:cNvSpPr>
            <a:spLocks noGrp="1"/>
          </p:cNvSpPr>
          <p:nvPr>
            <p:ph idx="1"/>
          </p:nvPr>
        </p:nvSpPr>
        <p:spPr/>
        <p:txBody>
          <a:bodyPr>
            <a:normAutofit fontScale="60000"/>
          </a:bodyPr>
          <a:p>
            <a:r>
              <a:rPr lang="en-US" altLang="en-US"/>
              <a:t>3. Foreach Loop Container : A Foreach Loop Container executes a set of tasks once for each item in a collection.</a:t>
            </a:r>
            <a:endParaRPr lang="en-US" altLang="en-US"/>
          </a:p>
          <a:p>
            <a:r>
              <a:rPr lang="en-US" altLang="en-US"/>
              <a:t>Collections can include:</a:t>
            </a:r>
            <a:endParaRPr lang="en-US" altLang="en-US"/>
          </a:p>
          <a:p>
            <a:pPr lvl="1"/>
            <a:r>
              <a:rPr lang="en-US" altLang="en-US"/>
              <a:t>Files in a folder.</a:t>
            </a:r>
            <a:endParaRPr lang="en-US" altLang="en-US"/>
          </a:p>
          <a:p>
            <a:pPr lvl="1"/>
            <a:r>
              <a:rPr lang="en-US" altLang="en-US"/>
              <a:t>Rows from a database.</a:t>
            </a:r>
            <a:endParaRPr lang="en-US" altLang="en-US"/>
          </a:p>
          <a:p>
            <a:pPr lvl="1"/>
            <a:r>
              <a:rPr lang="en-US" altLang="en-US"/>
              <a:t>Excel worksheets.</a:t>
            </a:r>
            <a:endParaRPr lang="en-US" altLang="en-US"/>
          </a:p>
          <a:p>
            <a:pPr lvl="1"/>
            <a:r>
              <a:rPr lang="en-US" altLang="en-US"/>
              <a:t>Variables.</a:t>
            </a:r>
            <a:endParaRPr lang="en-US" altLang="en-US"/>
          </a:p>
          <a:p>
            <a:pPr lvl="1"/>
            <a:r>
              <a:rPr lang="en-US" altLang="en-US"/>
              <a:t>ADO recordsets.</a:t>
            </a:r>
            <a:endParaRPr lang="en-US" altLang="en-US"/>
          </a:p>
          <a:p>
            <a:pPr lvl="1"/>
            <a:r>
              <a:rPr lang="en-US" altLang="en-US"/>
              <a:t>XML nodes.</a:t>
            </a:r>
            <a:endParaRPr lang="en-US" altLang="en-US"/>
          </a:p>
          <a:p>
            <a:pPr lvl="1"/>
            <a:endParaRPr lang="en-US" altLang="en-US"/>
          </a:p>
          <a:p>
            <a:r>
              <a:rPr lang="en-US" altLang="en-US"/>
              <a:t>Features:</a:t>
            </a:r>
            <a:endParaRPr lang="en-US" altLang="en-US"/>
          </a:p>
          <a:p>
            <a:pPr lvl="1"/>
            <a:r>
              <a:rPr lang="en-US" altLang="en-US"/>
              <a:t>Automatically iterates through a collection.</a:t>
            </a:r>
            <a:endParaRPr lang="en-US" altLang="en-US"/>
          </a:p>
          <a:p>
            <a:pPr lvl="1"/>
            <a:r>
              <a:rPr lang="en-US" altLang="en-US"/>
              <a:t>Stores the current item in a variable.</a:t>
            </a:r>
            <a:endParaRPr lang="en-US" altLang="en-US"/>
          </a:p>
          <a:p>
            <a:pPr lvl="1"/>
            <a:r>
              <a:rPr lang="en-US" altLang="en-US"/>
              <a:t>Supports multiple enumerators.</a:t>
            </a:r>
            <a:endParaRPr lang="en-US" altLang="en-US"/>
          </a:p>
          <a:p>
            <a:r>
              <a:rPr lang="en-US" altLang="en-US"/>
              <a:t>Example:</a:t>
            </a:r>
            <a:endParaRPr lang="en-US" altLang="en-US"/>
          </a:p>
          <a:p>
            <a:pPr lvl="1"/>
            <a:r>
              <a:rPr lang="en-US" altLang="en-US"/>
              <a:t>Processing every CSV file in a folder by importing them one at a time.</a:t>
            </a:r>
            <a:endParaRPr lang="en-US" altLang="en-US"/>
          </a:p>
          <a:p>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SSIS Architecture</a:t>
            </a:r>
            <a:endParaRPr lang="en-US"/>
          </a:p>
        </p:txBody>
      </p:sp>
      <p:sp>
        <p:nvSpPr>
          <p:cNvPr id="3" name="Content Placeholder 2"/>
          <p:cNvSpPr>
            <a:spLocks noGrp="1"/>
          </p:cNvSpPr>
          <p:nvPr>
            <p:ph idx="1"/>
          </p:nvPr>
        </p:nvSpPr>
        <p:spPr/>
        <p:txBody>
          <a:bodyPr>
            <a:normAutofit fontScale="80000"/>
          </a:bodyPr>
          <a:p>
            <a:r>
              <a:rPr lang="en-US" altLang="en-US"/>
              <a:t>Data Flow : </a:t>
            </a:r>
            <a:endParaRPr lang="en-US" altLang="en-US"/>
          </a:p>
          <a:p>
            <a:r>
              <a:rPr lang="en-US" altLang="en-US"/>
              <a:t>The main use of the SSIS tool is to extract data into the server's memory, transform it, and write it to another destination. If Control Flow is the brain, Data Flow is the heart of SSIS.</a:t>
            </a:r>
            <a:endParaRPr lang="en-US" altLang="en-US"/>
          </a:p>
          <a:p>
            <a:r>
              <a:rPr lang="en-US" altLang="en-US"/>
              <a:t>SSIS Packages : </a:t>
            </a:r>
            <a:endParaRPr lang="en-US" altLang="en-US"/>
          </a:p>
          <a:p>
            <a:r>
              <a:rPr lang="en-US" altLang="en-US"/>
              <a:t>Another core component of SSIS is the notion of a package. It is a collection of tasks which execute in an orderly fashion. Here, president constraints help manage the order in which the task will execute.</a:t>
            </a:r>
            <a:endParaRPr lang="en-US" altLang="en-US"/>
          </a:p>
          <a:p>
            <a:r>
              <a:rPr lang="en-US" altLang="en-US"/>
              <a:t>A package can help you to saves files onto a SQL Server, in the msdb or package catalog database. It can save as a .dtsx file, which is a structured file very similar to .rdl files are to Reporting Services. </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SSIS Architecture</a:t>
            </a:r>
            <a:endParaRPr lang="en-US"/>
          </a:p>
        </p:txBody>
      </p:sp>
      <p:sp>
        <p:nvSpPr>
          <p:cNvPr id="3" name="Content Placeholder 2"/>
          <p:cNvSpPr>
            <a:spLocks noGrp="1"/>
          </p:cNvSpPr>
          <p:nvPr>
            <p:ph idx="1"/>
          </p:nvPr>
        </p:nvSpPr>
        <p:spPr/>
        <p:txBody>
          <a:bodyPr/>
          <a:p>
            <a:r>
              <a:rPr lang="en-US"/>
              <a:t>Parameters : </a:t>
            </a:r>
            <a:r>
              <a:rPr lang="en-US" altLang="en-US"/>
              <a:t>Parameters behave much like a variable but with a few main exceptions. It can be set outside the package easily. It can be designated as values that must be passed in for the package to start.</a:t>
            </a:r>
            <a:endParaRPr lang="en-US" altLang="en-US"/>
          </a:p>
        </p:txBody>
      </p:sp>
      <p:pic>
        <p:nvPicPr>
          <p:cNvPr id="4" name="Picture 3"/>
          <p:cNvPicPr>
            <a:picLocks noChangeAspect="1"/>
          </p:cNvPicPr>
          <p:nvPr/>
        </p:nvPicPr>
        <p:blipFill>
          <a:blip r:embed="rId1"/>
          <a:stretch>
            <a:fillRect/>
          </a:stretch>
        </p:blipFill>
        <p:spPr>
          <a:xfrm>
            <a:off x="2700020" y="3650615"/>
            <a:ext cx="6414770" cy="17767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SSIS Architecture</a:t>
            </a:r>
            <a:endParaRPr lang="en-US"/>
          </a:p>
        </p:txBody>
      </p:sp>
      <p:sp>
        <p:nvSpPr>
          <p:cNvPr id="3" name="Content Placeholder 2"/>
          <p:cNvSpPr>
            <a:spLocks noGrp="1"/>
          </p:cNvSpPr>
          <p:nvPr>
            <p:ph idx="1"/>
          </p:nvPr>
        </p:nvSpPr>
        <p:spPr>
          <a:xfrm>
            <a:off x="838200" y="1825625"/>
            <a:ext cx="10984865" cy="4351655"/>
          </a:xfrm>
        </p:spPr>
        <p:txBody>
          <a:bodyPr>
            <a:normAutofit fontScale="60000"/>
          </a:bodyPr>
          <a:p>
            <a:r>
              <a:rPr lang="en-US" sz="4700"/>
              <a:t>SSIS Tasks : </a:t>
            </a:r>
            <a:endParaRPr lang="en-US" sz="4700"/>
          </a:p>
          <a:p>
            <a:pPr lvl="1"/>
            <a:r>
              <a:rPr lang="en-US" altLang="en-US" sz="3400"/>
              <a:t>Execute SQL Task : As its name suggests, it will execute a SQL statement against a relational database.</a:t>
            </a:r>
            <a:endParaRPr lang="en-US" altLang="en-US" sz="3400"/>
          </a:p>
          <a:p>
            <a:pPr lvl="1"/>
            <a:r>
              <a:rPr lang="en-US" altLang="en-US" sz="3400"/>
              <a:t>Data Flow Task  : This task can read data from one or more sources. Transform the data when it is in the memory and write it out against one or more destinations.</a:t>
            </a:r>
            <a:endParaRPr lang="en-US" altLang="en-US" sz="3400"/>
          </a:p>
          <a:p>
            <a:pPr lvl="1"/>
            <a:r>
              <a:rPr lang="en-US" altLang="en-US" sz="3400"/>
              <a:t>Analysis Services Processing Task :  Use this task to process objects of a Tabular model or as an SSAS cube.</a:t>
            </a:r>
            <a:endParaRPr lang="en-US" altLang="en-US" sz="3400"/>
          </a:p>
          <a:p>
            <a:pPr lvl="1"/>
            <a:r>
              <a:rPr lang="en-US" altLang="en-US" sz="3400"/>
              <a:t>Execute Package Task : Use can use this SSIS task to execute other packages from within the same project.</a:t>
            </a:r>
            <a:endParaRPr lang="en-US" altLang="en-US" sz="3400"/>
          </a:p>
          <a:p>
            <a:pPr lvl="1"/>
            <a:r>
              <a:rPr lang="en-US" altLang="en-US" sz="3400"/>
              <a:t>Execute Process Task :  With the help of this task, you can specify command line parameters.</a:t>
            </a:r>
            <a:endParaRPr lang="en-US" altLang="en-US" sz="3400"/>
          </a:p>
          <a:p>
            <a:pPr lvl="1"/>
            <a:r>
              <a:rPr lang="en-US" altLang="en-US" sz="3400"/>
              <a:t>File System Task :  It performs manipulations in the file system. Like moving, renaming, deleting files, and creating directories.</a:t>
            </a:r>
            <a:endParaRPr lang="en-US" altLang="en-US" sz="3400"/>
          </a:p>
          <a:p>
            <a:pPr lvl="1"/>
            <a:r>
              <a:rPr lang="en-US" altLang="en-US" sz="3400"/>
              <a:t>FTP Tasks : It allows you to perform basic FTP functionalities.</a:t>
            </a:r>
            <a:endParaRPr lang="en-US" altLang="en-US" sz="3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341630"/>
            <a:ext cx="11042650" cy="6266815"/>
          </a:xfrm>
        </p:spPr>
        <p:txBody>
          <a:bodyPr>
            <a:normAutofit/>
          </a:bodyPr>
          <a:p>
            <a:r>
              <a:rPr lang="en-US" altLang="en-US"/>
              <a:t>Script Task : This is a blank task. You can write NET code which performs any task; you want to perform.</a:t>
            </a:r>
            <a:endParaRPr lang="en-US" altLang="en-US"/>
          </a:p>
          <a:p>
            <a:r>
              <a:rPr lang="en-US" altLang="en-US"/>
              <a:t>Send Mail Task :  You can send an email to notifying users that your package has is finished, or some error occurs.</a:t>
            </a:r>
            <a:endParaRPr lang="en-US" altLang="en-US"/>
          </a:p>
          <a:p>
            <a:r>
              <a:rPr lang="en-US" altLang="en-US"/>
              <a:t>Bulk Insert Task :  Use can loads data into a table by using the bulk insert command.</a:t>
            </a:r>
            <a:endParaRPr lang="en-US" altLang="en-US"/>
          </a:p>
          <a:p>
            <a:r>
              <a:rPr lang="en-US" altLang="en-US"/>
              <a:t>Script Task :  Runs a set of VB.NET or C# coding inside a Visual Studio environment.</a:t>
            </a:r>
            <a:endParaRPr lang="en-US" altLang="en-US"/>
          </a:p>
          <a:p>
            <a:r>
              <a:rPr lang="en-US" altLang="en-US"/>
              <a:t>Web Service Task : It executes a method on a web service.</a:t>
            </a:r>
            <a:endParaRPr lang="en-US" altLang="en-US"/>
          </a:p>
          <a:p>
            <a:r>
              <a:rPr lang="en-US" altLang="en-US"/>
              <a:t>WMI Event Watcher Task :  This task allows the SSIS package to wait forand respond to certain WMI events.</a:t>
            </a:r>
            <a:endParaRPr lang="en-US" altLang="en-US"/>
          </a:p>
          <a:p>
            <a:r>
              <a:rPr lang="en-US" altLang="en-US"/>
              <a:t>XML Task : This task helps you to merge, split, or reformat any XML file.</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Pros of SSIS</a:t>
            </a:r>
            <a:endParaRPr lang="en-US"/>
          </a:p>
        </p:txBody>
      </p:sp>
      <p:sp>
        <p:nvSpPr>
          <p:cNvPr id="3" name="Content Placeholder 2"/>
          <p:cNvSpPr>
            <a:spLocks noGrp="1"/>
          </p:cNvSpPr>
          <p:nvPr>
            <p:ph idx="1"/>
          </p:nvPr>
        </p:nvSpPr>
        <p:spPr/>
        <p:txBody>
          <a:bodyPr>
            <a:normAutofit fontScale="80000"/>
          </a:bodyPr>
          <a:p>
            <a:r>
              <a:rPr lang="en-US" altLang="en-US"/>
              <a:t>Broad documentation and support</a:t>
            </a:r>
            <a:endParaRPr lang="en-US" altLang="en-US"/>
          </a:p>
          <a:p>
            <a:r>
              <a:rPr lang="en-US" altLang="en-US"/>
              <a:t>Ease and speed of implementation</a:t>
            </a:r>
            <a:endParaRPr lang="en-US" altLang="en-US"/>
          </a:p>
          <a:p>
            <a:r>
              <a:rPr lang="en-US" altLang="en-US"/>
              <a:t>Tight integration with SQL Server and visual studio</a:t>
            </a:r>
            <a:endParaRPr lang="en-US" altLang="en-US"/>
          </a:p>
          <a:p>
            <a:r>
              <a:rPr lang="en-US" altLang="en-US"/>
              <a:t>Standardized data integration</a:t>
            </a:r>
            <a:endParaRPr lang="en-US" altLang="en-US"/>
          </a:p>
          <a:p>
            <a:r>
              <a:rPr lang="en-US" altLang="en-US"/>
              <a:t>Offers real-time, message-based capabilities</a:t>
            </a:r>
            <a:endParaRPr lang="en-US" altLang="en-US"/>
          </a:p>
          <a:p>
            <a:r>
              <a:rPr lang="en-US" altLang="en-US"/>
              <a:t>Support for distribution model</a:t>
            </a:r>
            <a:endParaRPr lang="en-US" altLang="en-US"/>
          </a:p>
          <a:p>
            <a:r>
              <a:rPr lang="en-US" altLang="en-US"/>
              <a:t>Helps you to remove network as a bottleneck for insertion of data by SSISinto SQL</a:t>
            </a:r>
            <a:endParaRPr lang="en-US" altLang="en-US"/>
          </a:p>
          <a:p>
            <a:r>
              <a:rPr lang="en-US" altLang="en-US"/>
              <a:t>SISS allows you to use the SQL Server Destination instead of OLE DB toload the data faster</a:t>
            </a:r>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Cons of SSIS</a:t>
            </a:r>
            <a:endParaRPr lang="en-US"/>
          </a:p>
        </p:txBody>
      </p:sp>
      <p:sp>
        <p:nvSpPr>
          <p:cNvPr id="3" name="Content Placeholder 2"/>
          <p:cNvSpPr>
            <a:spLocks noGrp="1"/>
          </p:cNvSpPr>
          <p:nvPr>
            <p:ph idx="1"/>
          </p:nvPr>
        </p:nvSpPr>
        <p:spPr/>
        <p:txBody>
          <a:bodyPr/>
          <a:p>
            <a:r>
              <a:rPr lang="en-US" altLang="en-US"/>
              <a:t>Sometimes create issues in non-windows environments</a:t>
            </a:r>
            <a:endParaRPr lang="en-US" altLang="en-US"/>
          </a:p>
          <a:p>
            <a:r>
              <a:rPr lang="en-US" altLang="en-US"/>
              <a:t>Unclear vision and strategy</a:t>
            </a:r>
            <a:endParaRPr lang="en-US" altLang="en-US"/>
          </a:p>
          <a:p>
            <a:r>
              <a:rPr lang="en-US" altLang="en-US"/>
              <a:t>SSIS lacks support for alternative data integration styles</a:t>
            </a:r>
            <a:endParaRPr lang="en-US" altLang="en-US"/>
          </a:p>
          <a:p>
            <a:r>
              <a:rPr lang="en-US" altLang="en-US"/>
              <a:t>Problematic integration with other products</a:t>
            </a:r>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p>
            <a:r>
              <a:rPr lang="en-US"/>
              <a:t>Introduction to Connection Manager</a:t>
            </a:r>
            <a:endParaRPr lang="en-US"/>
          </a:p>
        </p:txBody>
      </p:sp>
      <p:sp>
        <p:nvSpPr>
          <p:cNvPr id="5" name="Subtitle 4"/>
          <p:cNvSpPr>
            <a:spLocks noGrp="1"/>
          </p:cNvSpPr>
          <p:nvPr>
            <p:ph type="subTitle" idx="1"/>
          </p:nvPr>
        </p:nvSpPr>
        <p:spPr/>
        <p:txBody>
          <a:bodyPr/>
          <a:p>
            <a:r>
              <a:rPr lang="en-US"/>
              <a:t>SSIS Connection Manager</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Introduction</a:t>
            </a:r>
            <a:endParaRPr lang="en-US"/>
          </a:p>
        </p:txBody>
      </p:sp>
      <p:sp>
        <p:nvSpPr>
          <p:cNvPr id="3" name="Content Placeholder 2"/>
          <p:cNvSpPr>
            <a:spLocks noGrp="1"/>
          </p:cNvSpPr>
          <p:nvPr>
            <p:ph idx="1"/>
          </p:nvPr>
        </p:nvSpPr>
        <p:spPr/>
        <p:txBody>
          <a:bodyPr>
            <a:normAutofit lnSpcReduction="20000"/>
          </a:bodyPr>
          <a:p>
            <a:r>
              <a:rPr lang="en-US" altLang="en-US"/>
              <a:t>It is good to know that ADO.NET used OLE DB providers to access data</a:t>
            </a:r>
            <a:endParaRPr lang="en-US" altLang="en-US"/>
          </a:p>
          <a:p>
            <a:pPr marL="0" indent="0">
              <a:buNone/>
            </a:pPr>
            <a:r>
              <a:rPr lang="en-US" altLang="en-US"/>
              <a:t>   while OLE DB uses ODBC to access relational databases.</a:t>
            </a:r>
            <a:endParaRPr lang="en-US" altLang="en-US"/>
          </a:p>
          <a:p>
            <a:r>
              <a:rPr lang="en-US" altLang="en-US"/>
              <a:t>SSIS connection managers are used to configure a connectio</a:t>
            </a:r>
            <a:endParaRPr lang="en-US" altLang="en-US"/>
          </a:p>
          <a:p>
            <a:pPr marL="0" indent="0">
              <a:buNone/>
            </a:pPr>
            <a:r>
              <a:rPr lang="en-US" altLang="en-US"/>
              <a:t>   between SSIS and an external data source.</a:t>
            </a:r>
            <a:endParaRPr lang="en-US" altLang="en-US"/>
          </a:p>
          <a:p>
            <a:r>
              <a:rPr lang="en-US" altLang="en-US"/>
              <a:t>There are different types of connection managers that are included in </a:t>
            </a:r>
            <a:endParaRPr lang="en-US" altLang="en-US"/>
          </a:p>
          <a:p>
            <a:pPr marL="0" indent="0">
              <a:buNone/>
            </a:pPr>
            <a:r>
              <a:rPr lang="en-US" altLang="en-US"/>
              <a:t>   SSIS.</a:t>
            </a:r>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STEPS</a:t>
            </a:r>
            <a:endParaRPr lang="en-US"/>
          </a:p>
        </p:txBody>
      </p:sp>
      <p:sp>
        <p:nvSpPr>
          <p:cNvPr id="3" name="Content Placeholder 2"/>
          <p:cNvSpPr>
            <a:spLocks noGrp="1"/>
          </p:cNvSpPr>
          <p:nvPr>
            <p:ph idx="1"/>
          </p:nvPr>
        </p:nvSpPr>
        <p:spPr/>
        <p:txBody>
          <a:bodyPr/>
          <a:p>
            <a:r>
              <a:rPr lang="en-US" altLang="en-US"/>
              <a:t>Step 1: SSIS connection managers are can be added from the connection managers tab located in the bottom of the main screen.</a:t>
            </a:r>
            <a:endParaRPr lang="en-US" altLang="en-US"/>
          </a:p>
          <a:p>
            <a:endParaRPr lang="en-US" altLang="en-US"/>
          </a:p>
          <a:p>
            <a:r>
              <a:rPr lang="en-US" altLang="en-US"/>
              <a:t>Step 2: SSIS connection managers tab, add a new connection manager, right-click inside the tab panel, and select the connection manager type from the context menu strip.</a:t>
            </a:r>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Different Connection Managers</a:t>
            </a:r>
            <a:endParaRPr lang="en-US"/>
          </a:p>
        </p:txBody>
      </p:sp>
      <p:sp>
        <p:nvSpPr>
          <p:cNvPr id="3" name="Content Placeholder 2"/>
          <p:cNvSpPr>
            <a:spLocks noGrp="1"/>
          </p:cNvSpPr>
          <p:nvPr>
            <p:ph idx="1"/>
          </p:nvPr>
        </p:nvSpPr>
        <p:spPr/>
        <p:txBody>
          <a:bodyPr/>
          <a:p>
            <a:r>
              <a:rPr lang="en-US"/>
              <a:t>1. OLE DB Connection Manager</a:t>
            </a:r>
            <a:endParaRPr lang="en-US"/>
          </a:p>
          <a:p>
            <a:r>
              <a:rPr lang="en-US"/>
              <a:t>2. ADO Connection Manager</a:t>
            </a:r>
            <a:endParaRPr lang="en-US"/>
          </a:p>
          <a:p>
            <a:r>
              <a:rPr lang="en-US"/>
              <a:t>3. ADO.NET Connection Manager</a:t>
            </a:r>
            <a:endParaRPr lang="en-US"/>
          </a:p>
          <a:p>
            <a:r>
              <a:rPr lang="en-US"/>
              <a:t>4. Chache Connection Manager</a:t>
            </a:r>
            <a:endParaRPr lang="en-US"/>
          </a:p>
          <a:p>
            <a:r>
              <a:rPr lang="en-US"/>
              <a:t>5. EXCEL Connection Manager</a:t>
            </a:r>
            <a:endParaRPr lang="en-US"/>
          </a:p>
          <a:p>
            <a:r>
              <a:rPr lang="en-US"/>
              <a:t>6. File Connection Manager</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OLE DB Connection Manager</a:t>
            </a:r>
            <a:endParaRPr lang="en-US"/>
          </a:p>
        </p:txBody>
      </p:sp>
      <p:sp>
        <p:nvSpPr>
          <p:cNvPr id="3" name="Content Placeholder 2"/>
          <p:cNvSpPr>
            <a:spLocks noGrp="1"/>
          </p:cNvSpPr>
          <p:nvPr>
            <p:ph idx="1"/>
          </p:nvPr>
        </p:nvSpPr>
        <p:spPr/>
        <p:txBody>
          <a:bodyPr>
            <a:normAutofit fontScale="90000" lnSpcReduction="10000"/>
          </a:bodyPr>
          <a:p>
            <a:r>
              <a:rPr lang="en-US" altLang="en-US"/>
              <a:t>OLE DB stands for Object Linking and Embedding, Database.</a:t>
            </a:r>
            <a:endParaRPr lang="en-US" altLang="en-US"/>
          </a:p>
          <a:p>
            <a:r>
              <a:rPr lang="en-US" altLang="en-US"/>
              <a:t>It is an API designed by Microsoft, that allows users accessing a variety of data sources in a uniform manner.</a:t>
            </a:r>
            <a:endParaRPr lang="en-US" altLang="en-US"/>
          </a:p>
          <a:p>
            <a:r>
              <a:rPr lang="en-US" altLang="en-US"/>
              <a:t>Between all SSIS connection managers, OLE DB connection managers is the most popular.</a:t>
            </a:r>
            <a:endParaRPr lang="en-US" altLang="en-US"/>
          </a:p>
          <a:p>
            <a:r>
              <a:rPr lang="en-US" altLang="en-US" b="1"/>
              <a:t>Provider</a:t>
            </a:r>
            <a:r>
              <a:rPr lang="en-US" altLang="en-US"/>
              <a:t>: The OLE DB provider used to connect to the data source</a:t>
            </a:r>
            <a:endParaRPr lang="en-US" altLang="en-US"/>
          </a:p>
          <a:p>
            <a:r>
              <a:rPr lang="en-US" altLang="en-US" b="1"/>
              <a:t>Server name:</a:t>
            </a:r>
            <a:r>
              <a:rPr lang="en-US" altLang="en-US"/>
              <a:t> The Server that you want to connect to</a:t>
            </a:r>
            <a:endParaRPr lang="en-US" altLang="en-US"/>
          </a:p>
          <a:p>
            <a:r>
              <a:rPr lang="en-US" altLang="en-US" b="1"/>
              <a:t>Authentication type</a:t>
            </a:r>
            <a:r>
              <a:rPr lang="en-US" altLang="en-US"/>
              <a:t>: The security parameters used to establish the connection</a:t>
            </a:r>
            <a:endParaRPr lang="en-US" altLang="en-US"/>
          </a:p>
          <a:p>
            <a:r>
              <a:rPr lang="en-US" altLang="en-US" b="1"/>
              <a:t>Database Name:</a:t>
            </a:r>
            <a:r>
              <a:rPr lang="en-US" altLang="en-US"/>
              <a:t> The database name that we want to connect to (if this property is not specified, the default database is used)</a:t>
            </a:r>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OLE DB Connection Manager</a:t>
            </a:r>
            <a:endParaRPr lang="en-US"/>
          </a:p>
        </p:txBody>
      </p:sp>
      <p:sp>
        <p:nvSpPr>
          <p:cNvPr id="3" name="Content Placeholder 2"/>
          <p:cNvSpPr>
            <a:spLocks noGrp="1"/>
          </p:cNvSpPr>
          <p:nvPr>
            <p:ph idx="1"/>
          </p:nvPr>
        </p:nvSpPr>
        <p:spPr/>
        <p:txBody>
          <a:bodyPr>
            <a:normAutofit/>
          </a:bodyPr>
          <a:p>
            <a:r>
              <a:rPr lang="en-US" altLang="en-US"/>
              <a:t>OLE DB connection manager is used in all tasks and</a:t>
            </a:r>
            <a:endParaRPr lang="en-US" altLang="en-US"/>
          </a:p>
          <a:p>
            <a:r>
              <a:rPr lang="en-US" altLang="en-US"/>
              <a:t>components that can connect to an external database such as:</a:t>
            </a:r>
            <a:endParaRPr lang="en-US" altLang="en-US"/>
          </a:p>
          <a:p>
            <a:pPr lvl="1"/>
            <a:r>
              <a:rPr lang="en-US" altLang="en-US"/>
              <a:t>Execute SQL Task</a:t>
            </a:r>
            <a:endParaRPr lang="en-US" altLang="en-US"/>
          </a:p>
          <a:p>
            <a:pPr lvl="1"/>
            <a:r>
              <a:rPr lang="en-US" altLang="en-US"/>
              <a:t>Execute T-SQL Tas</a:t>
            </a:r>
            <a:endParaRPr lang="en-US" altLang="en-US"/>
          </a:p>
          <a:p>
            <a:pPr lvl="1"/>
            <a:r>
              <a:rPr lang="en-US" altLang="en-US"/>
              <a:t>OLE DB Source</a:t>
            </a:r>
            <a:endParaRPr lang="en-US" altLang="en-US"/>
          </a:p>
          <a:p>
            <a:pPr lvl="1"/>
            <a:r>
              <a:rPr lang="en-US" altLang="en-US"/>
              <a:t>OLE DB Destination</a:t>
            </a:r>
            <a:endParaRPr lang="en-US" altLang="en-US"/>
          </a:p>
          <a:p>
            <a:pPr lvl="1"/>
            <a:r>
              <a:rPr lang="en-US" altLang="en-US"/>
              <a:t>OLE DB command</a:t>
            </a:r>
            <a:endParaRPr lang="en-US" altLang="en-US"/>
          </a:p>
          <a:p>
            <a:pPr lvl="1"/>
            <a:r>
              <a:rPr lang="en-US" altLang="en-US"/>
              <a:t>Look up Transformation</a:t>
            </a:r>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ADO Connection Manager </a:t>
            </a:r>
            <a:endParaRPr lang="en-US"/>
          </a:p>
        </p:txBody>
      </p:sp>
      <p:sp>
        <p:nvSpPr>
          <p:cNvPr id="3" name="Content Placeholder 2"/>
          <p:cNvSpPr>
            <a:spLocks noGrp="1"/>
          </p:cNvSpPr>
          <p:nvPr>
            <p:ph idx="1"/>
          </p:nvPr>
        </p:nvSpPr>
        <p:spPr/>
        <p:txBody>
          <a:bodyPr>
            <a:normAutofit fontScale="70000"/>
          </a:bodyPr>
          <a:p>
            <a:r>
              <a:rPr lang="en-US" altLang="en-US"/>
              <a:t>ADO Connection Manager in SQL Server Integration Services (SSIS) is used to establish a connection between an SSIS package and a data source using ActiveX Data Objects (ADO). It enables SSIS to access and manipulate data stored in databases or other OLE DB-compliant sources through an ADO object.</a:t>
            </a:r>
            <a:endParaRPr lang="en-US" altLang="en-US"/>
          </a:p>
          <a:p>
            <a:r>
              <a:rPr lang="en-US" altLang="en-US"/>
              <a:t>It is commonly used with tasks and transformations that require an ADO Recordset, such as the Foreach ADO Enumerator.</a:t>
            </a:r>
            <a:endParaRPr lang="en-US" altLang="en-US"/>
          </a:p>
          <a:p>
            <a:r>
              <a:rPr lang="en-US" altLang="en-US"/>
              <a:t>Features :</a:t>
            </a:r>
            <a:endParaRPr lang="en-US" altLang="en-US"/>
          </a:p>
          <a:p>
            <a:pPr lvl="1"/>
            <a:r>
              <a:rPr lang="en-US" altLang="en-US"/>
              <a:t>Establishes a connection to databases using ADO technology.</a:t>
            </a:r>
            <a:endParaRPr lang="en-US" altLang="en-US"/>
          </a:p>
          <a:p>
            <a:pPr lvl="1"/>
            <a:r>
              <a:rPr lang="en-US" altLang="en-US"/>
              <a:t>Supports ADO Recordsets for in-memory data processing.</a:t>
            </a:r>
            <a:endParaRPr lang="en-US" altLang="en-US"/>
          </a:p>
          <a:p>
            <a:pPr lvl="1"/>
            <a:r>
              <a:rPr lang="en-US" altLang="en-US"/>
              <a:t>Works with SQL Server and other OLE DB-compatible databases.</a:t>
            </a:r>
            <a:endParaRPr lang="en-US" altLang="en-US"/>
          </a:p>
          <a:p>
            <a:pPr lvl="1"/>
            <a:r>
              <a:rPr lang="en-US" altLang="en-US"/>
              <a:t>Can be shared by multiple tasks within an SSIS package.</a:t>
            </a:r>
            <a:endParaRPr lang="en-US" altLang="en-US"/>
          </a:p>
          <a:p>
            <a:pPr lvl="1"/>
            <a:r>
              <a:rPr lang="en-US" altLang="en-US"/>
              <a:t>Supports dynamic connection strings using variables and expressions.</a:t>
            </a:r>
            <a:endParaRPr lang="en-US" altLang="en-US"/>
          </a:p>
          <a:p>
            <a:pPr lvl="1"/>
            <a:r>
              <a:rPr lang="en-US" altLang="en-US"/>
              <a:t>Provides secure authentication using Windows or SQL Server Authentication.</a:t>
            </a:r>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Components of ADO Connection Manager</a:t>
            </a:r>
            <a:endParaRPr lang="en-US"/>
          </a:p>
        </p:txBody>
      </p:sp>
      <p:sp>
        <p:nvSpPr>
          <p:cNvPr id="3" name="Content Placeholder 2"/>
          <p:cNvSpPr>
            <a:spLocks noGrp="1"/>
          </p:cNvSpPr>
          <p:nvPr>
            <p:ph idx="1"/>
          </p:nvPr>
        </p:nvSpPr>
        <p:spPr/>
        <p:txBody>
          <a:bodyPr/>
          <a:p>
            <a:r>
              <a:rPr lang="en-US" altLang="en-US"/>
              <a:t>Connection Name – Identifies the connection manager.</a:t>
            </a:r>
            <a:endParaRPr lang="en-US" altLang="en-US"/>
          </a:p>
          <a:p>
            <a:r>
              <a:rPr lang="en-US" altLang="en-US"/>
              <a:t>Provider – Specifies the ADO/OLE DB provider.</a:t>
            </a:r>
            <a:endParaRPr lang="en-US" altLang="en-US"/>
          </a:p>
          <a:p>
            <a:r>
              <a:rPr lang="en-US" altLang="en-US"/>
              <a:t>Server Name – Database server to connect to.</a:t>
            </a:r>
            <a:endParaRPr lang="en-US" altLang="en-US"/>
          </a:p>
          <a:p>
            <a:r>
              <a:rPr lang="en-US" altLang="en-US"/>
              <a:t>Database Name – Target database.</a:t>
            </a:r>
            <a:endParaRPr lang="en-US" altLang="en-US"/>
          </a:p>
          <a:p>
            <a:r>
              <a:rPr lang="en-US" altLang="en-US"/>
              <a:t>Authentication – Windows Authentication or SQL Server Authentication.</a:t>
            </a:r>
            <a:endParaRPr lang="en-US" altLang="en-US"/>
          </a:p>
          <a:p>
            <a:r>
              <a:rPr lang="en-US" altLang="en-US"/>
              <a:t>Connection String – Stores all connection information.</a:t>
            </a:r>
            <a:endParaRPr lang="en-US"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Steps </a:t>
            </a:r>
            <a:endParaRPr lang="en-US"/>
          </a:p>
        </p:txBody>
      </p:sp>
      <p:sp>
        <p:nvSpPr>
          <p:cNvPr id="3" name="Content Placeholder 2"/>
          <p:cNvSpPr>
            <a:spLocks noGrp="1"/>
          </p:cNvSpPr>
          <p:nvPr>
            <p:ph idx="1"/>
          </p:nvPr>
        </p:nvSpPr>
        <p:spPr>
          <a:xfrm>
            <a:off x="838200" y="1452245"/>
            <a:ext cx="10515600" cy="4725035"/>
          </a:xfrm>
        </p:spPr>
        <p:txBody>
          <a:bodyPr>
            <a:normAutofit fontScale="60000"/>
          </a:bodyPr>
          <a:p>
            <a:r>
              <a:rPr lang="en-US" altLang="en-US"/>
              <a:t>Open the SSIS package in SQL Server Data Tools (SSDT).</a:t>
            </a:r>
            <a:endParaRPr lang="en-US" altLang="en-US"/>
          </a:p>
          <a:p>
            <a:r>
              <a:rPr lang="en-US" altLang="en-US"/>
              <a:t>Right-click in the Connection Managers pane.</a:t>
            </a:r>
            <a:endParaRPr lang="en-US" altLang="en-US"/>
          </a:p>
          <a:p>
            <a:r>
              <a:rPr lang="en-US" altLang="en-US"/>
              <a:t>Select New ADO.NET Connection (or configure an ADO connection as required).</a:t>
            </a:r>
            <a:endParaRPr lang="en-US" altLang="en-US"/>
          </a:p>
          <a:p>
            <a:r>
              <a:rPr lang="en-US" altLang="en-US"/>
              <a:t>Choose the appropriate Provider.</a:t>
            </a:r>
            <a:endParaRPr lang="en-US" altLang="en-US"/>
          </a:p>
          <a:p>
            <a:r>
              <a:rPr lang="en-US" altLang="en-US"/>
              <a:t>Enter the Server Name.</a:t>
            </a:r>
            <a:endParaRPr lang="en-US" altLang="en-US"/>
          </a:p>
          <a:p>
            <a:r>
              <a:rPr lang="en-US" altLang="en-US"/>
              <a:t>Select the Database.</a:t>
            </a:r>
            <a:endParaRPr lang="en-US" altLang="en-US"/>
          </a:p>
          <a:p>
            <a:r>
              <a:rPr lang="en-US" altLang="en-US"/>
              <a:t>Provide authentication details.</a:t>
            </a:r>
            <a:endParaRPr lang="en-US" altLang="en-US"/>
          </a:p>
          <a:p>
            <a:r>
              <a:rPr lang="en-US" altLang="en-US"/>
              <a:t>Click Test Connection.</a:t>
            </a:r>
            <a:endParaRPr lang="en-US" altLang="en-US"/>
          </a:p>
          <a:p>
            <a:r>
              <a:rPr lang="en-US" altLang="en-US"/>
              <a:t>Click OK to create the connection.</a:t>
            </a:r>
            <a:endParaRPr lang="en-US" altLang="en-US"/>
          </a:p>
          <a:p>
            <a:r>
              <a:rPr lang="en-US" altLang="en-US"/>
              <a:t>Example :</a:t>
            </a:r>
            <a:endParaRPr lang="en-US" altLang="en-US"/>
          </a:p>
          <a:p>
            <a:pPr lvl="1"/>
            <a:r>
              <a:rPr lang="en-US" altLang="en-US"/>
              <a:t>Suppose an SSIS package retrieves all employee records from an Employees table. An ADO Connection Manager connects to the SQL Server database, retrieves the data into an ADO Recordset, and a Foreach Loop Container processes each employee record individually for further transformation or loading.</a:t>
            </a:r>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Pros and Cons</a:t>
            </a:r>
            <a:endParaRPr lang="en-US"/>
          </a:p>
        </p:txBody>
      </p:sp>
      <p:sp>
        <p:nvSpPr>
          <p:cNvPr id="3" name="Content Placeholder 2"/>
          <p:cNvSpPr>
            <a:spLocks noGrp="1"/>
          </p:cNvSpPr>
          <p:nvPr>
            <p:ph idx="1"/>
          </p:nvPr>
        </p:nvSpPr>
        <p:spPr>
          <a:xfrm>
            <a:off x="838200" y="1825625"/>
            <a:ext cx="5257800" cy="4351655"/>
          </a:xfrm>
        </p:spPr>
        <p:txBody>
          <a:bodyPr>
            <a:normAutofit/>
          </a:bodyPr>
          <a:p>
            <a:r>
              <a:rPr lang="en-US"/>
              <a:t>Pros : </a:t>
            </a:r>
            <a:endParaRPr lang="en-US"/>
          </a:p>
          <a:p>
            <a:pPr lvl="1"/>
            <a:r>
              <a:rPr lang="en-US" altLang="en-US"/>
              <a:t>Easy to configure and manage.</a:t>
            </a:r>
            <a:endParaRPr lang="en-US" altLang="en-US"/>
          </a:p>
          <a:p>
            <a:pPr lvl="1"/>
            <a:r>
              <a:rPr lang="en-US" altLang="en-US"/>
              <a:t>Supports reusable database connections.</a:t>
            </a:r>
            <a:endParaRPr lang="en-US" altLang="en-US"/>
          </a:p>
          <a:p>
            <a:pPr lvl="1"/>
            <a:r>
              <a:rPr lang="en-US" altLang="en-US"/>
              <a:t>Enables recordset-based processing.</a:t>
            </a:r>
            <a:endParaRPr lang="en-US" altLang="en-US"/>
          </a:p>
          <a:p>
            <a:pPr lvl="1"/>
            <a:r>
              <a:rPr lang="en-US" altLang="en-US"/>
              <a:t>Improves package maintainability.</a:t>
            </a:r>
            <a:endParaRPr lang="en-US" altLang="en-US"/>
          </a:p>
          <a:p>
            <a:pPr lvl="1"/>
            <a:r>
              <a:rPr lang="en-US" altLang="en-US"/>
              <a:t>Supports dynamic configuration using variables.</a:t>
            </a:r>
            <a:endParaRPr lang="en-US" altLang="en-US"/>
          </a:p>
          <a:p>
            <a:pPr lvl="1"/>
            <a:r>
              <a:rPr lang="en-US" altLang="en-US"/>
              <a:t>Compatible with many database providers.</a:t>
            </a:r>
            <a:endParaRPr lang="en-US" altLang="en-US"/>
          </a:p>
        </p:txBody>
      </p:sp>
      <p:sp>
        <p:nvSpPr>
          <p:cNvPr id="6" name="Content Placeholder 2"/>
          <p:cNvSpPr>
            <a:spLocks noGrp="1"/>
          </p:cNvSpPr>
          <p:nvPr/>
        </p:nvSpPr>
        <p:spPr>
          <a:xfrm>
            <a:off x="6568440" y="1885950"/>
            <a:ext cx="5257800"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ltLang="en-US"/>
              <a:t>Cons : </a:t>
            </a:r>
            <a:endParaRPr lang="en-US" altLang="en-US"/>
          </a:p>
          <a:p>
            <a:pPr lvl="1"/>
            <a:r>
              <a:rPr lang="en-US" altLang="en-US"/>
              <a:t>Primarily designed for ADO-based operations.</a:t>
            </a:r>
            <a:endParaRPr lang="en-US" altLang="en-US"/>
          </a:p>
          <a:p>
            <a:pPr lvl="1"/>
            <a:r>
              <a:rPr lang="en-US" altLang="en-US"/>
              <a:t>May not provide the best performance for very large datasets.</a:t>
            </a:r>
            <a:endParaRPr lang="en-US" altLang="en-US"/>
          </a:p>
          <a:p>
            <a:pPr lvl="1"/>
            <a:r>
              <a:rPr lang="en-US" altLang="en-US"/>
              <a:t>Depends on the availability of the required ADO/OLE DB provider.</a:t>
            </a:r>
            <a:endParaRPr lang="en-US" altLang="en-US"/>
          </a:p>
          <a:p>
            <a:pPr lvl="1"/>
            <a:r>
              <a:rPr lang="en-US" altLang="en-US"/>
              <a:t>Less commonly used than OLE DB Connection Manager for general ETL operations.</a:t>
            </a:r>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Comparision :  OLEDB vs ADO</a:t>
            </a:r>
            <a:endParaRPr lang="en-US"/>
          </a:p>
        </p:txBody>
      </p:sp>
      <p:graphicFrame>
        <p:nvGraphicFramePr>
          <p:cNvPr id="4" name="Table 3"/>
          <p:cNvGraphicFramePr/>
          <p:nvPr/>
        </p:nvGraphicFramePr>
        <p:xfrm>
          <a:off x="853440" y="1686560"/>
          <a:ext cx="10485120" cy="3942715"/>
        </p:xfrm>
        <a:graphic>
          <a:graphicData uri="http://schemas.openxmlformats.org/drawingml/2006/table">
            <a:tbl>
              <a:tblPr>
                <a:tableStyleId>{BDBED569-4797-4DF1-A0F4-6AAB3CD982D8}</a:tableStyleId>
              </a:tblPr>
              <a:tblGrid>
                <a:gridCol w="3495040"/>
                <a:gridCol w="3495040"/>
                <a:gridCol w="3495040"/>
              </a:tblGrid>
              <a:tr h="563245">
                <a:tc>
                  <a:txBody>
                    <a:bodyPr/>
                    <a:p>
                      <a:pPr algn="ctr"/>
                      <a:r>
                        <a:rPr sz="1800" b="1" u="sng"/>
                        <a:t>Feature</a:t>
                      </a:r>
                      <a:endParaRPr sz="1800" b="1" u="sng"/>
                    </a:p>
                  </a:txBody>
                  <a:tcPr marL="0" marR="0" marT="0" marB="0" anchor="ctr" anchorCtr="0"/>
                </a:tc>
                <a:tc>
                  <a:txBody>
                    <a:bodyPr/>
                    <a:p>
                      <a:pPr algn="ctr"/>
                      <a:r>
                        <a:rPr sz="1800" b="1" u="sng"/>
                        <a:t>ADO Connection Manager</a:t>
                      </a:r>
                      <a:endParaRPr sz="1800" b="1" u="sng"/>
                    </a:p>
                  </a:txBody>
                  <a:tcPr marL="0" marR="0" marT="0" marB="0" anchor="ctr" anchorCtr="0"/>
                </a:tc>
                <a:tc>
                  <a:txBody>
                    <a:bodyPr/>
                    <a:p>
                      <a:pPr algn="ctr"/>
                      <a:r>
                        <a:rPr sz="1800" b="1" u="sng"/>
                        <a:t>OLE DB Connection Manager</a:t>
                      </a:r>
                      <a:endParaRPr sz="1800" b="1" u="sng"/>
                    </a:p>
                  </a:txBody>
                  <a:tcPr marL="0" marR="0" marT="0" marB="0" anchor="ctr" anchorCtr="0"/>
                </a:tc>
              </a:tr>
              <a:tr h="563245">
                <a:tc>
                  <a:txBody>
                    <a:bodyPr/>
                    <a:p>
                      <a:pPr algn="ctr"/>
                      <a:r>
                        <a:rPr sz="1800" b="1"/>
                        <a:t>Technology</a:t>
                      </a:r>
                      <a:endParaRPr sz="1800" b="1"/>
                    </a:p>
                  </a:txBody>
                  <a:tcPr marL="0" marR="0" marT="0" marB="0" anchor="ctr" anchorCtr="0"/>
                </a:tc>
                <a:tc>
                  <a:txBody>
                    <a:bodyPr/>
                    <a:p>
                      <a:pPr algn="ctr"/>
                      <a:r>
                        <a:rPr sz="1600"/>
                        <a:t>ActiveX Data Objects (ADO)</a:t>
                      </a:r>
                      <a:endParaRPr sz="1600"/>
                    </a:p>
                  </a:txBody>
                  <a:tcPr marL="0" marR="0" marT="0" marB="0" anchor="ctr" anchorCtr="0"/>
                </a:tc>
                <a:tc>
                  <a:txBody>
                    <a:bodyPr/>
                    <a:p>
                      <a:pPr algn="ctr"/>
                      <a:r>
                        <a:rPr sz="1600"/>
                        <a:t>OLE DB</a:t>
                      </a:r>
                      <a:endParaRPr sz="1600"/>
                    </a:p>
                  </a:txBody>
                  <a:tcPr marL="0" marR="0" marT="0" marB="0" anchor="ctr" anchorCtr="0"/>
                </a:tc>
              </a:tr>
              <a:tr h="563245">
                <a:tc>
                  <a:txBody>
                    <a:bodyPr/>
                    <a:p>
                      <a:pPr algn="ctr"/>
                      <a:r>
                        <a:rPr sz="1800" b="1"/>
                        <a:t>Main Purpose</a:t>
                      </a:r>
                      <a:endParaRPr sz="1800" b="1"/>
                    </a:p>
                  </a:txBody>
                  <a:tcPr marL="0" marR="0" marT="0" marB="0" anchor="ctr" anchorCtr="0"/>
                </a:tc>
                <a:tc>
                  <a:txBody>
                    <a:bodyPr/>
                    <a:p>
                      <a:pPr algn="ctr"/>
                      <a:r>
                        <a:rPr sz="1600"/>
                        <a:t>Recordset-based processing</a:t>
                      </a:r>
                      <a:endParaRPr sz="1600"/>
                    </a:p>
                  </a:txBody>
                  <a:tcPr marL="0" marR="0" marT="0" marB="0" anchor="ctr" anchorCtr="0"/>
                </a:tc>
                <a:tc>
                  <a:txBody>
                    <a:bodyPr/>
                    <a:p>
                      <a:pPr algn="ctr"/>
                      <a:r>
                        <a:rPr sz="1600"/>
                        <a:t>General database connectivity</a:t>
                      </a:r>
                      <a:endParaRPr sz="1600"/>
                    </a:p>
                  </a:txBody>
                  <a:tcPr marL="0" marR="0" marT="0" marB="0" anchor="ctr" anchorCtr="0"/>
                </a:tc>
              </a:tr>
              <a:tr h="563245">
                <a:tc>
                  <a:txBody>
                    <a:bodyPr/>
                    <a:p>
                      <a:pPr algn="ctr"/>
                      <a:r>
                        <a:rPr sz="1800" b="1"/>
                        <a:t>Performance</a:t>
                      </a:r>
                      <a:endParaRPr sz="1800" b="1"/>
                    </a:p>
                  </a:txBody>
                  <a:tcPr marL="0" marR="0" marT="0" marB="0" anchor="ctr" anchorCtr="0"/>
                </a:tc>
                <a:tc>
                  <a:txBody>
                    <a:bodyPr/>
                    <a:p>
                      <a:pPr algn="ctr"/>
                      <a:r>
                        <a:rPr sz="1600"/>
                        <a:t>Moderate</a:t>
                      </a:r>
                      <a:endParaRPr sz="1600"/>
                    </a:p>
                  </a:txBody>
                  <a:tcPr marL="0" marR="0" marT="0" marB="0" anchor="ctr" anchorCtr="0"/>
                </a:tc>
                <a:tc>
                  <a:txBody>
                    <a:bodyPr/>
                    <a:p>
                      <a:pPr algn="ctr"/>
                      <a:r>
                        <a:rPr sz="1600"/>
                        <a:t>Faster for ETL operations</a:t>
                      </a:r>
                      <a:endParaRPr sz="1600"/>
                    </a:p>
                  </a:txBody>
                  <a:tcPr marL="0" marR="0" marT="0" marB="0" anchor="ctr" anchorCtr="0"/>
                </a:tc>
              </a:tr>
              <a:tr h="563245">
                <a:tc>
                  <a:txBody>
                    <a:bodyPr/>
                    <a:p>
                      <a:pPr algn="ctr"/>
                      <a:r>
                        <a:rPr sz="1800" b="1"/>
                        <a:t>Common Use</a:t>
                      </a:r>
                      <a:endParaRPr sz="1800" b="1"/>
                    </a:p>
                  </a:txBody>
                  <a:tcPr marL="0" marR="0" marT="0" marB="0" anchor="ctr" anchorCtr="0"/>
                </a:tc>
                <a:tc>
                  <a:txBody>
                    <a:bodyPr/>
                    <a:p>
                      <a:pPr algn="ctr"/>
                      <a:r>
                        <a:rPr sz="1600"/>
                        <a:t>Foreach ADO Enumerator, ADO Recordsets</a:t>
                      </a:r>
                      <a:endParaRPr sz="1600"/>
                    </a:p>
                  </a:txBody>
                  <a:tcPr marL="0" marR="0" marT="0" marB="0" anchor="ctr" anchorCtr="0"/>
                </a:tc>
                <a:tc>
                  <a:txBody>
                    <a:bodyPr/>
                    <a:p>
                      <a:pPr algn="ctr"/>
                      <a:r>
                        <a:rPr sz="1600"/>
                        <a:t>Data Flow Tasks, Execute SQL Task</a:t>
                      </a:r>
                      <a:endParaRPr sz="1600"/>
                    </a:p>
                  </a:txBody>
                  <a:tcPr marL="0" marR="0" marT="0" marB="0" anchor="ctr" anchorCtr="0"/>
                </a:tc>
              </a:tr>
              <a:tr h="563245">
                <a:tc>
                  <a:txBody>
                    <a:bodyPr/>
                    <a:p>
                      <a:pPr algn="ctr"/>
                      <a:r>
                        <a:rPr sz="1800" b="1"/>
                        <a:t>Database Support</a:t>
                      </a:r>
                      <a:endParaRPr sz="1800" b="1"/>
                    </a:p>
                  </a:txBody>
                  <a:tcPr marL="0" marR="0" marT="0" marB="0" anchor="ctr" anchorCtr="0"/>
                </a:tc>
                <a:tc>
                  <a:txBody>
                    <a:bodyPr/>
                    <a:p>
                      <a:pPr algn="ctr"/>
                      <a:r>
                        <a:rPr sz="1600"/>
                        <a:t>ADO-compatible data sources</a:t>
                      </a:r>
                      <a:endParaRPr sz="1600"/>
                    </a:p>
                  </a:txBody>
                  <a:tcPr marL="0" marR="0" marT="0" marB="0" anchor="ctr" anchorCtr="0"/>
                </a:tc>
                <a:tc>
                  <a:txBody>
                    <a:bodyPr/>
                    <a:p>
                      <a:pPr algn="ctr"/>
                      <a:r>
                        <a:rPr sz="1600"/>
                        <a:t>OLE DB-compatible data sources</a:t>
                      </a:r>
                      <a:endParaRPr sz="1600"/>
                    </a:p>
                  </a:txBody>
                  <a:tcPr marL="0" marR="0" marT="0" marB="0" anchor="ctr" anchorCtr="0"/>
                </a:tc>
              </a:tr>
              <a:tr h="563245">
                <a:tc>
                  <a:txBody>
                    <a:bodyPr/>
                    <a:p>
                      <a:pPr algn="ctr"/>
                      <a:r>
                        <a:rPr sz="1800" b="1"/>
                        <a:t>Preferred For</a:t>
                      </a:r>
                      <a:endParaRPr sz="1800" b="1"/>
                    </a:p>
                  </a:txBody>
                  <a:tcPr marL="0" marR="0" marT="0" marB="0" anchor="ctr" anchorCtr="0"/>
                </a:tc>
                <a:tc>
                  <a:txBody>
                    <a:bodyPr/>
                    <a:p>
                      <a:pPr algn="ctr"/>
                      <a:r>
                        <a:rPr sz="1600"/>
                        <a:t>Looping through recordsets</a:t>
                      </a:r>
                      <a:endParaRPr sz="1600"/>
                    </a:p>
                  </a:txBody>
                  <a:tcPr marL="0" marR="0" marT="0" marB="0" anchor="ctr" anchorCtr="0"/>
                </a:tc>
                <a:tc>
                  <a:txBody>
                    <a:bodyPr/>
                    <a:p>
                      <a:pPr algn="ctr"/>
                      <a:r>
                        <a:rPr sz="1600"/>
                        <a:t>Extracting, transforming, and loading data</a:t>
                      </a:r>
                      <a:endParaRPr sz="1600"/>
                    </a:p>
                  </a:txBody>
                  <a:tcPr marL="0" marR="0" marT="0" marB="0" anchor="ctr" anchorCtr="0"/>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ADO.NET Connection Manager</a:t>
            </a:r>
            <a:endParaRPr lang="en-US"/>
          </a:p>
        </p:txBody>
      </p:sp>
      <p:sp>
        <p:nvSpPr>
          <p:cNvPr id="3" name="Content Placeholder 2"/>
          <p:cNvSpPr>
            <a:spLocks noGrp="1"/>
          </p:cNvSpPr>
          <p:nvPr>
            <p:ph idx="1"/>
          </p:nvPr>
        </p:nvSpPr>
        <p:spPr/>
        <p:txBody>
          <a:bodyPr/>
          <a:p>
            <a:r>
              <a:rPr lang="en-US" altLang="en-US"/>
              <a:t>ADO.NET Connection Manager in SQL Server Integration Services (SSIS) is used to establish a connection between an SSIS package and a database using the ADO.NET data provider. It enables SSIS to access relational databases such as SQL Server, Oracle, MySQL, and others through .NET Framework providers.</a:t>
            </a:r>
            <a:endParaRPr lang="en-US" altLang="en-US"/>
          </a:p>
          <a:p>
            <a:r>
              <a:rPr lang="en-US" altLang="en-US"/>
              <a:t>ADO.NET Connection Manager is commonly used with tasks like Execute SQL Task, Script Task, and Data Flow Task when .NET data providers are required.</a:t>
            </a:r>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Features of ADO.NET Connection Manager</a:t>
            </a:r>
            <a:endParaRPr lang="en-US"/>
          </a:p>
        </p:txBody>
      </p:sp>
      <p:sp>
        <p:nvSpPr>
          <p:cNvPr id="3" name="Content Placeholder 2"/>
          <p:cNvSpPr>
            <a:spLocks noGrp="1"/>
          </p:cNvSpPr>
          <p:nvPr>
            <p:ph idx="1"/>
          </p:nvPr>
        </p:nvSpPr>
        <p:spPr/>
        <p:txBody>
          <a:bodyPr/>
          <a:p>
            <a:r>
              <a:rPr lang="en-US" altLang="en-US"/>
              <a:t>Connects to databases using ADO.NET providers.</a:t>
            </a:r>
            <a:endParaRPr lang="en-US" altLang="en-US"/>
          </a:p>
          <a:p>
            <a:r>
              <a:rPr lang="en-US" altLang="en-US"/>
              <a:t>Supports SQL Server, Oracle, MySQL, PostgreSQL, and other databases.</a:t>
            </a:r>
            <a:endParaRPr lang="en-US" altLang="en-US"/>
          </a:p>
          <a:p>
            <a:r>
              <a:rPr lang="en-US" altLang="en-US"/>
              <a:t>Allows Windows Authentication and SQL Server Authentication.</a:t>
            </a:r>
            <a:endParaRPr lang="en-US" altLang="en-US"/>
          </a:p>
          <a:p>
            <a:r>
              <a:rPr lang="en-US" altLang="en-US"/>
              <a:t>Supports dynamic connection strings using variables and expressions.</a:t>
            </a:r>
            <a:endParaRPr lang="en-US" altLang="en-US"/>
          </a:p>
          <a:p>
            <a:r>
              <a:rPr lang="en-US" altLang="en-US"/>
              <a:t>Can be shared among multiple tasks within an SSIS package.</a:t>
            </a:r>
            <a:endParaRPr lang="en-US" altLang="en-US"/>
          </a:p>
          <a:p>
            <a:r>
              <a:rPr lang="en-US" altLang="en-US"/>
              <a:t>Provides secure and reliable database connectivity.</a:t>
            </a:r>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Components of an ADO.NET Connection Manager</a:t>
            </a:r>
            <a:endParaRPr lang="en-US" altLang="en-US"/>
          </a:p>
        </p:txBody>
      </p:sp>
      <p:sp>
        <p:nvSpPr>
          <p:cNvPr id="3" name="Content Placeholder 2"/>
          <p:cNvSpPr>
            <a:spLocks noGrp="1"/>
          </p:cNvSpPr>
          <p:nvPr>
            <p:ph idx="1"/>
          </p:nvPr>
        </p:nvSpPr>
        <p:spPr/>
        <p:txBody>
          <a:bodyPr/>
          <a:p>
            <a:r>
              <a:rPr lang="en-US" altLang="en-US"/>
              <a:t>Connection Name – Name of the connection manager.</a:t>
            </a:r>
            <a:endParaRPr lang="en-US" altLang="en-US"/>
          </a:p>
          <a:p>
            <a:r>
              <a:rPr lang="en-US" altLang="en-US"/>
              <a:t>.NET Provider – Specifies the ADO.NET provider (e.g., SQL Server, Oracle).</a:t>
            </a:r>
            <a:endParaRPr lang="en-US" altLang="en-US"/>
          </a:p>
          <a:p>
            <a:r>
              <a:rPr lang="en-US" altLang="en-US"/>
              <a:t>Server Name – Name of the database server.</a:t>
            </a:r>
            <a:endParaRPr lang="en-US" altLang="en-US"/>
          </a:p>
          <a:p>
            <a:r>
              <a:rPr lang="en-US" altLang="en-US"/>
              <a:t>Database Name – Target database.</a:t>
            </a:r>
            <a:endParaRPr lang="en-US" altLang="en-US"/>
          </a:p>
          <a:p>
            <a:r>
              <a:rPr lang="en-US" altLang="en-US"/>
              <a:t>Authentication – Windows Authentication or SQL Server Authentication.</a:t>
            </a:r>
            <a:endParaRPr lang="en-US" altLang="en-US"/>
          </a:p>
          <a:p>
            <a:r>
              <a:rPr lang="en-US" altLang="en-US"/>
              <a:t>Connection String – Contains all connection details.</a:t>
            </a:r>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Steps to Create an ADO.NET Connection Manager</a:t>
            </a:r>
            <a:endParaRPr lang="en-US" altLang="en-US"/>
          </a:p>
        </p:txBody>
      </p:sp>
      <p:sp>
        <p:nvSpPr>
          <p:cNvPr id="3" name="Content Placeholder 2"/>
          <p:cNvSpPr>
            <a:spLocks noGrp="1"/>
          </p:cNvSpPr>
          <p:nvPr>
            <p:ph idx="1"/>
          </p:nvPr>
        </p:nvSpPr>
        <p:spPr/>
        <p:txBody>
          <a:bodyPr>
            <a:normAutofit lnSpcReduction="20000"/>
          </a:bodyPr>
          <a:p>
            <a:r>
              <a:rPr lang="en-US" altLang="en-US"/>
              <a:t>Open the SSIS package in SQL Server Data Tools (SSDT).</a:t>
            </a:r>
            <a:endParaRPr lang="en-US" altLang="en-US"/>
          </a:p>
          <a:p>
            <a:r>
              <a:rPr lang="en-US" altLang="en-US"/>
              <a:t>Right-click in the Connection Managers pane.</a:t>
            </a:r>
            <a:endParaRPr lang="en-US" altLang="en-US"/>
          </a:p>
          <a:p>
            <a:r>
              <a:rPr lang="en-US" altLang="en-US"/>
              <a:t>Select New ADO.NET Connection.</a:t>
            </a:r>
            <a:endParaRPr lang="en-US" altLang="en-US"/>
          </a:p>
          <a:p>
            <a:r>
              <a:rPr lang="en-US" altLang="en-US"/>
              <a:t>Choose the required .NET Provider (e.g., .NET Providers\SqlClient Data Provider).</a:t>
            </a:r>
            <a:endParaRPr lang="en-US" altLang="en-US"/>
          </a:p>
          <a:p>
            <a:r>
              <a:rPr lang="en-US" altLang="en-US"/>
              <a:t>Enter the Server Name.</a:t>
            </a:r>
            <a:endParaRPr lang="en-US" altLang="en-US"/>
          </a:p>
          <a:p>
            <a:r>
              <a:rPr lang="en-US" altLang="en-US"/>
              <a:t>Select the Database Name.</a:t>
            </a:r>
            <a:endParaRPr lang="en-US" altLang="en-US"/>
          </a:p>
          <a:p>
            <a:r>
              <a:rPr lang="en-US" altLang="en-US"/>
              <a:t>Enter authentication details.</a:t>
            </a:r>
            <a:endParaRPr lang="en-US" altLang="en-US"/>
          </a:p>
          <a:p>
            <a:r>
              <a:rPr lang="en-US" altLang="en-US"/>
              <a:t>Click Test Connection to verify the connection.</a:t>
            </a:r>
            <a:endParaRPr lang="en-US" altLang="en-US"/>
          </a:p>
          <a:p>
            <a:r>
              <a:rPr lang="en-US" altLang="en-US"/>
              <a:t>Click OK to save the connection.</a:t>
            </a:r>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Limitations</a:t>
            </a:r>
            <a:endParaRPr lang="en-US"/>
          </a:p>
        </p:txBody>
      </p:sp>
      <p:sp>
        <p:nvSpPr>
          <p:cNvPr id="3" name="Content Placeholder 2"/>
          <p:cNvSpPr>
            <a:spLocks noGrp="1"/>
          </p:cNvSpPr>
          <p:nvPr>
            <p:ph idx="1"/>
          </p:nvPr>
        </p:nvSpPr>
        <p:spPr/>
        <p:txBody>
          <a:bodyPr>
            <a:normAutofit lnSpcReduction="10000"/>
          </a:bodyPr>
          <a:p>
            <a:r>
              <a:rPr lang="en-US" altLang="en-US"/>
              <a:t>Requires the appropriate ADO.NET provider to be installed.</a:t>
            </a:r>
            <a:endParaRPr lang="en-US" altLang="en-US"/>
          </a:p>
          <a:p>
            <a:r>
              <a:rPr lang="en-US" altLang="en-US"/>
              <a:t>Configuration can be more complex than OLE DB in some scenarios.</a:t>
            </a:r>
            <a:endParaRPr lang="en-US" altLang="en-US"/>
          </a:p>
          <a:p>
            <a:r>
              <a:rPr lang="en-US" altLang="en-US"/>
              <a:t>Some SSIS components are optimized for OLE DB rather than ADO.NET.</a:t>
            </a:r>
            <a:endParaRPr lang="en-US" altLang="en-US"/>
          </a:p>
          <a:p>
            <a:r>
              <a:rPr lang="en-US" altLang="en-US" b="1" u="sng"/>
              <a:t>Example : </a:t>
            </a:r>
            <a:endParaRPr lang="en-US" altLang="en-US" b="1" u="sng"/>
          </a:p>
          <a:p>
            <a:pPr lvl="1"/>
            <a:r>
              <a:rPr lang="en-US" altLang="en-US"/>
              <a:t>An SSIS package needs to retrieve customer data from a SQL Server database. An ADO.NET Connection Manager is configured using the SqlClient Data Provider. The Execute SQL Task runs a query such as:</a:t>
            </a:r>
            <a:endParaRPr lang="en-US" altLang="en-US"/>
          </a:p>
          <a:p>
            <a:pPr marL="914400" lvl="2" indent="0">
              <a:buNone/>
            </a:pPr>
            <a:r>
              <a:rPr lang="en-US" altLang="en-US"/>
              <a:t>SELECT CustomerID, CustomerName</a:t>
            </a:r>
            <a:endParaRPr lang="en-US" altLang="en-US"/>
          </a:p>
          <a:p>
            <a:pPr marL="914400" lvl="2" indent="0">
              <a:buNone/>
            </a:pPr>
            <a:r>
              <a:rPr lang="en-US" altLang="en-US"/>
              <a:t>FROM Customers;</a:t>
            </a:r>
            <a:endParaRPr lang="en-US" altLang="en-US"/>
          </a:p>
          <a:p>
            <a:pPr marL="457200" lvl="1" indent="0">
              <a:buNone/>
            </a:pPr>
            <a:r>
              <a:rPr lang="en-US" altLang="en-US"/>
              <a:t>The retrieved data is then processed or loaded into another database.</a:t>
            </a:r>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Cache Connection Manager</a:t>
            </a:r>
            <a:endParaRPr lang="en-US"/>
          </a:p>
        </p:txBody>
      </p:sp>
      <p:sp>
        <p:nvSpPr>
          <p:cNvPr id="3" name="Content Placeholder 2"/>
          <p:cNvSpPr>
            <a:spLocks noGrp="1"/>
          </p:cNvSpPr>
          <p:nvPr>
            <p:ph idx="1"/>
          </p:nvPr>
        </p:nvSpPr>
        <p:spPr/>
        <p:txBody>
          <a:bodyPr/>
          <a:p>
            <a:r>
              <a:rPr lang="en-US" altLang="en-US"/>
              <a:t>Cache Connection Manager in SQL Server Integration Services (SSIS) is used to create, store, and access an in-memory cache of reference data during package execution. It is mainly used with the Lookup Transformation to improve performance by reducing repeated database queries.</a:t>
            </a:r>
            <a:endParaRPr lang="en-US" altLang="en-US"/>
          </a:p>
          <a:p>
            <a:r>
              <a:rPr lang="en-US" altLang="en-US"/>
              <a:t>The cache can be loaded from a database, flat file, or other data source and is stored temporarily in memory or saved as a Cache File (.caw) for reuse.</a:t>
            </a:r>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Feature of Cache Connection Manager</a:t>
            </a:r>
            <a:endParaRPr lang="en-US"/>
          </a:p>
        </p:txBody>
      </p:sp>
      <p:sp>
        <p:nvSpPr>
          <p:cNvPr id="3" name="Content Placeholder 2"/>
          <p:cNvSpPr>
            <a:spLocks noGrp="1"/>
          </p:cNvSpPr>
          <p:nvPr>
            <p:ph idx="1"/>
          </p:nvPr>
        </p:nvSpPr>
        <p:spPr/>
        <p:txBody>
          <a:bodyPr/>
          <a:p>
            <a:r>
              <a:rPr lang="en-US" altLang="en-US"/>
              <a:t>Stores reference data in memory for faster data access.</a:t>
            </a:r>
            <a:endParaRPr lang="en-US" altLang="en-US"/>
          </a:p>
          <a:p>
            <a:r>
              <a:rPr lang="en-US" altLang="en-US"/>
              <a:t>Improves the performance of Lookup Transformations.</a:t>
            </a:r>
            <a:endParaRPr lang="en-US" altLang="en-US"/>
          </a:p>
          <a:p>
            <a:r>
              <a:rPr lang="en-US" altLang="en-US"/>
              <a:t>Reduces the number of database queries during package execution.</a:t>
            </a:r>
            <a:endParaRPr lang="en-US" altLang="en-US"/>
          </a:p>
          <a:p>
            <a:r>
              <a:rPr lang="en-US" altLang="en-US"/>
              <a:t>Supports both in-memory cache and cache files (.caw).</a:t>
            </a:r>
            <a:endParaRPr lang="en-US" altLang="en-US"/>
          </a:p>
          <a:p>
            <a:r>
              <a:rPr lang="en-US" altLang="en-US"/>
              <a:t>Can be shared across multiple Lookup Transformations within the same package.</a:t>
            </a:r>
            <a:endParaRPr lang="en-US" altLang="en-US"/>
          </a:p>
          <a:p>
            <a:r>
              <a:rPr lang="en-US" altLang="en-US"/>
              <a:t>Supports loading data dynamically using the Cache Transform.</a:t>
            </a:r>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Component of Connection Manager</a:t>
            </a:r>
            <a:endParaRPr lang="en-US"/>
          </a:p>
        </p:txBody>
      </p:sp>
      <p:sp>
        <p:nvSpPr>
          <p:cNvPr id="3" name="Content Placeholder 2"/>
          <p:cNvSpPr>
            <a:spLocks noGrp="1"/>
          </p:cNvSpPr>
          <p:nvPr>
            <p:ph idx="1"/>
          </p:nvPr>
        </p:nvSpPr>
        <p:spPr/>
        <p:txBody>
          <a:bodyPr/>
          <a:p>
            <a:r>
              <a:rPr lang="en-US" altLang="en-US"/>
              <a:t>Open the SSIS package in SQL Server Data Tools (SSDT).</a:t>
            </a:r>
            <a:endParaRPr lang="en-US" altLang="en-US"/>
          </a:p>
          <a:p>
            <a:r>
              <a:rPr lang="en-US" altLang="en-US"/>
              <a:t>Right-click in the Connection Managers pane.</a:t>
            </a:r>
            <a:endParaRPr lang="en-US" altLang="en-US"/>
          </a:p>
          <a:p>
            <a:r>
              <a:rPr lang="en-US" altLang="en-US"/>
              <a:t>Select New Connection.</a:t>
            </a:r>
            <a:endParaRPr lang="en-US" altLang="en-US"/>
          </a:p>
          <a:p>
            <a:r>
              <a:rPr lang="en-US" altLang="en-US"/>
              <a:t>Choose CACHE and click Add.</a:t>
            </a:r>
            <a:endParaRPr lang="en-US" altLang="en-US"/>
          </a:p>
          <a:p>
            <a:r>
              <a:rPr lang="en-US" altLang="en-US"/>
              <a:t>Enter a name for the connection manager.</a:t>
            </a:r>
            <a:endParaRPr lang="en-US" altLang="en-US"/>
          </a:p>
          <a:p>
            <a:r>
              <a:rPr lang="en-US" altLang="en-US"/>
              <a:t>Specify a Cache File (.caw) if you want to save or reuse the cache.</a:t>
            </a:r>
            <a:endParaRPr lang="en-US" altLang="en-US"/>
          </a:p>
          <a:p>
            <a:r>
              <a:rPr lang="en-US" altLang="en-US"/>
              <a:t>Configure the cache columns and key columns.</a:t>
            </a:r>
            <a:endParaRPr lang="en-US" altLang="en-US"/>
          </a:p>
          <a:p>
            <a:r>
              <a:rPr lang="en-US" altLang="en-US"/>
              <a:t>Click OK to create the Cache Connection Manager.</a:t>
            </a:r>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Use Connection Manager</a:t>
            </a:r>
            <a:endParaRPr lang="en-US"/>
          </a:p>
        </p:txBody>
      </p:sp>
      <p:sp>
        <p:nvSpPr>
          <p:cNvPr id="3" name="Content Placeholder 2"/>
          <p:cNvSpPr>
            <a:spLocks noGrp="1"/>
          </p:cNvSpPr>
          <p:nvPr>
            <p:ph idx="1"/>
          </p:nvPr>
        </p:nvSpPr>
        <p:spPr/>
        <p:txBody>
          <a:bodyPr/>
          <a:p>
            <a:r>
              <a:rPr lang="en-US" altLang="en-US"/>
              <a:t>Storing lookup data in memory.</a:t>
            </a:r>
            <a:endParaRPr lang="en-US" altLang="en-US"/>
          </a:p>
          <a:p>
            <a:r>
              <a:rPr lang="en-US" altLang="en-US"/>
              <a:t>Improving the performance of Lookup Transformations.</a:t>
            </a:r>
            <a:endParaRPr lang="en-US" altLang="en-US"/>
          </a:p>
          <a:p>
            <a:r>
              <a:rPr lang="en-US" altLang="en-US"/>
              <a:t>Reducing repeated access to source databases.</a:t>
            </a:r>
            <a:endParaRPr lang="en-US" altLang="en-US"/>
          </a:p>
          <a:p>
            <a:r>
              <a:rPr lang="en-US" altLang="en-US"/>
              <a:t>Reusing cached reference data across package executions.</a:t>
            </a:r>
            <a:endParaRPr lang="en-US" altLang="en-US"/>
          </a:p>
          <a:p>
            <a:r>
              <a:rPr lang="en-US" altLang="en-US"/>
              <a:t>Supporting high-speed ETL operations involving reference or dimension data.</a:t>
            </a:r>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Limitation</a:t>
            </a:r>
            <a:endParaRPr lang="en-US"/>
          </a:p>
        </p:txBody>
      </p:sp>
      <p:sp>
        <p:nvSpPr>
          <p:cNvPr id="3" name="Content Placeholder 2"/>
          <p:cNvSpPr>
            <a:spLocks noGrp="1"/>
          </p:cNvSpPr>
          <p:nvPr>
            <p:ph idx="1"/>
          </p:nvPr>
        </p:nvSpPr>
        <p:spPr/>
        <p:txBody>
          <a:bodyPr>
            <a:normAutofit fontScale="70000"/>
          </a:bodyPr>
          <a:p>
            <a:r>
              <a:rPr lang="en-US" altLang="en-US"/>
              <a:t>Memory usage increases as cache size grows.</a:t>
            </a:r>
            <a:endParaRPr lang="en-US" altLang="en-US"/>
          </a:p>
          <a:p>
            <a:r>
              <a:rPr lang="en-US" altLang="en-US"/>
              <a:t>Large cache files may require significant system resources.</a:t>
            </a:r>
            <a:endParaRPr lang="en-US" altLang="en-US"/>
          </a:p>
          <a:p>
            <a:r>
              <a:rPr lang="en-US" altLang="en-US"/>
              <a:t>Cached data must be refreshed if the source data changes.</a:t>
            </a:r>
            <a:endParaRPr lang="en-US" altLang="en-US"/>
          </a:p>
          <a:p>
            <a:r>
              <a:rPr lang="en-US" altLang="en-US"/>
              <a:t>Not suitable for frequently changing reference data unless the cache is updated regularly.</a:t>
            </a:r>
            <a:endParaRPr lang="en-US" altLang="en-US"/>
          </a:p>
          <a:p>
            <a:r>
              <a:rPr lang="en-US" altLang="en-US"/>
              <a:t>Example : </a:t>
            </a:r>
            <a:endParaRPr lang="en-US" altLang="en-US"/>
          </a:p>
          <a:p>
            <a:r>
              <a:rPr lang="en-US" altLang="en-US"/>
              <a:t>Suppose an SSIS package loads Sales data into a data warehouse. Each sales record contains a Product ID, and the package needs to retrieve the corresponding Product Name and Category from a Products table.</a:t>
            </a:r>
            <a:endParaRPr lang="en-US" altLang="en-US"/>
          </a:p>
          <a:p>
            <a:r>
              <a:rPr lang="en-US" altLang="en-US"/>
              <a:t>Instead of querying the Products table for every sales record, the package first loads the Products table into a Cache Connection Manager. The Lookup Transformation then searches the in-memory cache to find matching product details, resulting in much faster execution and reduced database traffic.</a:t>
            </a:r>
            <a:endParaRPr lang="en-US" altLang="en-US"/>
          </a:p>
          <a:p>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EXCEL Connection Manager</a:t>
            </a:r>
            <a:endParaRPr lang="en-US"/>
          </a:p>
        </p:txBody>
      </p:sp>
      <p:sp>
        <p:nvSpPr>
          <p:cNvPr id="3" name="Content Placeholder 2"/>
          <p:cNvSpPr>
            <a:spLocks noGrp="1"/>
          </p:cNvSpPr>
          <p:nvPr>
            <p:ph idx="1"/>
          </p:nvPr>
        </p:nvSpPr>
        <p:spPr/>
        <p:txBody>
          <a:bodyPr/>
          <a:p>
            <a:r>
              <a:rPr lang="en-US" altLang="en-US"/>
              <a:t>Excel Connection Manager in SQL Server Integration Services (SSIS) is used to establish a connection between an SSIS package and a Microsoft Excel workbook. It enables SSIS to read data from Excel files or write data to Excel worksheets during ETL (Extract, Transform, Load) operations.</a:t>
            </a:r>
            <a:endParaRPr lang="en-US" altLang="en-US"/>
          </a:p>
          <a:p>
            <a:endParaRPr lang="en-US" altLang="en-US"/>
          </a:p>
          <a:p>
            <a:r>
              <a:rPr lang="en-US" altLang="en-US"/>
              <a:t>The Excel Connection Manager supports Excel file formats such as .xls and .xlsx and is commonly used with Excel Source and Excel Destination components in the Data Flow Task.</a:t>
            </a:r>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Features</a:t>
            </a:r>
            <a:endParaRPr lang="en-US"/>
          </a:p>
        </p:txBody>
      </p:sp>
      <p:sp>
        <p:nvSpPr>
          <p:cNvPr id="3" name="Content Placeholder 2"/>
          <p:cNvSpPr>
            <a:spLocks noGrp="1"/>
          </p:cNvSpPr>
          <p:nvPr>
            <p:ph idx="1"/>
          </p:nvPr>
        </p:nvSpPr>
        <p:spPr/>
        <p:txBody>
          <a:bodyPr/>
          <a:p>
            <a:r>
              <a:rPr lang="en-US" altLang="en-US"/>
              <a:t>Connects SSIS packages to Microsoft Excel workbooks.</a:t>
            </a:r>
            <a:endParaRPr lang="en-US" altLang="en-US"/>
          </a:p>
          <a:p>
            <a:r>
              <a:rPr lang="en-US" altLang="en-US"/>
              <a:t>Supports reading and writing data from Excel worksheets.</a:t>
            </a:r>
            <a:endParaRPr lang="en-US" altLang="en-US"/>
          </a:p>
          <a:p>
            <a:r>
              <a:rPr lang="en-US" altLang="en-US"/>
              <a:t>Supports both .xls and .xlsx file formats.</a:t>
            </a:r>
            <a:endParaRPr lang="en-US" altLang="en-US"/>
          </a:p>
          <a:p>
            <a:r>
              <a:rPr lang="en-US" altLang="en-US"/>
              <a:t>Allows selection of specific worksheets or named ranges.</a:t>
            </a:r>
            <a:endParaRPr lang="en-US" altLang="en-US"/>
          </a:p>
          <a:p>
            <a:r>
              <a:rPr lang="en-US" altLang="en-US"/>
              <a:t>Can use variables and expressions for dynamic file paths.</a:t>
            </a:r>
            <a:endParaRPr lang="en-US" altLang="en-US"/>
          </a:p>
          <a:p>
            <a:r>
              <a:rPr lang="en-US" altLang="en-US"/>
              <a:t>Supports importing and exporting data between Excel and databases.</a:t>
            </a:r>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Components of EXCEL Connection Manager</a:t>
            </a:r>
            <a:endParaRPr lang="en-US"/>
          </a:p>
        </p:txBody>
      </p:sp>
      <p:sp>
        <p:nvSpPr>
          <p:cNvPr id="3" name="Content Placeholder 2"/>
          <p:cNvSpPr>
            <a:spLocks noGrp="1"/>
          </p:cNvSpPr>
          <p:nvPr>
            <p:ph idx="1"/>
          </p:nvPr>
        </p:nvSpPr>
        <p:spPr/>
        <p:txBody>
          <a:bodyPr>
            <a:normAutofit lnSpcReduction="10000"/>
          </a:bodyPr>
          <a:p>
            <a:r>
              <a:rPr lang="en-US" altLang="en-US"/>
              <a:t>Connection Name – Name assigned to the connection manager.</a:t>
            </a:r>
            <a:endParaRPr lang="en-US" altLang="en-US"/>
          </a:p>
          <a:p>
            <a:r>
              <a:rPr lang="en-US" altLang="en-US"/>
              <a:t>Excel File Path – Location of the Excel workbook.</a:t>
            </a:r>
            <a:endParaRPr lang="en-US" altLang="en-US"/>
          </a:p>
          <a:p>
            <a:r>
              <a:rPr lang="en-US" altLang="en-US"/>
              <a:t>Excel Version – Specifies the version of the Excel file (e.g., Excel 97–2003, Excel 2007–2019).</a:t>
            </a:r>
            <a:endParaRPr lang="en-US" altLang="en-US"/>
          </a:p>
          <a:p>
            <a:r>
              <a:rPr lang="en-US" altLang="en-US"/>
              <a:t>First Row Has Column Names – Indicates whether the first row contains column headers.</a:t>
            </a:r>
            <a:endParaRPr lang="en-US" altLang="en-US"/>
          </a:p>
          <a:p>
            <a:r>
              <a:rPr lang="en-US" altLang="en-US"/>
              <a:t>Connection String – Stores the connection details for the Excel workbook.</a:t>
            </a:r>
            <a:endParaRPr lang="en-US" altLang="en-US"/>
          </a:p>
          <a:p>
            <a:r>
              <a:rPr lang="en-US" altLang="en-US"/>
              <a:t>Worksheet/Named Range – Specifies the sheet or named range to access.</a:t>
            </a:r>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Steps</a:t>
            </a:r>
            <a:endParaRPr lang="en-US"/>
          </a:p>
        </p:txBody>
      </p:sp>
      <p:sp>
        <p:nvSpPr>
          <p:cNvPr id="3" name="Content Placeholder 2"/>
          <p:cNvSpPr>
            <a:spLocks noGrp="1"/>
          </p:cNvSpPr>
          <p:nvPr>
            <p:ph idx="1"/>
          </p:nvPr>
        </p:nvSpPr>
        <p:spPr/>
        <p:txBody>
          <a:bodyPr>
            <a:normAutofit lnSpcReduction="10000"/>
          </a:bodyPr>
          <a:p>
            <a:r>
              <a:rPr lang="en-US" altLang="en-US"/>
              <a:t>Open the SSIS package in SQL Server Data Tools (SSDT).</a:t>
            </a:r>
            <a:endParaRPr lang="en-US" altLang="en-US"/>
          </a:p>
          <a:p>
            <a:r>
              <a:rPr lang="en-US" altLang="en-US"/>
              <a:t>Right-click in the Connection Managers pane.</a:t>
            </a:r>
            <a:endParaRPr lang="en-US" altLang="en-US"/>
          </a:p>
          <a:p>
            <a:r>
              <a:rPr lang="en-US" altLang="en-US"/>
              <a:t>Select New Connection.</a:t>
            </a:r>
            <a:endParaRPr lang="en-US" altLang="en-US"/>
          </a:p>
          <a:p>
            <a:r>
              <a:rPr lang="en-US" altLang="en-US"/>
              <a:t>Choose EXCEL and click Add.</a:t>
            </a:r>
            <a:endParaRPr lang="en-US" altLang="en-US"/>
          </a:p>
          <a:p>
            <a:r>
              <a:rPr lang="en-US" altLang="en-US"/>
              <a:t>Browse and select the Excel workbook.</a:t>
            </a:r>
            <a:endParaRPr lang="en-US" altLang="en-US"/>
          </a:p>
          <a:p>
            <a:r>
              <a:rPr lang="en-US" altLang="en-US"/>
              <a:t>Choose the appropriate Excel version.</a:t>
            </a:r>
            <a:endParaRPr lang="en-US" altLang="en-US"/>
          </a:p>
          <a:p>
            <a:r>
              <a:rPr lang="en-US" altLang="en-US"/>
              <a:t>Select the First row has column names option if applicable.</a:t>
            </a:r>
            <a:endParaRPr lang="en-US" altLang="en-US"/>
          </a:p>
          <a:p>
            <a:r>
              <a:rPr lang="en-US" altLang="en-US"/>
              <a:t>Click Test Connection (if available).</a:t>
            </a:r>
            <a:endParaRPr lang="en-US" altLang="en-US"/>
          </a:p>
          <a:p>
            <a:r>
              <a:rPr lang="en-US" altLang="en-US"/>
              <a:t>Click OK to create the connection.</a:t>
            </a:r>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Use of EXCEL Connection Manager</a:t>
            </a:r>
            <a:endParaRPr lang="en-US"/>
          </a:p>
        </p:txBody>
      </p:sp>
      <p:sp>
        <p:nvSpPr>
          <p:cNvPr id="3" name="Content Placeholder 2"/>
          <p:cNvSpPr>
            <a:spLocks noGrp="1"/>
          </p:cNvSpPr>
          <p:nvPr>
            <p:ph idx="1"/>
          </p:nvPr>
        </p:nvSpPr>
        <p:spPr/>
        <p:txBody>
          <a:bodyPr/>
          <a:p>
            <a:r>
              <a:rPr lang="en-US" altLang="en-US"/>
              <a:t>Importing data from Excel into SQL Server.</a:t>
            </a:r>
            <a:endParaRPr lang="en-US" altLang="en-US"/>
          </a:p>
          <a:p>
            <a:r>
              <a:rPr lang="en-US" altLang="en-US"/>
              <a:t>Exporting database data to Excel reports.</a:t>
            </a:r>
            <a:endParaRPr lang="en-US" altLang="en-US"/>
          </a:p>
          <a:p>
            <a:r>
              <a:rPr lang="en-US" altLang="en-US"/>
              <a:t>Reading data from multiple worksheets.</a:t>
            </a:r>
            <a:endParaRPr lang="en-US" altLang="en-US"/>
          </a:p>
          <a:p>
            <a:r>
              <a:rPr lang="en-US" altLang="en-US"/>
              <a:t>Loading Excel data into data warehouses.</a:t>
            </a:r>
            <a:endParaRPr lang="en-US" altLang="en-US"/>
          </a:p>
          <a:p>
            <a:r>
              <a:rPr lang="en-US" altLang="en-US"/>
              <a:t>Creating automated reporting solutions using Excel files.</a:t>
            </a:r>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Limitations</a:t>
            </a:r>
            <a:endParaRPr lang="en-US"/>
          </a:p>
        </p:txBody>
      </p:sp>
      <p:sp>
        <p:nvSpPr>
          <p:cNvPr id="3" name="Content Placeholder 2"/>
          <p:cNvSpPr>
            <a:spLocks noGrp="1"/>
          </p:cNvSpPr>
          <p:nvPr>
            <p:ph idx="1"/>
          </p:nvPr>
        </p:nvSpPr>
        <p:spPr/>
        <p:txBody>
          <a:bodyPr>
            <a:normAutofit lnSpcReduction="20000"/>
          </a:bodyPr>
          <a:p>
            <a:r>
              <a:rPr lang="en-US" altLang="en-US"/>
              <a:t>Requires Microsoft Excel drivers (ACE or Jet OLE DB Provider) to be installed.</a:t>
            </a:r>
            <a:endParaRPr lang="en-US" altLang="en-US"/>
          </a:p>
          <a:p>
            <a:r>
              <a:rPr lang="en-US" altLang="en-US"/>
              <a:t>Performance may decrease with very large Excel files.</a:t>
            </a:r>
            <a:endParaRPr lang="en-US" altLang="en-US"/>
          </a:p>
          <a:p>
            <a:r>
              <a:rPr lang="en-US" altLang="en-US"/>
              <a:t>Data type detection may cause issues if a column contains mixed data types.</a:t>
            </a:r>
            <a:endParaRPr lang="en-US" altLang="en-US"/>
          </a:p>
          <a:p>
            <a:r>
              <a:rPr lang="en-US" altLang="en-US"/>
              <a:t>Excel is not suitable for handling very large datasets compared to databases.</a:t>
            </a:r>
            <a:endParaRPr lang="en-US" altLang="en-US"/>
          </a:p>
          <a:p>
            <a:r>
              <a:rPr lang="en-US" altLang="en-US" b="1" u="sng"/>
              <a:t>EXAMPLE </a:t>
            </a:r>
            <a:r>
              <a:rPr lang="en-US" altLang="en-US"/>
              <a:t>: Suppose a company receives a daily Sales_Report.xlsx file from different branches. An SSIS package uses the Excel Connection Manager to connect to the workbook, reads the sales data from the Sales worksheet using the Excel Source, transforms the data if required, and loads it into a SQL Server database for analysis.</a:t>
            </a:r>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File Connection Manager</a:t>
            </a:r>
            <a:endParaRPr lang="en-US"/>
          </a:p>
        </p:txBody>
      </p:sp>
      <p:sp>
        <p:nvSpPr>
          <p:cNvPr id="3" name="Content Placeholder 2"/>
          <p:cNvSpPr>
            <a:spLocks noGrp="1"/>
          </p:cNvSpPr>
          <p:nvPr>
            <p:ph idx="1"/>
          </p:nvPr>
        </p:nvSpPr>
        <p:spPr/>
        <p:txBody>
          <a:bodyPr/>
          <a:p>
            <a:r>
              <a:rPr lang="en-US" altLang="en-US"/>
              <a:t>File Connection Manager in SQL Server Integration Services (SSIS) is used to connect an SSIS package to a file or folder in the file system. It provides access to files that are used as input or output during package execution and is commonly used with tasks such as the File System Task, Script Task, and Execute Process Task.</a:t>
            </a:r>
            <a:endParaRPr lang="en-US" altLang="en-US"/>
          </a:p>
          <a:p>
            <a:endParaRPr lang="en-US" altLang="en-US"/>
          </a:p>
          <a:p>
            <a:r>
              <a:rPr lang="en-US" altLang="en-US"/>
              <a:t>The File Connection Manager can reference a single file, an existing folder, or a folder that will be created during package execution.</a:t>
            </a:r>
            <a:endParaRPr lang="en-US"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Features</a:t>
            </a:r>
            <a:endParaRPr lang="en-US"/>
          </a:p>
        </p:txBody>
      </p:sp>
      <p:sp>
        <p:nvSpPr>
          <p:cNvPr id="3" name="Content Placeholder 2"/>
          <p:cNvSpPr>
            <a:spLocks noGrp="1"/>
          </p:cNvSpPr>
          <p:nvPr>
            <p:ph idx="1"/>
          </p:nvPr>
        </p:nvSpPr>
        <p:spPr/>
        <p:txBody>
          <a:bodyPr/>
          <a:p>
            <a:r>
              <a:rPr lang="en-US" altLang="en-US"/>
              <a:t>Connects SSIS packages to files and folders.</a:t>
            </a:r>
            <a:endParaRPr lang="en-US" altLang="en-US"/>
          </a:p>
          <a:p>
            <a:r>
              <a:rPr lang="en-US" altLang="en-US"/>
              <a:t>Supports both input and output file operations.</a:t>
            </a:r>
            <a:endParaRPr lang="en-US" altLang="en-US"/>
          </a:p>
          <a:p>
            <a:r>
              <a:rPr lang="en-US" altLang="en-US"/>
              <a:t>Can reference existing or newly created files and directories.</a:t>
            </a:r>
            <a:endParaRPr lang="en-US" altLang="en-US"/>
          </a:p>
          <a:p>
            <a:r>
              <a:rPr lang="en-US" altLang="en-US"/>
              <a:t>Supports dynamic file paths using variables and expressions.</a:t>
            </a:r>
            <a:endParaRPr lang="en-US" altLang="en-US"/>
          </a:p>
          <a:p>
            <a:r>
              <a:rPr lang="en-US" altLang="en-US"/>
              <a:t>Can be shared among multiple tasks within the package.</a:t>
            </a:r>
            <a:endParaRPr lang="en-US" altLang="en-US"/>
          </a:p>
          <a:p>
            <a:r>
              <a:rPr lang="en-US" altLang="en-US"/>
              <a:t>Simplifies file management during ETL processes.</a:t>
            </a:r>
            <a:endParaRPr lang="en-US"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Components</a:t>
            </a:r>
            <a:endParaRPr lang="en-US"/>
          </a:p>
        </p:txBody>
      </p:sp>
      <p:sp>
        <p:nvSpPr>
          <p:cNvPr id="3" name="Content Placeholder 2"/>
          <p:cNvSpPr>
            <a:spLocks noGrp="1"/>
          </p:cNvSpPr>
          <p:nvPr>
            <p:ph idx="1"/>
          </p:nvPr>
        </p:nvSpPr>
        <p:spPr/>
        <p:txBody>
          <a:bodyPr/>
          <a:p>
            <a:r>
              <a:rPr lang="en-US" altLang="en-US"/>
              <a:t>Connection Name – Name assigned to the connection manager.</a:t>
            </a:r>
            <a:endParaRPr lang="en-US" altLang="en-US"/>
          </a:p>
          <a:p>
            <a:r>
              <a:rPr lang="en-US" altLang="en-US"/>
              <a:t>File or Folder Path – Specifies the location of the file or directory.</a:t>
            </a:r>
            <a:endParaRPr lang="en-US" altLang="en-US"/>
          </a:p>
          <a:p>
            <a:r>
              <a:rPr lang="en-US" altLang="en-US"/>
              <a:t>Usage Type – Defines whether the connection is for an existing file, existing folder, file to be created, or folder to be created.</a:t>
            </a:r>
            <a:endParaRPr lang="en-US" altLang="en-US"/>
          </a:p>
          <a:p>
            <a:r>
              <a:rPr lang="en-US" altLang="en-US"/>
              <a:t>Connection String – Stores the complete file or folder path.</a:t>
            </a:r>
            <a:endParaRPr lang="en-US" altLang="en-US"/>
          </a:p>
          <a:p>
            <a:r>
              <a:rPr lang="en-US" altLang="en-US"/>
              <a:t>Expressions – Allows dynamic file paths using variables.</a:t>
            </a:r>
            <a:endParaRPr lang="en-US"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Steps</a:t>
            </a:r>
            <a:endParaRPr lang="en-US"/>
          </a:p>
        </p:txBody>
      </p:sp>
      <p:sp>
        <p:nvSpPr>
          <p:cNvPr id="3" name="Content Placeholder 2"/>
          <p:cNvSpPr>
            <a:spLocks noGrp="1"/>
          </p:cNvSpPr>
          <p:nvPr>
            <p:ph idx="1"/>
          </p:nvPr>
        </p:nvSpPr>
        <p:spPr/>
        <p:txBody>
          <a:bodyPr/>
          <a:p>
            <a:r>
              <a:rPr lang="en-US" altLang="en-US"/>
              <a:t>Open the SSIS package in SQL Server Data Tools (SSDT).</a:t>
            </a:r>
            <a:endParaRPr lang="en-US" altLang="en-US"/>
          </a:p>
          <a:p>
            <a:r>
              <a:rPr lang="en-US" altLang="en-US"/>
              <a:t>Right-click in the Connection Managers pane.</a:t>
            </a:r>
            <a:endParaRPr lang="en-US" altLang="en-US"/>
          </a:p>
          <a:p>
            <a:r>
              <a:rPr lang="en-US" altLang="en-US"/>
              <a:t>Select New Connection.</a:t>
            </a:r>
            <a:endParaRPr lang="en-US" altLang="en-US"/>
          </a:p>
          <a:p>
            <a:r>
              <a:rPr lang="en-US" altLang="en-US"/>
              <a:t>Choose FILE and click Add.</a:t>
            </a:r>
            <a:endParaRPr lang="en-US" altLang="en-US"/>
          </a:p>
          <a:p>
            <a:r>
              <a:rPr lang="en-US" altLang="en-US"/>
              <a:t>Select the appropriate Usage Type.</a:t>
            </a:r>
            <a:endParaRPr lang="en-US" altLang="en-US"/>
          </a:p>
          <a:p>
            <a:r>
              <a:rPr lang="en-US" altLang="en-US"/>
              <a:t>Browse and select the required file or folder.</a:t>
            </a:r>
            <a:endParaRPr lang="en-US" altLang="en-US"/>
          </a:p>
          <a:p>
            <a:r>
              <a:rPr lang="en-US" altLang="en-US"/>
              <a:t>Click OK to create the connection.</a:t>
            </a:r>
            <a:endParaRPr lang="en-US"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Use of File Connection Manager</a:t>
            </a:r>
            <a:endParaRPr lang="en-US"/>
          </a:p>
        </p:txBody>
      </p:sp>
      <p:sp>
        <p:nvSpPr>
          <p:cNvPr id="3" name="Content Placeholder 2"/>
          <p:cNvSpPr>
            <a:spLocks noGrp="1"/>
          </p:cNvSpPr>
          <p:nvPr>
            <p:ph idx="1"/>
          </p:nvPr>
        </p:nvSpPr>
        <p:spPr/>
        <p:txBody>
          <a:bodyPr/>
          <a:p>
            <a:r>
              <a:rPr lang="en-US" altLang="en-US"/>
              <a:t>Reading input files for ETL operations.</a:t>
            </a:r>
            <a:endParaRPr lang="en-US" altLang="en-US"/>
          </a:p>
          <a:p>
            <a:r>
              <a:rPr lang="en-US" altLang="en-US"/>
              <a:t>Creating output files during package execution.</a:t>
            </a:r>
            <a:endParaRPr lang="en-US" altLang="en-US"/>
          </a:p>
          <a:p>
            <a:r>
              <a:rPr lang="en-US" altLang="en-US"/>
              <a:t>Copying, moving, renaming, or deleting files.</a:t>
            </a:r>
            <a:endParaRPr lang="en-US" altLang="en-US"/>
          </a:p>
          <a:p>
            <a:r>
              <a:rPr lang="en-US" altLang="en-US"/>
              <a:t>Accessing folders for file management tasks.</a:t>
            </a:r>
            <a:endParaRPr lang="en-US" altLang="en-US"/>
          </a:p>
          <a:p>
            <a:r>
              <a:rPr lang="en-US" altLang="en-US"/>
              <a:t>Providing file paths to Script Tasks and Execute Process Tasks.</a:t>
            </a:r>
            <a:endParaRPr lang="en-US"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Limitations</a:t>
            </a:r>
            <a:endParaRPr lang="en-US"/>
          </a:p>
        </p:txBody>
      </p:sp>
      <p:sp>
        <p:nvSpPr>
          <p:cNvPr id="3" name="Content Placeholder 2"/>
          <p:cNvSpPr>
            <a:spLocks noGrp="1"/>
          </p:cNvSpPr>
          <p:nvPr>
            <p:ph idx="1"/>
          </p:nvPr>
        </p:nvSpPr>
        <p:spPr/>
        <p:txBody>
          <a:bodyPr>
            <a:normAutofit lnSpcReduction="10000"/>
          </a:bodyPr>
          <a:p>
            <a:r>
              <a:rPr lang="en-US" altLang="en-US"/>
              <a:t>Does not read or process file contents directly; it only provides the file or folder connection.</a:t>
            </a:r>
            <a:endParaRPr lang="en-US" altLang="en-US"/>
          </a:p>
          <a:p>
            <a:r>
              <a:rPr lang="en-US" altLang="en-US"/>
              <a:t>Access depends on file system permissions.</a:t>
            </a:r>
            <a:endParaRPr lang="en-US" altLang="en-US"/>
          </a:p>
          <a:p>
            <a:r>
              <a:rPr lang="en-US" altLang="en-US"/>
              <a:t>Incorrect file paths or missing files may cause package execution failures.</a:t>
            </a:r>
            <a:endParaRPr lang="en-US" altLang="en-US"/>
          </a:p>
          <a:p>
            <a:r>
              <a:rPr lang="en-US" altLang="en-US"/>
              <a:t>Limited to file system resources.</a:t>
            </a:r>
            <a:endParaRPr lang="en-US" altLang="en-US"/>
          </a:p>
          <a:p>
            <a:r>
              <a:rPr lang="en-US" altLang="en-US"/>
              <a:t>Example : </a:t>
            </a:r>
            <a:endParaRPr lang="en-US" altLang="en-US"/>
          </a:p>
          <a:p>
            <a:pPr lvl="1"/>
            <a:r>
              <a:rPr lang="en-US" altLang="en-US"/>
              <a:t>Suppose an SSIS package receives a daily SalesData.csv file. A File Connection Manager is configured to point to the file location. The package uses this connection to read the file, process its data, and then moves the file to an Archive folder using the File System Task after successful processing.</a:t>
            </a:r>
            <a:endParaRPr lang="en-US"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nvGraphicFramePr>
        <p:xfrm>
          <a:off x="0" y="0"/>
          <a:ext cx="12195810" cy="6858000"/>
        </p:xfrm>
        <a:graphic>
          <a:graphicData uri="http://schemas.openxmlformats.org/drawingml/2006/table">
            <a:tbl>
              <a:tblPr/>
              <a:tblGrid>
                <a:gridCol w="1666240"/>
                <a:gridCol w="1964690"/>
                <a:gridCol w="2091055"/>
                <a:gridCol w="2012950"/>
                <a:gridCol w="2042160"/>
                <a:gridCol w="2418715"/>
              </a:tblGrid>
              <a:tr h="824865">
                <a:tc>
                  <a:txBody>
                    <a:bodyPr/>
                    <a:p>
                      <a:pPr algn="ctr"/>
                      <a:r>
                        <a:rPr sz="2000" b="1" u="sng"/>
                        <a:t>Feature</a:t>
                      </a:r>
                      <a:endParaRPr sz="2000" b="1" u="sng"/>
                    </a:p>
                  </a:txBody>
                  <a:tcPr marL="0" marR="0" marT="0" marB="0" anchor="ctr" anchorCtr="0">
                    <a:lnL>
                      <a:noFill/>
                    </a:lnL>
                    <a:lnR>
                      <a:noFill/>
                    </a:lnR>
                    <a:lnT>
                      <a:noFill/>
                    </a:lnT>
                    <a:lnB>
                      <a:noFill/>
                    </a:lnB>
                    <a:noFill/>
                  </a:tcPr>
                </a:tc>
                <a:tc>
                  <a:txBody>
                    <a:bodyPr/>
                    <a:p>
                      <a:pPr algn="ctr"/>
                      <a:r>
                        <a:rPr sz="2000" b="1" u="sng"/>
                        <a:t>ADO Connection Manager</a:t>
                      </a:r>
                      <a:endParaRPr sz="2000" b="1" u="sng"/>
                    </a:p>
                  </a:txBody>
                  <a:tcPr marL="0" marR="0" marT="0" marB="0" anchor="ctr" anchorCtr="0">
                    <a:lnL>
                      <a:noFill/>
                    </a:lnL>
                    <a:lnR>
                      <a:noFill/>
                    </a:lnR>
                    <a:lnT>
                      <a:noFill/>
                    </a:lnT>
                    <a:lnB>
                      <a:noFill/>
                    </a:lnB>
                    <a:noFill/>
                  </a:tcPr>
                </a:tc>
                <a:tc>
                  <a:txBody>
                    <a:bodyPr/>
                    <a:p>
                      <a:pPr algn="ctr"/>
                      <a:r>
                        <a:rPr sz="2000" b="1" u="sng"/>
                        <a:t>ADO.NET Connection Manager</a:t>
                      </a:r>
                      <a:endParaRPr sz="2000" b="1" u="sng"/>
                    </a:p>
                  </a:txBody>
                  <a:tcPr marL="0" marR="0" marT="0" marB="0" anchor="ctr" anchorCtr="0">
                    <a:lnL>
                      <a:noFill/>
                    </a:lnL>
                    <a:lnR>
                      <a:noFill/>
                    </a:lnR>
                    <a:lnT>
                      <a:noFill/>
                    </a:lnT>
                    <a:lnB>
                      <a:noFill/>
                    </a:lnB>
                    <a:noFill/>
                  </a:tcPr>
                </a:tc>
                <a:tc>
                  <a:txBody>
                    <a:bodyPr/>
                    <a:p>
                      <a:pPr algn="ctr"/>
                      <a:r>
                        <a:rPr sz="2000" b="1" u="sng"/>
                        <a:t>Cache Connection Manager</a:t>
                      </a:r>
                      <a:endParaRPr sz="2000" b="1" u="sng"/>
                    </a:p>
                  </a:txBody>
                  <a:tcPr marL="0" marR="0" marT="0" marB="0" anchor="ctr" anchorCtr="0">
                    <a:lnL>
                      <a:noFill/>
                    </a:lnL>
                    <a:lnR>
                      <a:noFill/>
                    </a:lnR>
                    <a:lnT>
                      <a:noFill/>
                    </a:lnT>
                    <a:lnB>
                      <a:noFill/>
                    </a:lnB>
                    <a:noFill/>
                  </a:tcPr>
                </a:tc>
                <a:tc>
                  <a:txBody>
                    <a:bodyPr/>
                    <a:p>
                      <a:pPr algn="ctr"/>
                      <a:r>
                        <a:rPr sz="2000" b="1" u="sng"/>
                        <a:t>Excel Connection Manager</a:t>
                      </a:r>
                      <a:endParaRPr sz="2000" b="1" u="sng"/>
                    </a:p>
                  </a:txBody>
                  <a:tcPr marL="0" marR="0" marT="0" marB="0" anchor="ctr" anchorCtr="0">
                    <a:lnL>
                      <a:noFill/>
                    </a:lnL>
                    <a:lnR>
                      <a:noFill/>
                    </a:lnR>
                    <a:lnT>
                      <a:noFill/>
                    </a:lnT>
                    <a:lnB>
                      <a:noFill/>
                    </a:lnB>
                    <a:noFill/>
                  </a:tcPr>
                </a:tc>
                <a:tc>
                  <a:txBody>
                    <a:bodyPr/>
                    <a:p>
                      <a:pPr algn="ctr"/>
                      <a:r>
                        <a:rPr sz="2000" b="1" u="sng"/>
                        <a:t>File Connection Manager</a:t>
                      </a:r>
                      <a:endParaRPr sz="2000" b="1" u="sng"/>
                    </a:p>
                  </a:txBody>
                  <a:tcPr marL="0" marR="0" marT="0" marB="0" anchor="ctr" anchorCtr="0">
                    <a:lnL>
                      <a:noFill/>
                    </a:lnL>
                    <a:lnR>
                      <a:noFill/>
                    </a:lnR>
                    <a:lnT>
                      <a:noFill/>
                    </a:lnT>
                    <a:lnB>
                      <a:noFill/>
                    </a:lnB>
                    <a:noFill/>
                  </a:tcPr>
                </a:tc>
              </a:tr>
              <a:tr h="1062355">
                <a:tc>
                  <a:txBody>
                    <a:bodyPr/>
                    <a:p>
                      <a:pPr algn="ctr"/>
                      <a:r>
                        <a:rPr sz="2000" b="1"/>
                        <a:t>Purpose</a:t>
                      </a:r>
                      <a:endParaRPr sz="2000" b="1"/>
                    </a:p>
                  </a:txBody>
                  <a:tcPr marL="0" marR="0" marT="0" marB="0" anchor="ctr" anchorCtr="0">
                    <a:lnL>
                      <a:noFill/>
                    </a:lnL>
                    <a:lnR>
                      <a:noFill/>
                    </a:lnR>
                    <a:lnT>
                      <a:noFill/>
                    </a:lnT>
                    <a:lnB>
                      <a:noFill/>
                    </a:lnB>
                    <a:noFill/>
                  </a:tcPr>
                </a:tc>
                <a:tc>
                  <a:txBody>
                    <a:bodyPr/>
                    <a:p>
                      <a:pPr algn="ctr"/>
                      <a:r>
                        <a:rPr sz="1600"/>
                        <a:t>Connects to databases using ActiveX Data Objects (ADO)</a:t>
                      </a:r>
                      <a:endParaRPr sz="1600"/>
                    </a:p>
                  </a:txBody>
                  <a:tcPr marL="0" marR="0" marT="0" marB="0" anchor="ctr" anchorCtr="0">
                    <a:lnL>
                      <a:noFill/>
                    </a:lnL>
                    <a:lnR>
                      <a:noFill/>
                    </a:lnR>
                    <a:lnT>
                      <a:noFill/>
                    </a:lnT>
                    <a:lnB>
                      <a:noFill/>
                    </a:lnB>
                    <a:noFill/>
                  </a:tcPr>
                </a:tc>
                <a:tc>
                  <a:txBody>
                    <a:bodyPr/>
                    <a:p>
                      <a:pPr algn="ctr"/>
                      <a:r>
                        <a:rPr sz="1600"/>
                        <a:t>Connects to databases using ADO.NET providers</a:t>
                      </a:r>
                      <a:endParaRPr sz="1600"/>
                    </a:p>
                  </a:txBody>
                  <a:tcPr marL="0" marR="0" marT="0" marB="0" anchor="ctr" anchorCtr="0">
                    <a:lnL>
                      <a:noFill/>
                    </a:lnL>
                    <a:lnR>
                      <a:noFill/>
                    </a:lnR>
                    <a:lnT>
                      <a:noFill/>
                    </a:lnT>
                    <a:lnB>
                      <a:noFill/>
                    </a:lnB>
                    <a:noFill/>
                  </a:tcPr>
                </a:tc>
                <a:tc>
                  <a:txBody>
                    <a:bodyPr/>
                    <a:p>
                      <a:pPr algn="ctr"/>
                      <a:r>
                        <a:rPr sz="1600"/>
                        <a:t>Stores reference data in memory or cache files</a:t>
                      </a:r>
                      <a:endParaRPr sz="1600"/>
                    </a:p>
                  </a:txBody>
                  <a:tcPr marL="0" marR="0" marT="0" marB="0" anchor="ctr" anchorCtr="0">
                    <a:lnL>
                      <a:noFill/>
                    </a:lnL>
                    <a:lnR>
                      <a:noFill/>
                    </a:lnR>
                    <a:lnT>
                      <a:noFill/>
                    </a:lnT>
                    <a:lnB>
                      <a:noFill/>
                    </a:lnB>
                    <a:noFill/>
                  </a:tcPr>
                </a:tc>
                <a:tc>
                  <a:txBody>
                    <a:bodyPr/>
                    <a:p>
                      <a:pPr algn="ctr"/>
                      <a:r>
                        <a:rPr sz="1600"/>
                        <a:t>Connects to Microsoft Excel workbooks</a:t>
                      </a:r>
                      <a:endParaRPr sz="1600"/>
                    </a:p>
                  </a:txBody>
                  <a:tcPr marL="0" marR="0" marT="0" marB="0" anchor="ctr" anchorCtr="0">
                    <a:lnL>
                      <a:noFill/>
                    </a:lnL>
                    <a:lnR>
                      <a:noFill/>
                    </a:lnR>
                    <a:lnT>
                      <a:noFill/>
                    </a:lnT>
                    <a:lnB>
                      <a:noFill/>
                    </a:lnB>
                    <a:noFill/>
                  </a:tcPr>
                </a:tc>
                <a:tc>
                  <a:txBody>
                    <a:bodyPr/>
                    <a:p>
                      <a:pPr algn="ctr"/>
                      <a:r>
                        <a:rPr sz="1600"/>
                        <a:t>Connects to files or folders in the file system</a:t>
                      </a:r>
                      <a:endParaRPr sz="1600"/>
                    </a:p>
                  </a:txBody>
                  <a:tcPr marL="0" marR="0" marT="0" marB="0" anchor="ctr" anchorCtr="0">
                    <a:lnL>
                      <a:noFill/>
                    </a:lnL>
                    <a:lnR>
                      <a:noFill/>
                    </a:lnR>
                    <a:lnT>
                      <a:noFill/>
                    </a:lnT>
                    <a:lnB>
                      <a:noFill/>
                    </a:lnB>
                    <a:noFill/>
                  </a:tcPr>
                </a:tc>
              </a:tr>
              <a:tr h="1060450">
                <a:tc>
                  <a:txBody>
                    <a:bodyPr/>
                    <a:p>
                      <a:pPr algn="ctr"/>
                      <a:r>
                        <a:rPr sz="2000" b="1"/>
                        <a:t>Technology Used</a:t>
                      </a:r>
                      <a:endParaRPr sz="2000" b="1"/>
                    </a:p>
                  </a:txBody>
                  <a:tcPr marL="0" marR="0" marT="0" marB="0" anchor="ctr" anchorCtr="0">
                    <a:lnL>
                      <a:noFill/>
                    </a:lnL>
                    <a:lnR>
                      <a:noFill/>
                    </a:lnR>
                    <a:lnT>
                      <a:noFill/>
                    </a:lnT>
                    <a:lnB>
                      <a:noFill/>
                    </a:lnB>
                    <a:noFill/>
                  </a:tcPr>
                </a:tc>
                <a:tc>
                  <a:txBody>
                    <a:bodyPr/>
                    <a:p>
                      <a:pPr algn="ctr"/>
                      <a:r>
                        <a:rPr sz="1600"/>
                        <a:t>ActiveX Data Objects (ADO)</a:t>
                      </a:r>
                      <a:endParaRPr sz="1600"/>
                    </a:p>
                  </a:txBody>
                  <a:tcPr marL="0" marR="0" marT="0" marB="0" anchor="ctr" anchorCtr="0">
                    <a:lnL>
                      <a:noFill/>
                    </a:lnL>
                    <a:lnR>
                      <a:noFill/>
                    </a:lnR>
                    <a:lnT>
                      <a:noFill/>
                    </a:lnT>
                    <a:lnB>
                      <a:noFill/>
                    </a:lnB>
                    <a:noFill/>
                  </a:tcPr>
                </a:tc>
                <a:tc>
                  <a:txBody>
                    <a:bodyPr/>
                    <a:p>
                      <a:pPr algn="ctr"/>
                      <a:r>
                        <a:rPr sz="1600"/>
                        <a:t>ADO.NET (.NET Framework)</a:t>
                      </a:r>
                      <a:endParaRPr sz="1600"/>
                    </a:p>
                  </a:txBody>
                  <a:tcPr marL="0" marR="0" marT="0" marB="0" anchor="ctr" anchorCtr="0">
                    <a:lnL>
                      <a:noFill/>
                    </a:lnL>
                    <a:lnR>
                      <a:noFill/>
                    </a:lnR>
                    <a:lnT>
                      <a:noFill/>
                    </a:lnT>
                    <a:lnB>
                      <a:noFill/>
                    </a:lnB>
                    <a:noFill/>
                  </a:tcPr>
                </a:tc>
                <a:tc>
                  <a:txBody>
                    <a:bodyPr/>
                    <a:p>
                      <a:pPr algn="ctr"/>
                      <a:r>
                        <a:rPr sz="1600"/>
                        <a:t>In-memory cache / Cache (.caw) file</a:t>
                      </a:r>
                      <a:endParaRPr sz="1600"/>
                    </a:p>
                  </a:txBody>
                  <a:tcPr marL="0" marR="0" marT="0" marB="0" anchor="ctr" anchorCtr="0">
                    <a:lnL>
                      <a:noFill/>
                    </a:lnL>
                    <a:lnR>
                      <a:noFill/>
                    </a:lnR>
                    <a:lnT>
                      <a:noFill/>
                    </a:lnT>
                    <a:lnB>
                      <a:noFill/>
                    </a:lnB>
                    <a:noFill/>
                  </a:tcPr>
                </a:tc>
                <a:tc>
                  <a:txBody>
                    <a:bodyPr/>
                    <a:p>
                      <a:pPr algn="ctr"/>
                      <a:r>
                        <a:rPr sz="1600"/>
                        <a:t>Excel Driver (ACE/Jet OLE DB)</a:t>
                      </a:r>
                      <a:endParaRPr sz="1600"/>
                    </a:p>
                  </a:txBody>
                  <a:tcPr marL="0" marR="0" marT="0" marB="0" anchor="ctr" anchorCtr="0">
                    <a:lnL>
                      <a:noFill/>
                    </a:lnL>
                    <a:lnR>
                      <a:noFill/>
                    </a:lnR>
                    <a:lnT>
                      <a:noFill/>
                    </a:lnT>
                    <a:lnB>
                      <a:noFill/>
                    </a:lnB>
                    <a:noFill/>
                  </a:tcPr>
                </a:tc>
                <a:tc>
                  <a:txBody>
                    <a:bodyPr/>
                    <a:p>
                      <a:pPr algn="ctr"/>
                      <a:r>
                        <a:rPr sz="1600"/>
                        <a:t>File System</a:t>
                      </a:r>
                      <a:endParaRPr sz="1600"/>
                    </a:p>
                  </a:txBody>
                  <a:tcPr marL="0" marR="0" marT="0" marB="0" anchor="ctr" anchorCtr="0">
                    <a:lnL>
                      <a:noFill/>
                    </a:lnL>
                    <a:lnR>
                      <a:noFill/>
                    </a:lnR>
                    <a:lnT>
                      <a:noFill/>
                    </a:lnT>
                    <a:lnB>
                      <a:noFill/>
                    </a:lnB>
                    <a:noFill/>
                  </a:tcPr>
                </a:tc>
              </a:tr>
              <a:tr h="1061085">
                <a:tc>
                  <a:txBody>
                    <a:bodyPr/>
                    <a:p>
                      <a:pPr algn="ctr"/>
                      <a:r>
                        <a:rPr sz="2000" b="1"/>
                        <a:t>Data Source</a:t>
                      </a:r>
                      <a:endParaRPr sz="2000" b="1"/>
                    </a:p>
                  </a:txBody>
                  <a:tcPr marL="0" marR="0" marT="0" marB="0" anchor="ctr" anchorCtr="0">
                    <a:lnL>
                      <a:noFill/>
                    </a:lnL>
                    <a:lnR>
                      <a:noFill/>
                    </a:lnR>
                    <a:lnT>
                      <a:noFill/>
                    </a:lnT>
                    <a:lnB>
                      <a:noFill/>
                    </a:lnB>
                    <a:noFill/>
                  </a:tcPr>
                </a:tc>
                <a:tc>
                  <a:txBody>
                    <a:bodyPr/>
                    <a:p>
                      <a:pPr algn="ctr"/>
                      <a:r>
                        <a:rPr sz="1600"/>
                        <a:t>SQL Server and other ADO-supported databases</a:t>
                      </a:r>
                      <a:endParaRPr sz="1600"/>
                    </a:p>
                  </a:txBody>
                  <a:tcPr marL="0" marR="0" marT="0" marB="0" anchor="ctr" anchorCtr="0">
                    <a:lnL>
                      <a:noFill/>
                    </a:lnL>
                    <a:lnR>
                      <a:noFill/>
                    </a:lnR>
                    <a:lnT>
                      <a:noFill/>
                    </a:lnT>
                    <a:lnB>
                      <a:noFill/>
                    </a:lnB>
                    <a:noFill/>
                  </a:tcPr>
                </a:tc>
                <a:tc>
                  <a:txBody>
                    <a:bodyPr/>
                    <a:p>
                      <a:pPr algn="ctr"/>
                      <a:r>
                        <a:rPr sz="1600"/>
                        <a:t>SQL Server, Oracle, MySQL, PostgreSQL, etc.</a:t>
                      </a:r>
                      <a:endParaRPr sz="1600"/>
                    </a:p>
                  </a:txBody>
                  <a:tcPr marL="0" marR="0" marT="0" marB="0" anchor="ctr" anchorCtr="0">
                    <a:lnL>
                      <a:noFill/>
                    </a:lnL>
                    <a:lnR>
                      <a:noFill/>
                    </a:lnR>
                    <a:lnT>
                      <a:noFill/>
                    </a:lnT>
                    <a:lnB>
                      <a:noFill/>
                    </a:lnB>
                    <a:noFill/>
                  </a:tcPr>
                </a:tc>
                <a:tc>
                  <a:txBody>
                    <a:bodyPr/>
                    <a:p>
                      <a:pPr algn="ctr"/>
                      <a:r>
                        <a:rPr sz="1600"/>
                        <a:t>Cached reference data</a:t>
                      </a:r>
                      <a:endParaRPr sz="1600"/>
                    </a:p>
                  </a:txBody>
                  <a:tcPr marL="0" marR="0" marT="0" marB="0" anchor="ctr" anchorCtr="0">
                    <a:lnL>
                      <a:noFill/>
                    </a:lnL>
                    <a:lnR>
                      <a:noFill/>
                    </a:lnR>
                    <a:lnT>
                      <a:noFill/>
                    </a:lnT>
                    <a:lnB>
                      <a:noFill/>
                    </a:lnB>
                    <a:noFill/>
                  </a:tcPr>
                </a:tc>
                <a:tc>
                  <a:txBody>
                    <a:bodyPr/>
                    <a:p>
                      <a:pPr algn="ctr"/>
                      <a:r>
                        <a:rPr sz="1600"/>
                        <a:t>Excel (.xls, .xlsx)</a:t>
                      </a:r>
                      <a:endParaRPr sz="1600"/>
                    </a:p>
                  </a:txBody>
                  <a:tcPr marL="0" marR="0" marT="0" marB="0" anchor="ctr" anchorCtr="0">
                    <a:lnL>
                      <a:noFill/>
                    </a:lnL>
                    <a:lnR>
                      <a:noFill/>
                    </a:lnR>
                    <a:lnT>
                      <a:noFill/>
                    </a:lnT>
                    <a:lnB>
                      <a:noFill/>
                    </a:lnB>
                    <a:noFill/>
                  </a:tcPr>
                </a:tc>
                <a:tc>
                  <a:txBody>
                    <a:bodyPr/>
                    <a:p>
                      <a:pPr algn="ctr"/>
                      <a:r>
                        <a:rPr sz="1600"/>
                        <a:t>Files and directories</a:t>
                      </a:r>
                      <a:endParaRPr sz="1600"/>
                    </a:p>
                  </a:txBody>
                  <a:tcPr marL="0" marR="0" marT="0" marB="0" anchor="ctr" anchorCtr="0">
                    <a:lnL>
                      <a:noFill/>
                    </a:lnL>
                    <a:lnR>
                      <a:noFill/>
                    </a:lnR>
                    <a:lnT>
                      <a:noFill/>
                    </a:lnT>
                    <a:lnB>
                      <a:noFill/>
                    </a:lnB>
                    <a:noFill/>
                  </a:tcPr>
                </a:tc>
              </a:tr>
              <a:tr h="1061720">
                <a:tc>
                  <a:txBody>
                    <a:bodyPr/>
                    <a:p>
                      <a:pPr algn="ctr"/>
                      <a:r>
                        <a:rPr sz="2000" b="1"/>
                        <a:t>Main Use</a:t>
                      </a:r>
                      <a:endParaRPr sz="2000" b="1"/>
                    </a:p>
                  </a:txBody>
                  <a:tcPr marL="0" marR="0" marT="0" marB="0" anchor="ctr" anchorCtr="0">
                    <a:lnL>
                      <a:noFill/>
                    </a:lnL>
                    <a:lnR>
                      <a:noFill/>
                    </a:lnR>
                    <a:lnT>
                      <a:noFill/>
                    </a:lnT>
                    <a:lnB>
                      <a:noFill/>
                    </a:lnB>
                    <a:noFill/>
                  </a:tcPr>
                </a:tc>
                <a:tc>
                  <a:txBody>
                    <a:bodyPr/>
                    <a:p>
                      <a:pPr algn="ctr"/>
                      <a:r>
                        <a:rPr sz="1600"/>
                        <a:t>Database access and ADO Recordsets</a:t>
                      </a:r>
                      <a:endParaRPr sz="1600"/>
                    </a:p>
                  </a:txBody>
                  <a:tcPr marL="0" marR="0" marT="0" marB="0" anchor="ctr" anchorCtr="0">
                    <a:lnL>
                      <a:noFill/>
                    </a:lnL>
                    <a:lnR>
                      <a:noFill/>
                    </a:lnR>
                    <a:lnT>
                      <a:noFill/>
                    </a:lnT>
                    <a:lnB>
                      <a:noFill/>
                    </a:lnB>
                    <a:noFill/>
                  </a:tcPr>
                </a:tc>
                <a:tc>
                  <a:txBody>
                    <a:bodyPr/>
                    <a:p>
                      <a:pPr algn="ctr"/>
                      <a:r>
                        <a:rPr sz="1600"/>
                        <a:t>Database connectivity and .NET applications</a:t>
                      </a:r>
                      <a:endParaRPr sz="1600"/>
                    </a:p>
                  </a:txBody>
                  <a:tcPr marL="0" marR="0" marT="0" marB="0" anchor="ctr" anchorCtr="0">
                    <a:lnL>
                      <a:noFill/>
                    </a:lnL>
                    <a:lnR>
                      <a:noFill/>
                    </a:lnR>
                    <a:lnT>
                      <a:noFill/>
                    </a:lnT>
                    <a:lnB>
                      <a:noFill/>
                    </a:lnB>
                    <a:noFill/>
                  </a:tcPr>
                </a:tc>
                <a:tc>
                  <a:txBody>
                    <a:bodyPr/>
                    <a:p>
                      <a:pPr algn="ctr"/>
                      <a:r>
                        <a:rPr sz="1600"/>
                        <a:t>Improves Lookup Transformation performance</a:t>
                      </a:r>
                      <a:endParaRPr sz="1600"/>
                    </a:p>
                  </a:txBody>
                  <a:tcPr marL="0" marR="0" marT="0" marB="0" anchor="ctr" anchorCtr="0">
                    <a:lnL>
                      <a:noFill/>
                    </a:lnL>
                    <a:lnR>
                      <a:noFill/>
                    </a:lnR>
                    <a:lnT>
                      <a:noFill/>
                    </a:lnT>
                    <a:lnB>
                      <a:noFill/>
                    </a:lnB>
                    <a:noFill/>
                  </a:tcPr>
                </a:tc>
                <a:tc>
                  <a:txBody>
                    <a:bodyPr/>
                    <a:p>
                      <a:pPr algn="ctr"/>
                      <a:r>
                        <a:rPr sz="1600"/>
                        <a:t>Importing/exporting Excel data</a:t>
                      </a:r>
                      <a:endParaRPr sz="1600"/>
                    </a:p>
                  </a:txBody>
                  <a:tcPr marL="0" marR="0" marT="0" marB="0" anchor="ctr" anchorCtr="0">
                    <a:lnL>
                      <a:noFill/>
                    </a:lnL>
                    <a:lnR>
                      <a:noFill/>
                    </a:lnR>
                    <a:lnT>
                      <a:noFill/>
                    </a:lnT>
                    <a:lnB>
                      <a:noFill/>
                    </a:lnB>
                    <a:noFill/>
                  </a:tcPr>
                </a:tc>
                <a:tc>
                  <a:txBody>
                    <a:bodyPr/>
                    <a:p>
                      <a:pPr algn="ctr"/>
                      <a:r>
                        <a:rPr sz="1600"/>
                        <a:t>Managing files and folders</a:t>
                      </a:r>
                      <a:endParaRPr sz="1600"/>
                    </a:p>
                  </a:txBody>
                  <a:tcPr marL="0" marR="0" marT="0" marB="0" anchor="ctr" anchorCtr="0">
                    <a:lnL>
                      <a:noFill/>
                    </a:lnL>
                    <a:lnR>
                      <a:noFill/>
                    </a:lnR>
                    <a:lnT>
                      <a:noFill/>
                    </a:lnT>
                    <a:lnB>
                      <a:noFill/>
                    </a:lnB>
                    <a:noFill/>
                  </a:tcPr>
                </a:tc>
              </a:tr>
              <a:tr h="726440">
                <a:tc>
                  <a:txBody>
                    <a:bodyPr/>
                    <a:p>
                      <a:pPr algn="ctr"/>
                      <a:r>
                        <a:rPr sz="2000" b="1"/>
                        <a:t>Supports Read Operation</a:t>
                      </a:r>
                      <a:endParaRPr sz="2000" b="1"/>
                    </a:p>
                  </a:txBody>
                  <a:tcPr marL="0" marR="0" marT="0" marB="0" anchor="ctr" anchorCtr="0">
                    <a:lnL>
                      <a:noFill/>
                    </a:lnL>
                    <a:lnR>
                      <a:noFill/>
                    </a:lnR>
                    <a:lnT>
                      <a:noFill/>
                    </a:lnT>
                    <a:lnB>
                      <a:noFill/>
                    </a:lnB>
                    <a:noFill/>
                  </a:tcPr>
                </a:tc>
                <a:tc>
                  <a:txBody>
                    <a:bodyPr/>
                    <a:p>
                      <a:pPr algn="ctr"/>
                      <a:r>
                        <a:rPr sz="1600"/>
                        <a:t>Yes</a:t>
                      </a:r>
                      <a:endParaRPr sz="1600"/>
                    </a:p>
                  </a:txBody>
                  <a:tcPr marL="0" marR="0" marT="0" marB="0" anchor="ctr" anchorCtr="0">
                    <a:lnL>
                      <a:noFill/>
                    </a:lnL>
                    <a:lnR>
                      <a:noFill/>
                    </a:lnR>
                    <a:lnT>
                      <a:noFill/>
                    </a:lnT>
                    <a:lnB>
                      <a:noFill/>
                    </a:lnB>
                    <a:noFill/>
                  </a:tcPr>
                </a:tc>
                <a:tc>
                  <a:txBody>
                    <a:bodyPr/>
                    <a:p>
                      <a:pPr algn="ctr"/>
                      <a:r>
                        <a:rPr sz="1600"/>
                        <a:t>Yes</a:t>
                      </a:r>
                      <a:endParaRPr sz="1600"/>
                    </a:p>
                  </a:txBody>
                  <a:tcPr marL="0" marR="0" marT="0" marB="0" anchor="ctr" anchorCtr="0">
                    <a:lnL>
                      <a:noFill/>
                    </a:lnL>
                    <a:lnR>
                      <a:noFill/>
                    </a:lnR>
                    <a:lnT>
                      <a:noFill/>
                    </a:lnT>
                    <a:lnB>
                      <a:noFill/>
                    </a:lnB>
                    <a:noFill/>
                  </a:tcPr>
                </a:tc>
                <a:tc>
                  <a:txBody>
                    <a:bodyPr/>
                    <a:p>
                      <a:pPr algn="ctr"/>
                      <a:r>
                        <a:rPr sz="1600"/>
                        <a:t>Yes</a:t>
                      </a:r>
                      <a:endParaRPr sz="1600"/>
                    </a:p>
                  </a:txBody>
                  <a:tcPr marL="0" marR="0" marT="0" marB="0" anchor="ctr" anchorCtr="0">
                    <a:lnL>
                      <a:noFill/>
                    </a:lnL>
                    <a:lnR>
                      <a:noFill/>
                    </a:lnR>
                    <a:lnT>
                      <a:noFill/>
                    </a:lnT>
                    <a:lnB>
                      <a:noFill/>
                    </a:lnB>
                    <a:noFill/>
                  </a:tcPr>
                </a:tc>
                <a:tc>
                  <a:txBody>
                    <a:bodyPr/>
                    <a:p>
                      <a:pPr algn="ctr"/>
                      <a:r>
                        <a:rPr sz="1600"/>
                        <a:t>Yes</a:t>
                      </a:r>
                      <a:endParaRPr sz="1600"/>
                    </a:p>
                  </a:txBody>
                  <a:tcPr marL="0" marR="0" marT="0" marB="0" anchor="ctr" anchorCtr="0">
                    <a:lnL>
                      <a:noFill/>
                    </a:lnL>
                    <a:lnR>
                      <a:noFill/>
                    </a:lnR>
                    <a:lnT>
                      <a:noFill/>
                    </a:lnT>
                    <a:lnB>
                      <a:noFill/>
                    </a:lnB>
                    <a:noFill/>
                  </a:tcPr>
                </a:tc>
                <a:tc>
                  <a:txBody>
                    <a:bodyPr/>
                    <a:p>
                      <a:pPr algn="ctr"/>
                      <a:r>
                        <a:rPr sz="1600"/>
                        <a:t>Yes (file access)</a:t>
                      </a:r>
                      <a:endParaRPr sz="1600"/>
                    </a:p>
                  </a:txBody>
                  <a:tcPr marL="0" marR="0" marT="0" marB="0" anchor="ctr" anchorCtr="0">
                    <a:lnL>
                      <a:noFill/>
                    </a:lnL>
                    <a:lnR>
                      <a:noFill/>
                    </a:lnR>
                    <a:lnT>
                      <a:noFill/>
                    </a:lnT>
                    <a:lnB>
                      <a:noFill/>
                    </a:lnB>
                    <a:noFill/>
                  </a:tcPr>
                </a:tc>
              </a:tr>
              <a:tr h="1061085">
                <a:tc>
                  <a:txBody>
                    <a:bodyPr/>
                    <a:p>
                      <a:pPr algn="ctr"/>
                      <a:r>
                        <a:rPr sz="2000" b="1"/>
                        <a:t>Supports Write Operation</a:t>
                      </a:r>
                      <a:endParaRPr sz="2000" b="1"/>
                    </a:p>
                  </a:txBody>
                  <a:tcPr marL="0" marR="0" marT="0" marB="0" anchor="ctr" anchorCtr="0">
                    <a:lnL>
                      <a:noFill/>
                    </a:lnL>
                    <a:lnR>
                      <a:noFill/>
                    </a:lnR>
                    <a:lnT>
                      <a:noFill/>
                    </a:lnT>
                    <a:lnB>
                      <a:noFill/>
                    </a:lnB>
                    <a:noFill/>
                  </a:tcPr>
                </a:tc>
                <a:tc>
                  <a:txBody>
                    <a:bodyPr/>
                    <a:p>
                      <a:pPr algn="ctr"/>
                      <a:r>
                        <a:rPr sz="1600"/>
                        <a:t>Yes</a:t>
                      </a:r>
                      <a:endParaRPr sz="1600"/>
                    </a:p>
                  </a:txBody>
                  <a:tcPr marL="0" marR="0" marT="0" marB="0" anchor="ctr" anchorCtr="0">
                    <a:lnL>
                      <a:noFill/>
                    </a:lnL>
                    <a:lnR>
                      <a:noFill/>
                    </a:lnR>
                    <a:lnT>
                      <a:noFill/>
                    </a:lnT>
                    <a:lnB>
                      <a:noFill/>
                    </a:lnB>
                    <a:noFill/>
                  </a:tcPr>
                </a:tc>
                <a:tc>
                  <a:txBody>
                    <a:bodyPr/>
                    <a:p>
                      <a:pPr algn="ctr"/>
                      <a:r>
                        <a:rPr sz="1600"/>
                        <a:t>Yes</a:t>
                      </a:r>
                      <a:endParaRPr sz="1600"/>
                    </a:p>
                  </a:txBody>
                  <a:tcPr marL="0" marR="0" marT="0" marB="0" anchor="ctr" anchorCtr="0">
                    <a:lnL>
                      <a:noFill/>
                    </a:lnL>
                    <a:lnR>
                      <a:noFill/>
                    </a:lnR>
                    <a:lnT>
                      <a:noFill/>
                    </a:lnT>
                    <a:lnB>
                      <a:noFill/>
                    </a:lnB>
                    <a:noFill/>
                  </a:tcPr>
                </a:tc>
                <a:tc>
                  <a:txBody>
                    <a:bodyPr/>
                    <a:p>
                      <a:pPr algn="ctr"/>
                      <a:r>
                        <a:rPr sz="1600"/>
                        <a:t>Yes (cache file creation)</a:t>
                      </a:r>
                      <a:endParaRPr sz="1600"/>
                    </a:p>
                  </a:txBody>
                  <a:tcPr marL="0" marR="0" marT="0" marB="0" anchor="ctr" anchorCtr="0">
                    <a:lnL>
                      <a:noFill/>
                    </a:lnL>
                    <a:lnR>
                      <a:noFill/>
                    </a:lnR>
                    <a:lnT>
                      <a:noFill/>
                    </a:lnT>
                    <a:lnB>
                      <a:noFill/>
                    </a:lnB>
                    <a:noFill/>
                  </a:tcPr>
                </a:tc>
                <a:tc>
                  <a:txBody>
                    <a:bodyPr/>
                    <a:p>
                      <a:pPr algn="ctr"/>
                      <a:r>
                        <a:rPr sz="1600"/>
                        <a:t>Yes</a:t>
                      </a:r>
                      <a:endParaRPr sz="1600"/>
                    </a:p>
                  </a:txBody>
                  <a:tcPr marL="0" marR="0" marT="0" marB="0" anchor="ctr" anchorCtr="0">
                    <a:lnL>
                      <a:noFill/>
                    </a:lnL>
                    <a:lnR>
                      <a:noFill/>
                    </a:lnR>
                    <a:lnT>
                      <a:noFill/>
                    </a:lnT>
                    <a:lnB>
                      <a:noFill/>
                    </a:lnB>
                    <a:noFill/>
                  </a:tcPr>
                </a:tc>
                <a:tc>
                  <a:txBody>
                    <a:bodyPr/>
                    <a:p>
                      <a:pPr algn="ctr"/>
                      <a:r>
                        <a:rPr sz="1600"/>
                        <a:t>Yes (file creation and management)</a:t>
                      </a:r>
                      <a:endParaRPr sz="16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Content Placeholder 3"/>
          <p:cNvGraphicFramePr/>
          <p:nvPr>
            <p:ph idx="1"/>
          </p:nvPr>
        </p:nvGraphicFramePr>
        <p:xfrm>
          <a:off x="-635" y="635"/>
          <a:ext cx="12192635" cy="6856730"/>
        </p:xfrm>
        <a:graphic>
          <a:graphicData uri="http://schemas.openxmlformats.org/drawingml/2006/table">
            <a:tbl>
              <a:tblPr/>
              <a:tblGrid>
                <a:gridCol w="2060575"/>
                <a:gridCol w="1569720"/>
                <a:gridCol w="2090420"/>
                <a:gridCol w="2012315"/>
                <a:gridCol w="2041525"/>
                <a:gridCol w="2418080"/>
              </a:tblGrid>
              <a:tr h="1276985">
                <a:tc>
                  <a:txBody>
                    <a:bodyPr/>
                    <a:p>
                      <a:pPr algn="ctr"/>
                      <a:r>
                        <a:rPr sz="2000" b="1"/>
                        <a:t>Common SSIS Components</a:t>
                      </a:r>
                      <a:endParaRPr sz="2000" b="1"/>
                    </a:p>
                  </a:txBody>
                  <a:tcPr marL="0" marR="0" marT="0" marB="0" anchor="ctr" anchorCtr="0">
                    <a:lnL>
                      <a:noFill/>
                    </a:lnL>
                    <a:lnR>
                      <a:noFill/>
                    </a:lnR>
                    <a:lnT>
                      <a:noFill/>
                    </a:lnT>
                    <a:lnB>
                      <a:noFill/>
                    </a:lnB>
                    <a:noFill/>
                  </a:tcPr>
                </a:tc>
                <a:tc>
                  <a:txBody>
                    <a:bodyPr/>
                    <a:p>
                      <a:pPr algn="ctr"/>
                      <a:r>
                        <a:rPr sz="1600"/>
                        <a:t>Foreach ADO Enumerator, Execute SQL Task</a:t>
                      </a:r>
                      <a:endParaRPr sz="1600"/>
                    </a:p>
                  </a:txBody>
                  <a:tcPr marL="0" marR="0" marT="0" marB="0" anchor="ctr" anchorCtr="0">
                    <a:lnL>
                      <a:noFill/>
                    </a:lnL>
                    <a:lnR>
                      <a:noFill/>
                    </a:lnR>
                    <a:lnT>
                      <a:noFill/>
                    </a:lnT>
                    <a:lnB>
                      <a:noFill/>
                    </a:lnB>
                    <a:noFill/>
                  </a:tcPr>
                </a:tc>
                <a:tc>
                  <a:txBody>
                    <a:bodyPr/>
                    <a:p>
                      <a:pPr algn="ctr"/>
                      <a:r>
                        <a:rPr sz="1600"/>
                        <a:t>Execute SQL Task, Script Task, Data Flow Task</a:t>
                      </a:r>
                      <a:endParaRPr sz="1600"/>
                    </a:p>
                  </a:txBody>
                  <a:tcPr marL="0" marR="0" marT="0" marB="0" anchor="ctr" anchorCtr="0">
                    <a:lnL>
                      <a:noFill/>
                    </a:lnL>
                    <a:lnR>
                      <a:noFill/>
                    </a:lnR>
                    <a:lnT>
                      <a:noFill/>
                    </a:lnT>
                    <a:lnB>
                      <a:noFill/>
                    </a:lnB>
                    <a:noFill/>
                  </a:tcPr>
                </a:tc>
                <a:tc>
                  <a:txBody>
                    <a:bodyPr/>
                    <a:p>
                      <a:pPr algn="ctr"/>
                      <a:r>
                        <a:rPr sz="1600"/>
                        <a:t>Cache Transform, Lookup Transformation</a:t>
                      </a:r>
                      <a:endParaRPr sz="1600"/>
                    </a:p>
                  </a:txBody>
                  <a:tcPr marL="0" marR="0" marT="0" marB="0" anchor="ctr" anchorCtr="0">
                    <a:lnL>
                      <a:noFill/>
                    </a:lnL>
                    <a:lnR>
                      <a:noFill/>
                    </a:lnR>
                    <a:lnT>
                      <a:noFill/>
                    </a:lnT>
                    <a:lnB>
                      <a:noFill/>
                    </a:lnB>
                    <a:noFill/>
                  </a:tcPr>
                </a:tc>
                <a:tc>
                  <a:txBody>
                    <a:bodyPr/>
                    <a:p>
                      <a:pPr algn="ctr"/>
                      <a:r>
                        <a:rPr sz="1600"/>
                        <a:t>Excel Source, Excel Destination</a:t>
                      </a:r>
                      <a:endParaRPr sz="1600"/>
                    </a:p>
                  </a:txBody>
                  <a:tcPr marL="0" marR="0" marT="0" marB="0" anchor="ctr" anchorCtr="0">
                    <a:lnL>
                      <a:noFill/>
                    </a:lnL>
                    <a:lnR>
                      <a:noFill/>
                    </a:lnR>
                    <a:lnT>
                      <a:noFill/>
                    </a:lnT>
                    <a:lnB>
                      <a:noFill/>
                    </a:lnB>
                    <a:noFill/>
                  </a:tcPr>
                </a:tc>
                <a:tc>
                  <a:txBody>
                    <a:bodyPr/>
                    <a:p>
                      <a:pPr algn="ctr"/>
                      <a:r>
                        <a:rPr sz="1600"/>
                        <a:t>File System Task, Script Task, Execute Process Task</a:t>
                      </a:r>
                      <a:endParaRPr sz="1600"/>
                    </a:p>
                  </a:txBody>
                  <a:tcPr marL="0" marR="0" marT="0" marB="0" anchor="ctr" anchorCtr="0">
                    <a:lnL>
                      <a:noFill/>
                    </a:lnL>
                    <a:lnR>
                      <a:noFill/>
                    </a:lnR>
                    <a:lnT>
                      <a:noFill/>
                    </a:lnT>
                    <a:lnB>
                      <a:noFill/>
                    </a:lnB>
                    <a:noFill/>
                  </a:tcPr>
                </a:tc>
              </a:tr>
              <a:tr h="875030">
                <a:tc>
                  <a:txBody>
                    <a:bodyPr/>
                    <a:p>
                      <a:pPr algn="ctr"/>
                      <a:r>
                        <a:rPr sz="2000" b="1"/>
                        <a:t>Dynamic Configuration</a:t>
                      </a:r>
                      <a:endParaRPr sz="2000" b="1"/>
                    </a:p>
                  </a:txBody>
                  <a:tcPr marL="0" marR="0" marT="0" marB="0" anchor="ctr" anchorCtr="0">
                    <a:lnL>
                      <a:noFill/>
                    </a:lnL>
                    <a:lnR>
                      <a:noFill/>
                    </a:lnR>
                    <a:lnT>
                      <a:noFill/>
                    </a:lnT>
                    <a:lnB>
                      <a:noFill/>
                    </a:lnB>
                    <a:noFill/>
                  </a:tcPr>
                </a:tc>
                <a:tc>
                  <a:txBody>
                    <a:bodyPr/>
                    <a:p>
                      <a:pPr algn="ctr"/>
                      <a:r>
                        <a:rPr sz="1600"/>
                        <a:t>Yes (Variables &amp; Expressions)</a:t>
                      </a:r>
                      <a:endParaRPr sz="1600"/>
                    </a:p>
                  </a:txBody>
                  <a:tcPr marL="0" marR="0" marT="0" marB="0" anchor="ctr" anchorCtr="0">
                    <a:lnL>
                      <a:noFill/>
                    </a:lnL>
                    <a:lnR>
                      <a:noFill/>
                    </a:lnR>
                    <a:lnT>
                      <a:noFill/>
                    </a:lnT>
                    <a:lnB>
                      <a:noFill/>
                    </a:lnB>
                    <a:noFill/>
                  </a:tcPr>
                </a:tc>
                <a:tc>
                  <a:txBody>
                    <a:bodyPr/>
                    <a:p>
                      <a:pPr algn="ctr"/>
                      <a:r>
                        <a:rPr sz="1600"/>
                        <a:t>Yes (Variables &amp; Expressions)</a:t>
                      </a:r>
                      <a:endParaRPr sz="1600"/>
                    </a:p>
                  </a:txBody>
                  <a:tcPr marL="0" marR="0" marT="0" marB="0" anchor="ctr" anchorCtr="0">
                    <a:lnL>
                      <a:noFill/>
                    </a:lnL>
                    <a:lnR>
                      <a:noFill/>
                    </a:lnR>
                    <a:lnT>
                      <a:noFill/>
                    </a:lnT>
                    <a:lnB>
                      <a:noFill/>
                    </a:lnB>
                    <a:noFill/>
                  </a:tcPr>
                </a:tc>
                <a:tc>
                  <a:txBody>
                    <a:bodyPr/>
                    <a:p>
                      <a:pPr algn="ctr"/>
                      <a:r>
                        <a:rPr sz="1600"/>
                        <a:t>Yes</a:t>
                      </a:r>
                      <a:endParaRPr sz="1600"/>
                    </a:p>
                  </a:txBody>
                  <a:tcPr marL="0" marR="0" marT="0" marB="0" anchor="ctr" anchorCtr="0">
                    <a:lnL>
                      <a:noFill/>
                    </a:lnL>
                    <a:lnR>
                      <a:noFill/>
                    </a:lnR>
                    <a:lnT>
                      <a:noFill/>
                    </a:lnT>
                    <a:lnB>
                      <a:noFill/>
                    </a:lnB>
                    <a:noFill/>
                  </a:tcPr>
                </a:tc>
                <a:tc>
                  <a:txBody>
                    <a:bodyPr/>
                    <a:p>
                      <a:pPr algn="ctr"/>
                      <a:r>
                        <a:rPr sz="1600"/>
                        <a:t>Yes</a:t>
                      </a:r>
                      <a:endParaRPr sz="1600"/>
                    </a:p>
                  </a:txBody>
                  <a:tcPr marL="0" marR="0" marT="0" marB="0" anchor="ctr" anchorCtr="0">
                    <a:lnL>
                      <a:noFill/>
                    </a:lnL>
                    <a:lnR>
                      <a:noFill/>
                    </a:lnR>
                    <a:lnT>
                      <a:noFill/>
                    </a:lnT>
                    <a:lnB>
                      <a:noFill/>
                    </a:lnB>
                    <a:noFill/>
                  </a:tcPr>
                </a:tc>
                <a:tc>
                  <a:txBody>
                    <a:bodyPr/>
                    <a:p>
                      <a:pPr algn="ctr"/>
                      <a:r>
                        <a:rPr sz="1600"/>
                        <a:t>Yes</a:t>
                      </a:r>
                      <a:endParaRPr sz="1600"/>
                    </a:p>
                  </a:txBody>
                  <a:tcPr marL="0" marR="0" marT="0" marB="0" anchor="ctr" anchorCtr="0">
                    <a:lnL>
                      <a:noFill/>
                    </a:lnL>
                    <a:lnR>
                      <a:noFill/>
                    </a:lnR>
                    <a:lnT>
                      <a:noFill/>
                    </a:lnT>
                    <a:lnB>
                      <a:noFill/>
                    </a:lnB>
                    <a:noFill/>
                  </a:tcPr>
                </a:tc>
              </a:tr>
              <a:tr h="873125">
                <a:tc>
                  <a:txBody>
                    <a:bodyPr/>
                    <a:p>
                      <a:pPr algn="ctr"/>
                      <a:r>
                        <a:rPr sz="2000" b="1"/>
                        <a:t>Typical File/Storage</a:t>
                      </a:r>
                      <a:endParaRPr sz="2000" b="1"/>
                    </a:p>
                  </a:txBody>
                  <a:tcPr marL="0" marR="0" marT="0" marB="0" anchor="ctr" anchorCtr="0">
                    <a:lnL>
                      <a:noFill/>
                    </a:lnL>
                    <a:lnR>
                      <a:noFill/>
                    </a:lnR>
                    <a:lnT>
                      <a:noFill/>
                    </a:lnT>
                    <a:lnB>
                      <a:noFill/>
                    </a:lnB>
                    <a:noFill/>
                  </a:tcPr>
                </a:tc>
                <a:tc>
                  <a:txBody>
                    <a:bodyPr/>
                    <a:p>
                      <a:pPr algn="ctr"/>
                      <a:r>
                        <a:rPr sz="1600"/>
                        <a:t>Database Connection</a:t>
                      </a:r>
                      <a:endParaRPr sz="1600"/>
                    </a:p>
                  </a:txBody>
                  <a:tcPr marL="0" marR="0" marT="0" marB="0" anchor="ctr" anchorCtr="0">
                    <a:lnL>
                      <a:noFill/>
                    </a:lnL>
                    <a:lnR>
                      <a:noFill/>
                    </a:lnR>
                    <a:lnT>
                      <a:noFill/>
                    </a:lnT>
                    <a:lnB>
                      <a:noFill/>
                    </a:lnB>
                    <a:noFill/>
                  </a:tcPr>
                </a:tc>
                <a:tc>
                  <a:txBody>
                    <a:bodyPr/>
                    <a:p>
                      <a:pPr algn="ctr"/>
                      <a:r>
                        <a:rPr sz="1600"/>
                        <a:t>Database Connection</a:t>
                      </a:r>
                      <a:endParaRPr sz="1600"/>
                    </a:p>
                  </a:txBody>
                  <a:tcPr marL="0" marR="0" marT="0" marB="0" anchor="ctr" anchorCtr="0">
                    <a:lnL>
                      <a:noFill/>
                    </a:lnL>
                    <a:lnR>
                      <a:noFill/>
                    </a:lnR>
                    <a:lnT>
                      <a:noFill/>
                    </a:lnT>
                    <a:lnB>
                      <a:noFill/>
                    </a:lnB>
                    <a:noFill/>
                  </a:tcPr>
                </a:tc>
                <a:tc>
                  <a:txBody>
                    <a:bodyPr/>
                    <a:p>
                      <a:pPr algn="ctr"/>
                      <a:r>
                        <a:rPr sz="1600"/>
                        <a:t>Cache File (.caw) or Memory</a:t>
                      </a:r>
                      <a:endParaRPr sz="1600"/>
                    </a:p>
                  </a:txBody>
                  <a:tcPr marL="0" marR="0" marT="0" marB="0" anchor="ctr" anchorCtr="0">
                    <a:lnL>
                      <a:noFill/>
                    </a:lnL>
                    <a:lnR>
                      <a:noFill/>
                    </a:lnR>
                    <a:lnT>
                      <a:noFill/>
                    </a:lnT>
                    <a:lnB>
                      <a:noFill/>
                    </a:lnB>
                    <a:noFill/>
                  </a:tcPr>
                </a:tc>
                <a:tc>
                  <a:txBody>
                    <a:bodyPr/>
                    <a:p>
                      <a:pPr algn="ctr"/>
                      <a:r>
                        <a:rPr sz="1600"/>
                        <a:t>Excel Workbook (.xls/.xlsx)</a:t>
                      </a:r>
                      <a:endParaRPr sz="1600"/>
                    </a:p>
                  </a:txBody>
                  <a:tcPr marL="0" marR="0" marT="0" marB="0" anchor="ctr" anchorCtr="0">
                    <a:lnL>
                      <a:noFill/>
                    </a:lnL>
                    <a:lnR>
                      <a:noFill/>
                    </a:lnR>
                    <a:lnT>
                      <a:noFill/>
                    </a:lnT>
                    <a:lnB>
                      <a:noFill/>
                    </a:lnB>
                    <a:noFill/>
                  </a:tcPr>
                </a:tc>
                <a:tc>
                  <a:txBody>
                    <a:bodyPr/>
                    <a:p>
                      <a:pPr algn="ctr"/>
                      <a:r>
                        <a:rPr sz="1600"/>
                        <a:t>Any File or Folder</a:t>
                      </a:r>
                      <a:endParaRPr sz="1600"/>
                    </a:p>
                  </a:txBody>
                  <a:tcPr marL="0" marR="0" marT="0" marB="0" anchor="ctr" anchorCtr="0">
                    <a:lnL>
                      <a:noFill/>
                    </a:lnL>
                    <a:lnR>
                      <a:noFill/>
                    </a:lnR>
                    <a:lnT>
                      <a:noFill/>
                    </a:lnT>
                    <a:lnB>
                      <a:noFill/>
                    </a:lnB>
                    <a:noFill/>
                  </a:tcPr>
                </a:tc>
              </a:tr>
              <a:tr h="1276350">
                <a:tc>
                  <a:txBody>
                    <a:bodyPr/>
                    <a:p>
                      <a:pPr algn="ctr"/>
                      <a:r>
                        <a:rPr sz="2000" b="1"/>
                        <a:t>Authentication Required</a:t>
                      </a:r>
                      <a:endParaRPr sz="2000" b="1"/>
                    </a:p>
                  </a:txBody>
                  <a:tcPr marL="0" marR="0" marT="0" marB="0" anchor="ctr" anchorCtr="0">
                    <a:lnL>
                      <a:noFill/>
                    </a:lnL>
                    <a:lnR>
                      <a:noFill/>
                    </a:lnR>
                    <a:lnT>
                      <a:noFill/>
                    </a:lnT>
                    <a:lnB>
                      <a:noFill/>
                    </a:lnB>
                    <a:noFill/>
                  </a:tcPr>
                </a:tc>
                <a:tc>
                  <a:txBody>
                    <a:bodyPr/>
                    <a:p>
                      <a:pPr algn="ctr"/>
                      <a:r>
                        <a:rPr sz="1600"/>
                        <a:t>Yes</a:t>
                      </a:r>
                      <a:endParaRPr sz="1600"/>
                    </a:p>
                  </a:txBody>
                  <a:tcPr marL="0" marR="0" marT="0" marB="0" anchor="ctr" anchorCtr="0">
                    <a:lnL>
                      <a:noFill/>
                    </a:lnL>
                    <a:lnR>
                      <a:noFill/>
                    </a:lnR>
                    <a:lnT>
                      <a:noFill/>
                    </a:lnT>
                    <a:lnB>
                      <a:noFill/>
                    </a:lnB>
                    <a:noFill/>
                  </a:tcPr>
                </a:tc>
                <a:tc>
                  <a:txBody>
                    <a:bodyPr/>
                    <a:p>
                      <a:pPr algn="ctr"/>
                      <a:r>
                        <a:rPr sz="1600"/>
                        <a:t>Yes</a:t>
                      </a:r>
                      <a:endParaRPr sz="1600"/>
                    </a:p>
                  </a:txBody>
                  <a:tcPr marL="0" marR="0" marT="0" marB="0" anchor="ctr" anchorCtr="0">
                    <a:lnL>
                      <a:noFill/>
                    </a:lnL>
                    <a:lnR>
                      <a:noFill/>
                    </a:lnR>
                    <a:lnT>
                      <a:noFill/>
                    </a:lnT>
                    <a:lnB>
                      <a:noFill/>
                    </a:lnB>
                    <a:noFill/>
                  </a:tcPr>
                </a:tc>
                <a:tc>
                  <a:txBody>
                    <a:bodyPr/>
                    <a:p>
                      <a:pPr algn="ctr"/>
                      <a:r>
                        <a:rPr sz="1600"/>
                        <a:t>No</a:t>
                      </a:r>
                      <a:endParaRPr sz="1600"/>
                    </a:p>
                  </a:txBody>
                  <a:tcPr marL="0" marR="0" marT="0" marB="0" anchor="ctr" anchorCtr="0">
                    <a:lnL>
                      <a:noFill/>
                    </a:lnL>
                    <a:lnR>
                      <a:noFill/>
                    </a:lnR>
                    <a:lnT>
                      <a:noFill/>
                    </a:lnT>
                    <a:lnB>
                      <a:noFill/>
                    </a:lnB>
                    <a:noFill/>
                  </a:tcPr>
                </a:tc>
                <a:tc>
                  <a:txBody>
                    <a:bodyPr/>
                    <a:p>
                      <a:pPr algn="ctr"/>
                      <a:r>
                        <a:rPr sz="1600"/>
                        <a:t>No</a:t>
                      </a:r>
                      <a:endParaRPr sz="1600"/>
                    </a:p>
                  </a:txBody>
                  <a:tcPr marL="0" marR="0" marT="0" marB="0" anchor="ctr" anchorCtr="0">
                    <a:lnL>
                      <a:noFill/>
                    </a:lnL>
                    <a:lnR>
                      <a:noFill/>
                    </a:lnR>
                    <a:lnT>
                      <a:noFill/>
                    </a:lnT>
                    <a:lnB>
                      <a:noFill/>
                    </a:lnB>
                    <a:noFill/>
                  </a:tcPr>
                </a:tc>
                <a:tc>
                  <a:txBody>
                    <a:bodyPr/>
                    <a:p>
                      <a:pPr algn="ctr"/>
                      <a:r>
                        <a:rPr sz="1600"/>
                        <a:t>No (depends on file permissions)</a:t>
                      </a:r>
                      <a:endParaRPr sz="1600"/>
                    </a:p>
                  </a:txBody>
                  <a:tcPr marL="0" marR="0" marT="0" marB="0" anchor="ctr" anchorCtr="0">
                    <a:lnL>
                      <a:noFill/>
                    </a:lnL>
                    <a:lnR>
                      <a:noFill/>
                    </a:lnR>
                    <a:lnT>
                      <a:noFill/>
                    </a:lnT>
                    <a:lnB>
                      <a:noFill/>
                    </a:lnB>
                    <a:noFill/>
                  </a:tcPr>
                </a:tc>
              </a:tr>
              <a:tr h="1278255">
                <a:tc>
                  <a:txBody>
                    <a:bodyPr/>
                    <a:p>
                      <a:pPr algn="ctr"/>
                      <a:r>
                        <a:rPr sz="2000" b="1"/>
                        <a:t>Performance</a:t>
                      </a:r>
                      <a:endParaRPr sz="2000" b="1"/>
                    </a:p>
                  </a:txBody>
                  <a:tcPr marL="0" marR="0" marT="0" marB="0" anchor="ctr" anchorCtr="0">
                    <a:lnL>
                      <a:noFill/>
                    </a:lnL>
                    <a:lnR>
                      <a:noFill/>
                    </a:lnR>
                    <a:lnT>
                      <a:noFill/>
                    </a:lnT>
                    <a:lnB>
                      <a:noFill/>
                    </a:lnB>
                    <a:noFill/>
                  </a:tcPr>
                </a:tc>
                <a:tc>
                  <a:txBody>
                    <a:bodyPr/>
                    <a:p>
                      <a:pPr algn="ctr"/>
                      <a:r>
                        <a:rPr sz="1600"/>
                        <a:t>Good</a:t>
                      </a:r>
                      <a:endParaRPr sz="1600"/>
                    </a:p>
                  </a:txBody>
                  <a:tcPr marL="0" marR="0" marT="0" marB="0" anchor="ctr" anchorCtr="0">
                    <a:lnL>
                      <a:noFill/>
                    </a:lnL>
                    <a:lnR>
                      <a:noFill/>
                    </a:lnR>
                    <a:lnT>
                      <a:noFill/>
                    </a:lnT>
                    <a:lnB>
                      <a:noFill/>
                    </a:lnB>
                    <a:noFill/>
                  </a:tcPr>
                </a:tc>
                <a:tc>
                  <a:txBody>
                    <a:bodyPr/>
                    <a:p>
                      <a:pPr algn="ctr"/>
                      <a:r>
                        <a:rPr sz="1600"/>
                        <a:t>High</a:t>
                      </a:r>
                      <a:endParaRPr sz="1600"/>
                    </a:p>
                  </a:txBody>
                  <a:tcPr marL="0" marR="0" marT="0" marB="0" anchor="ctr" anchorCtr="0">
                    <a:lnL>
                      <a:noFill/>
                    </a:lnL>
                    <a:lnR>
                      <a:noFill/>
                    </a:lnR>
                    <a:lnT>
                      <a:noFill/>
                    </a:lnT>
                    <a:lnB>
                      <a:noFill/>
                    </a:lnB>
                    <a:noFill/>
                  </a:tcPr>
                </a:tc>
                <a:tc>
                  <a:txBody>
                    <a:bodyPr/>
                    <a:p>
                      <a:pPr algn="ctr"/>
                      <a:r>
                        <a:rPr sz="1600"/>
                        <a:t>Very High for lookups</a:t>
                      </a:r>
                      <a:endParaRPr sz="1600"/>
                    </a:p>
                  </a:txBody>
                  <a:tcPr marL="0" marR="0" marT="0" marB="0" anchor="ctr" anchorCtr="0">
                    <a:lnL>
                      <a:noFill/>
                    </a:lnL>
                    <a:lnR>
                      <a:noFill/>
                    </a:lnR>
                    <a:lnT>
                      <a:noFill/>
                    </a:lnT>
                    <a:lnB>
                      <a:noFill/>
                    </a:lnB>
                    <a:noFill/>
                  </a:tcPr>
                </a:tc>
                <a:tc>
                  <a:txBody>
                    <a:bodyPr/>
                    <a:p>
                      <a:pPr algn="ctr"/>
                      <a:r>
                        <a:rPr sz="1600"/>
                        <a:t>Moderate</a:t>
                      </a:r>
                      <a:endParaRPr sz="1600"/>
                    </a:p>
                  </a:txBody>
                  <a:tcPr marL="0" marR="0" marT="0" marB="0" anchor="ctr" anchorCtr="0">
                    <a:lnL>
                      <a:noFill/>
                    </a:lnL>
                    <a:lnR>
                      <a:noFill/>
                    </a:lnR>
                    <a:lnT>
                      <a:noFill/>
                    </a:lnT>
                    <a:lnB>
                      <a:noFill/>
                    </a:lnB>
                    <a:noFill/>
                  </a:tcPr>
                </a:tc>
                <a:tc>
                  <a:txBody>
                    <a:bodyPr/>
                    <a:p>
                      <a:pPr algn="ctr"/>
                      <a:r>
                        <a:rPr sz="1600"/>
                        <a:t>Depends on file size and disk speed</a:t>
                      </a:r>
                      <a:endParaRPr sz="1600"/>
                    </a:p>
                  </a:txBody>
                  <a:tcPr marL="0" marR="0" marT="0" marB="0" anchor="ctr" anchorCtr="0">
                    <a:lnL>
                      <a:noFill/>
                    </a:lnL>
                    <a:lnR>
                      <a:noFill/>
                    </a:lnR>
                    <a:lnT>
                      <a:noFill/>
                    </a:lnT>
                    <a:lnB>
                      <a:noFill/>
                    </a:lnB>
                    <a:noFill/>
                  </a:tcPr>
                </a:tc>
              </a:tr>
              <a:tr h="1276985">
                <a:tc>
                  <a:txBody>
                    <a:bodyPr/>
                    <a:p>
                      <a:pPr algn="ctr"/>
                      <a:r>
                        <a:rPr sz="2000" b="1"/>
                        <a:t>Typical Example</a:t>
                      </a:r>
                      <a:endParaRPr sz="2000" b="1"/>
                    </a:p>
                  </a:txBody>
                  <a:tcPr marL="0" marR="0" marT="0" marB="0" anchor="ctr" anchorCtr="0">
                    <a:lnL>
                      <a:noFill/>
                    </a:lnL>
                    <a:lnR>
                      <a:noFill/>
                    </a:lnR>
                    <a:lnT>
                      <a:noFill/>
                    </a:lnT>
                    <a:lnB>
                      <a:noFill/>
                    </a:lnB>
                    <a:noFill/>
                  </a:tcPr>
                </a:tc>
                <a:tc>
                  <a:txBody>
                    <a:bodyPr/>
                    <a:p>
                      <a:pPr algn="ctr"/>
                      <a:r>
                        <a:rPr sz="1600"/>
                        <a:t>Reading employee records from SQL Server</a:t>
                      </a:r>
                      <a:endParaRPr sz="1600"/>
                    </a:p>
                  </a:txBody>
                  <a:tcPr marL="0" marR="0" marT="0" marB="0" anchor="ctr" anchorCtr="0">
                    <a:lnL>
                      <a:noFill/>
                    </a:lnL>
                    <a:lnR>
                      <a:noFill/>
                    </a:lnR>
                    <a:lnT>
                      <a:noFill/>
                    </a:lnT>
                    <a:lnB>
                      <a:noFill/>
                    </a:lnB>
                    <a:noFill/>
                  </a:tcPr>
                </a:tc>
                <a:tc>
                  <a:txBody>
                    <a:bodyPr/>
                    <a:p>
                      <a:pPr algn="ctr"/>
                      <a:r>
                        <a:rPr sz="1600"/>
                        <a:t>Executing SQL queries using .NET provider</a:t>
                      </a:r>
                      <a:endParaRPr sz="1600"/>
                    </a:p>
                  </a:txBody>
                  <a:tcPr marL="0" marR="0" marT="0" marB="0" anchor="ctr" anchorCtr="0">
                    <a:lnL>
                      <a:noFill/>
                    </a:lnL>
                    <a:lnR>
                      <a:noFill/>
                    </a:lnR>
                    <a:lnT>
                      <a:noFill/>
                    </a:lnT>
                    <a:lnB>
                      <a:noFill/>
                    </a:lnB>
                    <a:noFill/>
                  </a:tcPr>
                </a:tc>
                <a:tc>
                  <a:txBody>
                    <a:bodyPr/>
                    <a:p>
                      <a:pPr algn="ctr"/>
                      <a:r>
                        <a:rPr sz="1600"/>
                        <a:t>Loading product lookup data into memory</a:t>
                      </a:r>
                      <a:endParaRPr sz="1600"/>
                    </a:p>
                  </a:txBody>
                  <a:tcPr marL="0" marR="0" marT="0" marB="0" anchor="ctr" anchorCtr="0">
                    <a:lnL>
                      <a:noFill/>
                    </a:lnL>
                    <a:lnR>
                      <a:noFill/>
                    </a:lnR>
                    <a:lnT>
                      <a:noFill/>
                    </a:lnT>
                    <a:lnB>
                      <a:noFill/>
                    </a:lnB>
                    <a:noFill/>
                  </a:tcPr>
                </a:tc>
                <a:tc>
                  <a:txBody>
                    <a:bodyPr/>
                    <a:p>
                      <a:pPr algn="ctr"/>
                      <a:r>
                        <a:rPr sz="1600"/>
                        <a:t>Importing sales data from Excel</a:t>
                      </a:r>
                      <a:endParaRPr sz="1600"/>
                    </a:p>
                  </a:txBody>
                  <a:tcPr marL="0" marR="0" marT="0" marB="0" anchor="ctr" anchorCtr="0">
                    <a:lnL>
                      <a:noFill/>
                    </a:lnL>
                    <a:lnR>
                      <a:noFill/>
                    </a:lnR>
                    <a:lnT>
                      <a:noFill/>
                    </a:lnT>
                    <a:lnB>
                      <a:noFill/>
                    </a:lnB>
                    <a:noFill/>
                  </a:tcPr>
                </a:tc>
                <a:tc>
                  <a:txBody>
                    <a:bodyPr/>
                    <a:p>
                      <a:pPr algn="ctr"/>
                      <a:r>
                        <a:rPr sz="1600"/>
                        <a:t>Moving or copying CSV files during ETL</a:t>
                      </a:r>
                      <a:endParaRPr sz="16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FTP Connection Manager</a:t>
            </a:r>
            <a:endParaRPr lang="en-US"/>
          </a:p>
        </p:txBody>
      </p:sp>
      <p:sp>
        <p:nvSpPr>
          <p:cNvPr id="3" name="Content Placeholder 2"/>
          <p:cNvSpPr>
            <a:spLocks noGrp="1"/>
          </p:cNvSpPr>
          <p:nvPr>
            <p:ph idx="1"/>
          </p:nvPr>
        </p:nvSpPr>
        <p:spPr/>
        <p:txBody>
          <a:bodyPr>
            <a:normAutofit fontScale="80000"/>
          </a:bodyPr>
          <a:p>
            <a:r>
              <a:rPr lang="en-US" altLang="en-US"/>
              <a:t>FTP (File Transfer Protocol) Connection Manager in SQL Server Integration Services (SSIS) is used to establish a connection with an FTP server. It enables SSIS packages to transfer files between the local computer and a remote FTP server during ETL operations.</a:t>
            </a:r>
            <a:endParaRPr lang="en-US" altLang="en-US"/>
          </a:p>
          <a:p>
            <a:r>
              <a:rPr lang="en-US" altLang="en-US"/>
              <a:t>It is commonly used with the FTP Task to upload, download, delete, rename, or create directories on an FTP server.</a:t>
            </a:r>
            <a:endParaRPr lang="en-US" altLang="en-US"/>
          </a:p>
          <a:p>
            <a:r>
              <a:rPr lang="en-US" altLang="en-US"/>
              <a:t>Features :</a:t>
            </a:r>
            <a:endParaRPr lang="en-US" altLang="en-US"/>
          </a:p>
          <a:p>
            <a:pPr lvl="1"/>
            <a:r>
              <a:rPr lang="en-US" altLang="en-US"/>
              <a:t>Connects to remote FTP servers.</a:t>
            </a:r>
            <a:endParaRPr lang="en-US" altLang="en-US"/>
          </a:p>
          <a:p>
            <a:pPr lvl="1"/>
            <a:r>
              <a:rPr lang="en-US" altLang="en-US"/>
              <a:t>Supports file upload and download operations.</a:t>
            </a:r>
            <a:endParaRPr lang="en-US" altLang="en-US"/>
          </a:p>
          <a:p>
            <a:pPr lvl="1"/>
            <a:r>
              <a:rPr lang="en-US" altLang="en-US"/>
              <a:t>Allows deleting, renaming, and moving files.</a:t>
            </a:r>
            <a:endParaRPr lang="en-US" altLang="en-US"/>
          </a:p>
          <a:p>
            <a:pPr lvl="1"/>
            <a:r>
              <a:rPr lang="en-US" altLang="en-US"/>
              <a:t>Supports creating and removing directories.</a:t>
            </a:r>
            <a:endParaRPr lang="en-US" altLang="en-US"/>
          </a:p>
          <a:p>
            <a:pPr lvl="1"/>
            <a:r>
              <a:rPr lang="en-US" altLang="en-US"/>
              <a:t>Uses a server name, port number, username, and password for authentication.</a:t>
            </a:r>
            <a:endParaRPr lang="en-US" altLang="en-US"/>
          </a:p>
          <a:p>
            <a:pPr lvl="1"/>
            <a:r>
              <a:rPr lang="en-US" altLang="en-US"/>
              <a:t>Can be reused by multiple FTP Tasks in an SSIS package.</a:t>
            </a:r>
            <a:endParaRPr lang="en-US"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Components and Steps</a:t>
            </a:r>
            <a:endParaRPr lang="en-US"/>
          </a:p>
        </p:txBody>
      </p:sp>
      <p:sp>
        <p:nvSpPr>
          <p:cNvPr id="3" name="Content Placeholder 2"/>
          <p:cNvSpPr>
            <a:spLocks noGrp="1"/>
          </p:cNvSpPr>
          <p:nvPr>
            <p:ph idx="1"/>
          </p:nvPr>
        </p:nvSpPr>
        <p:spPr>
          <a:xfrm>
            <a:off x="838200" y="1825625"/>
            <a:ext cx="4970145" cy="4351655"/>
          </a:xfrm>
        </p:spPr>
        <p:txBody>
          <a:bodyPr>
            <a:normAutofit fontScale="80000"/>
          </a:bodyPr>
          <a:p>
            <a:r>
              <a:rPr lang="en-US" altLang="en-US"/>
              <a:t>Connection Name – Name assigned to the connection manager.</a:t>
            </a:r>
            <a:endParaRPr lang="en-US" altLang="en-US"/>
          </a:p>
          <a:p>
            <a:r>
              <a:rPr lang="en-US" altLang="en-US"/>
              <a:t>Server Name – Address or IP of the FTP server.</a:t>
            </a:r>
            <a:endParaRPr lang="en-US" altLang="en-US"/>
          </a:p>
          <a:p>
            <a:r>
              <a:rPr lang="en-US" altLang="en-US"/>
              <a:t>Port Number – Default FTP port is 21.</a:t>
            </a:r>
            <a:endParaRPr lang="en-US" altLang="en-US"/>
          </a:p>
          <a:p>
            <a:r>
              <a:rPr lang="en-US" altLang="en-US"/>
              <a:t>User Name – FTP account username.</a:t>
            </a:r>
            <a:endParaRPr lang="en-US" altLang="en-US"/>
          </a:p>
          <a:p>
            <a:r>
              <a:rPr lang="en-US" altLang="en-US"/>
              <a:t>Password – FTP account password.</a:t>
            </a:r>
            <a:endParaRPr lang="en-US" altLang="en-US"/>
          </a:p>
          <a:p>
            <a:r>
              <a:rPr lang="en-US" altLang="en-US"/>
              <a:t>Timeout – Time to wait before the connection times out.</a:t>
            </a:r>
            <a:endParaRPr lang="en-US" altLang="en-US"/>
          </a:p>
          <a:p>
            <a:r>
              <a:rPr lang="en-US" altLang="en-US"/>
              <a:t>Connection Mode – Active or Passive mode.</a:t>
            </a:r>
            <a:endParaRPr lang="en-US" altLang="en-US"/>
          </a:p>
        </p:txBody>
      </p:sp>
      <p:sp>
        <p:nvSpPr>
          <p:cNvPr id="4" name="Content Placeholder 2"/>
          <p:cNvSpPr>
            <a:spLocks noGrp="1"/>
          </p:cNvSpPr>
          <p:nvPr/>
        </p:nvSpPr>
        <p:spPr>
          <a:xfrm>
            <a:off x="6482080" y="1761490"/>
            <a:ext cx="4970145" cy="4485005"/>
          </a:xfrm>
          <a:prstGeom prst="rect">
            <a:avLst/>
          </a:prstGeom>
        </p:spPr>
        <p:txBody>
          <a:bodyPr vert="horz" lIns="91440" tIns="45720" rIns="91440" bIns="45720" rtlCol="0">
            <a:normAutofit fontScale="9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a:t>Steps :</a:t>
            </a:r>
            <a:endParaRPr lang="en-US" altLang="en-US"/>
          </a:p>
          <a:p>
            <a:pPr lvl="1"/>
            <a:r>
              <a:rPr lang="en-US" altLang="en-US"/>
              <a:t>Open the SSIS package in SQL Server Data Tools (SSDT).</a:t>
            </a:r>
            <a:endParaRPr lang="en-US" altLang="en-US"/>
          </a:p>
          <a:p>
            <a:pPr lvl="1"/>
            <a:r>
              <a:rPr lang="en-US" altLang="en-US"/>
              <a:t>Right-click in the Connection Managers pane.</a:t>
            </a:r>
            <a:endParaRPr lang="en-US" altLang="en-US"/>
          </a:p>
          <a:p>
            <a:pPr lvl="1"/>
            <a:r>
              <a:rPr lang="en-US" altLang="en-US"/>
              <a:t>Select New Connection.</a:t>
            </a:r>
            <a:endParaRPr lang="en-US" altLang="en-US"/>
          </a:p>
          <a:p>
            <a:pPr lvl="1"/>
            <a:r>
              <a:rPr lang="en-US" altLang="en-US"/>
              <a:t>Choose FTP and click Add.</a:t>
            </a:r>
            <a:endParaRPr lang="en-US" altLang="en-US"/>
          </a:p>
          <a:p>
            <a:pPr lvl="1"/>
            <a:r>
              <a:rPr lang="en-US" altLang="en-US"/>
              <a:t>Enter the FTP server name or IP address.</a:t>
            </a:r>
            <a:endParaRPr lang="en-US" altLang="en-US"/>
          </a:p>
          <a:p>
            <a:pPr lvl="1"/>
            <a:r>
              <a:rPr lang="en-US" altLang="en-US"/>
              <a:t>Specify the username and password.</a:t>
            </a:r>
            <a:endParaRPr lang="en-US" altLang="en-US"/>
          </a:p>
          <a:p>
            <a:pPr lvl="1"/>
            <a:r>
              <a:rPr lang="en-US" altLang="en-US"/>
              <a:t>Configure the port number and connection mode if required.</a:t>
            </a:r>
            <a:endParaRPr lang="en-US" altLang="en-US"/>
          </a:p>
          <a:p>
            <a:pPr lvl="1"/>
            <a:r>
              <a:rPr lang="en-US" altLang="en-US"/>
              <a:t>Test the connection.</a:t>
            </a:r>
            <a:endParaRPr lang="en-US" altLang="en-US"/>
          </a:p>
          <a:p>
            <a:pPr lvl="1"/>
            <a:r>
              <a:rPr lang="en-US" altLang="en-US"/>
              <a:t>Click OK to save the connection.</a:t>
            </a:r>
            <a:endParaRPr lang="en-US"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Use Cases</a:t>
            </a:r>
            <a:endParaRPr lang="en-US"/>
          </a:p>
        </p:txBody>
      </p:sp>
      <p:sp>
        <p:nvSpPr>
          <p:cNvPr id="3" name="Content Placeholder 2"/>
          <p:cNvSpPr>
            <a:spLocks noGrp="1"/>
          </p:cNvSpPr>
          <p:nvPr>
            <p:ph idx="1"/>
          </p:nvPr>
        </p:nvSpPr>
        <p:spPr/>
        <p:txBody>
          <a:bodyPr>
            <a:normAutofit/>
          </a:bodyPr>
          <a:p>
            <a:pPr lvl="1"/>
            <a:r>
              <a:rPr lang="en-US" altLang="en-US"/>
              <a:t>Downloading files from remote servers.</a:t>
            </a:r>
            <a:endParaRPr lang="en-US" altLang="en-US"/>
          </a:p>
          <a:p>
            <a:pPr lvl="1"/>
            <a:r>
              <a:rPr lang="en-US" altLang="en-US"/>
              <a:t>Uploading files to FTP servers.</a:t>
            </a:r>
            <a:endParaRPr lang="en-US" altLang="en-US"/>
          </a:p>
          <a:p>
            <a:pPr lvl="1"/>
            <a:r>
              <a:rPr lang="en-US" altLang="en-US"/>
              <a:t>Deleting files after processing.</a:t>
            </a:r>
            <a:endParaRPr lang="en-US" altLang="en-US"/>
          </a:p>
          <a:p>
            <a:pPr lvl="1"/>
            <a:r>
              <a:rPr lang="en-US" altLang="en-US"/>
              <a:t>Creating and removing directories.</a:t>
            </a:r>
            <a:endParaRPr lang="en-US" altLang="en-US"/>
          </a:p>
          <a:p>
            <a:pPr lvl="1"/>
            <a:r>
              <a:rPr lang="en-US" altLang="en-US"/>
              <a:t>Automating file transfers in ETL workflows.</a:t>
            </a:r>
            <a:endParaRPr lang="en-US" altLang="en-US"/>
          </a:p>
          <a:p>
            <a:r>
              <a:rPr lang="en-US" altLang="en-US"/>
              <a:t>Limitations :</a:t>
            </a:r>
            <a:endParaRPr lang="en-US" altLang="en-US"/>
          </a:p>
          <a:p>
            <a:pPr lvl="1"/>
            <a:r>
              <a:rPr lang="en-US" altLang="en-US"/>
              <a:t>FTP transfers are not encrypted, making them less secure.</a:t>
            </a:r>
            <a:endParaRPr lang="en-US" altLang="en-US"/>
          </a:p>
          <a:p>
            <a:pPr lvl="1"/>
            <a:r>
              <a:rPr lang="en-US" altLang="en-US"/>
              <a:t>Usernames, passwords, and data can be intercepted during transmission.</a:t>
            </a:r>
            <a:endParaRPr lang="en-US" altLang="en-US"/>
          </a:p>
          <a:p>
            <a:pPr lvl="1"/>
            <a:r>
              <a:rPr lang="en-US" altLang="en-US"/>
              <a:t>Requires network connectivity to the FTP server.</a:t>
            </a:r>
            <a:endParaRPr lang="en-US" altLang="en-US"/>
          </a:p>
          <a:p>
            <a:pPr lvl="1"/>
            <a:r>
              <a:rPr lang="en-US" altLang="en-US"/>
              <a:t>Firewall settings may affect FTP communication.</a:t>
            </a:r>
            <a:endParaRPr lang="en-US" altLang="en-US"/>
          </a:p>
        </p:txBody>
      </p:sp>
      <p:sp>
        <p:nvSpPr>
          <p:cNvPr id="4" name="Text Box 3"/>
          <p:cNvSpPr txBox="1"/>
          <p:nvPr/>
        </p:nvSpPr>
        <p:spPr>
          <a:xfrm>
            <a:off x="6688455" y="364808"/>
            <a:ext cx="5080000" cy="1322070"/>
          </a:xfrm>
          <a:prstGeom prst="rect">
            <a:avLst/>
          </a:prstGeom>
        </p:spPr>
        <p:txBody>
          <a:bodyPr>
            <a:spAutoFit/>
          </a:bodyPr>
          <a:p>
            <a:r>
              <a:rPr lang="en-US" sz="1600" b="1" u="sng"/>
              <a:t>EXAMPLE </a:t>
            </a:r>
            <a:r>
              <a:rPr lang="en-US" sz="1600"/>
              <a:t>: </a:t>
            </a:r>
            <a:r>
              <a:rPr sz="1600"/>
              <a:t>A company receives daily sales files on a remote FTP server. </a:t>
            </a:r>
            <a:endParaRPr sz="1600"/>
          </a:p>
          <a:p>
            <a:pPr marL="285750" indent="-285750">
              <a:buFont typeface="Arial" panose="020B0604020202020204" pitchFamily="34" charset="0"/>
              <a:buChar char="•"/>
            </a:pPr>
            <a:r>
              <a:rPr sz="1600"/>
              <a:t>An SSIS package uses the FTP Connection Manager and FTP Task to download the files automatically, process them, and store them in a SQL Server database.</a:t>
            </a:r>
            <a:endParaRPr sz="16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SFTP : Secure File Transfer Protocol</a:t>
            </a:r>
            <a:endParaRPr lang="en-US"/>
          </a:p>
        </p:txBody>
      </p:sp>
      <p:sp>
        <p:nvSpPr>
          <p:cNvPr id="3" name="Content Placeholder 2"/>
          <p:cNvSpPr>
            <a:spLocks noGrp="1"/>
          </p:cNvSpPr>
          <p:nvPr>
            <p:ph idx="1"/>
          </p:nvPr>
        </p:nvSpPr>
        <p:spPr/>
        <p:txBody>
          <a:bodyPr>
            <a:normAutofit/>
          </a:bodyPr>
          <a:p>
            <a:r>
              <a:rPr lang="en-US" altLang="en-US"/>
              <a:t>SFTP (Secure File Transfer Protocol) is a secure protocol used to transfer files over an encrypted SSH (Secure Shell) connection. Unlike FTP, SFTP encrypts both authentication information and file data, ensuring secure communication.</a:t>
            </a:r>
            <a:endParaRPr lang="en-US" altLang="en-US"/>
          </a:p>
          <a:p>
            <a:r>
              <a:rPr lang="en-US" altLang="en-US"/>
              <a:t>Note: SSIS does not provide a built-in SFTP Connection Manager. To work with SFTP servers, developers typically use:</a:t>
            </a:r>
            <a:endParaRPr lang="en-US" altLang="en-US"/>
          </a:p>
          <a:p>
            <a:pPr lvl="1"/>
            <a:r>
              <a:rPr lang="en-US" altLang="en-US"/>
              <a:t>Third-party SSIS components (such as CozyRoc or KingswaySoft).</a:t>
            </a:r>
            <a:endParaRPr lang="en-US" altLang="en-US"/>
          </a:p>
          <a:p>
            <a:pPr lvl="1"/>
            <a:r>
              <a:rPr lang="en-US" altLang="en-US"/>
              <a:t>Script Task using .NET libraries (e.g., SSH.NET).</a:t>
            </a:r>
            <a:endParaRPr lang="en-US" altLang="en-US"/>
          </a:p>
          <a:p>
            <a:pPr lvl="1"/>
            <a:r>
              <a:rPr lang="en-US" altLang="en-US"/>
              <a:t>Command-line tools such as WinSCP or PuTTY PSFTP through the Execute Process Task.</a:t>
            </a:r>
            <a:endParaRPr lang="en-US"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More Points</a:t>
            </a:r>
            <a:endParaRPr lang="en-US"/>
          </a:p>
        </p:txBody>
      </p:sp>
      <p:sp>
        <p:nvSpPr>
          <p:cNvPr id="3" name="Content Placeholder 2"/>
          <p:cNvSpPr>
            <a:spLocks noGrp="1"/>
          </p:cNvSpPr>
          <p:nvPr>
            <p:ph idx="1"/>
          </p:nvPr>
        </p:nvSpPr>
        <p:spPr>
          <a:xfrm>
            <a:off x="838200" y="1825625"/>
            <a:ext cx="5314950" cy="4351655"/>
          </a:xfrm>
        </p:spPr>
        <p:txBody>
          <a:bodyPr>
            <a:normAutofit/>
          </a:bodyPr>
          <a:p>
            <a:r>
              <a:rPr lang="en-US" altLang="en-US"/>
              <a:t>Features :</a:t>
            </a:r>
            <a:endParaRPr lang="en-US" altLang="en-US"/>
          </a:p>
          <a:p>
            <a:pPr lvl="1"/>
            <a:r>
              <a:rPr lang="en-US" altLang="en-US"/>
              <a:t>Secure file transfer using SSH encryption.</a:t>
            </a:r>
            <a:endParaRPr lang="en-US" altLang="en-US"/>
          </a:p>
          <a:p>
            <a:pPr lvl="1"/>
            <a:r>
              <a:rPr lang="en-US" altLang="en-US"/>
              <a:t>Encrypts both login credentials and transferred data.</a:t>
            </a:r>
            <a:endParaRPr lang="en-US" altLang="en-US"/>
          </a:p>
          <a:p>
            <a:pPr lvl="1"/>
            <a:r>
              <a:rPr lang="en-US" altLang="en-US"/>
              <a:t>Supports file upload and download.</a:t>
            </a:r>
            <a:endParaRPr lang="en-US" altLang="en-US"/>
          </a:p>
          <a:p>
            <a:pPr lvl="1"/>
            <a:r>
              <a:rPr lang="en-US" altLang="en-US"/>
              <a:t>Provides secure authentication using passwords or SSH keys.</a:t>
            </a:r>
            <a:endParaRPr lang="en-US" altLang="en-US"/>
          </a:p>
          <a:p>
            <a:pPr lvl="1"/>
            <a:r>
              <a:rPr lang="en-US" altLang="en-US"/>
              <a:t>Ensures data integrity during transmission.</a:t>
            </a:r>
            <a:endParaRPr lang="en-US" altLang="en-US"/>
          </a:p>
        </p:txBody>
      </p:sp>
      <p:sp>
        <p:nvSpPr>
          <p:cNvPr id="4" name="Text Box 3"/>
          <p:cNvSpPr txBox="1"/>
          <p:nvPr/>
        </p:nvSpPr>
        <p:spPr>
          <a:xfrm>
            <a:off x="6621145" y="1690688"/>
            <a:ext cx="5080000" cy="2181225"/>
          </a:xfrm>
          <a:prstGeom prst="rect">
            <a:avLst/>
          </a:prstGeom>
        </p:spPr>
        <p:txBody>
          <a:bodyPr>
            <a:spAutoFit/>
          </a:bodyPr>
          <a:p>
            <a:pPr>
              <a:spcAft>
                <a:spcPct val="60000"/>
              </a:spcAft>
            </a:pPr>
            <a:r>
              <a:rPr sz="2300" b="1"/>
              <a:t>Components of an SFTP Connection</a:t>
            </a:r>
            <a:endParaRPr sz="2300" b="1"/>
          </a:p>
          <a:p>
            <a:pPr>
              <a:buAutoNum type="arabicPeriod"/>
            </a:pPr>
            <a:r>
              <a:rPr sz="1600"/>
              <a:t>Host Name – Address of the SFTP server. </a:t>
            </a:r>
            <a:endParaRPr sz="1600"/>
          </a:p>
          <a:p>
            <a:pPr>
              <a:buAutoNum type="arabicPeriod"/>
            </a:pPr>
            <a:r>
              <a:rPr sz="1600"/>
              <a:t>Port Number – Default SFTP port is 22. </a:t>
            </a:r>
            <a:endParaRPr sz="1600"/>
          </a:p>
          <a:p>
            <a:pPr>
              <a:buAutoNum type="arabicPeriod"/>
            </a:pPr>
            <a:r>
              <a:rPr sz="1600"/>
              <a:t>User Name – SFTP account username. </a:t>
            </a:r>
            <a:endParaRPr sz="1600"/>
          </a:p>
          <a:p>
            <a:pPr>
              <a:buAutoNum type="arabicPeriod"/>
            </a:pPr>
            <a:r>
              <a:rPr sz="1600"/>
              <a:t>Password or SSH Key – Authentication method. </a:t>
            </a:r>
            <a:endParaRPr sz="1600"/>
          </a:p>
          <a:p>
            <a:pPr>
              <a:buAutoNum type="arabicPeriod"/>
            </a:pPr>
            <a:r>
              <a:rPr sz="1600"/>
              <a:t>Remote Directory – Folder on the SFTP server. </a:t>
            </a:r>
            <a:endParaRPr sz="1600"/>
          </a:p>
          <a:p>
            <a:pPr>
              <a:buAutoNum type="arabicPeriod"/>
            </a:pPr>
            <a:r>
              <a:rPr sz="1600"/>
              <a:t>Local Directory – Folder on the local machine.</a:t>
            </a:r>
            <a:endParaRPr sz="1600"/>
          </a:p>
        </p:txBody>
      </p:sp>
      <p:sp>
        <p:nvSpPr>
          <p:cNvPr id="5" name="Text Box 4"/>
          <p:cNvSpPr txBox="1"/>
          <p:nvPr/>
        </p:nvSpPr>
        <p:spPr>
          <a:xfrm>
            <a:off x="6621145" y="4060508"/>
            <a:ext cx="5080000" cy="2427605"/>
          </a:xfrm>
          <a:prstGeom prst="rect">
            <a:avLst/>
          </a:prstGeom>
        </p:spPr>
        <p:txBody>
          <a:bodyPr>
            <a:spAutoFit/>
          </a:bodyPr>
          <a:p>
            <a:pPr>
              <a:spcAft>
                <a:spcPct val="60000"/>
              </a:spcAft>
            </a:pPr>
            <a:r>
              <a:rPr sz="2300" b="1"/>
              <a:t>Steps to Use SFTP in SSIS</a:t>
            </a:r>
            <a:endParaRPr sz="2300" b="1"/>
          </a:p>
          <a:p>
            <a:pPr>
              <a:buAutoNum type="arabicPeriod"/>
            </a:pPr>
            <a:r>
              <a:rPr sz="1600"/>
              <a:t> Install a third-party SFTP component or use an external SFTP tool. </a:t>
            </a:r>
            <a:endParaRPr sz="1600"/>
          </a:p>
          <a:p>
            <a:pPr>
              <a:buAutoNum type="arabicPeriod"/>
            </a:pPr>
            <a:r>
              <a:rPr sz="1600"/>
              <a:t> Configure the server name and port (22). </a:t>
            </a:r>
            <a:endParaRPr sz="1600"/>
          </a:p>
          <a:p>
            <a:pPr>
              <a:buAutoNum type="arabicPeriod"/>
            </a:pPr>
            <a:r>
              <a:rPr sz="1600"/>
              <a:t> Enter authentication details (password or SSH key). </a:t>
            </a:r>
            <a:endParaRPr sz="1600"/>
          </a:p>
          <a:p>
            <a:pPr>
              <a:buAutoNum type="arabicPeriod"/>
            </a:pPr>
            <a:r>
              <a:rPr sz="1600"/>
              <a:t> Specify local and remote directories. </a:t>
            </a:r>
            <a:endParaRPr sz="1600"/>
          </a:p>
          <a:p>
            <a:pPr>
              <a:buAutoNum type="arabicPeriod"/>
            </a:pPr>
            <a:r>
              <a:rPr sz="1600"/>
              <a:t> Execute upload or download operations through the package. </a:t>
            </a:r>
            <a:endParaRPr sz="16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Use Cases</a:t>
            </a:r>
            <a:endParaRPr lang="en-US"/>
          </a:p>
        </p:txBody>
      </p:sp>
      <p:sp>
        <p:nvSpPr>
          <p:cNvPr id="3" name="Content Placeholder 2"/>
          <p:cNvSpPr>
            <a:spLocks noGrp="1"/>
          </p:cNvSpPr>
          <p:nvPr>
            <p:ph idx="1"/>
          </p:nvPr>
        </p:nvSpPr>
        <p:spPr/>
        <p:txBody>
          <a:bodyPr/>
          <a:p>
            <a:pPr lvl="1"/>
            <a:r>
              <a:rPr lang="en-US" altLang="en-US"/>
              <a:t>Securely transferring sensitive business data.</a:t>
            </a:r>
            <a:endParaRPr lang="en-US" altLang="en-US"/>
          </a:p>
          <a:p>
            <a:pPr lvl="1"/>
            <a:r>
              <a:rPr lang="en-US" altLang="en-US"/>
              <a:t>Exchanging files between organizations.</a:t>
            </a:r>
            <a:endParaRPr lang="en-US" altLang="en-US"/>
          </a:p>
          <a:p>
            <a:pPr lvl="1"/>
            <a:r>
              <a:rPr lang="en-US" altLang="en-US"/>
              <a:t>Banking and financial data transfers.</a:t>
            </a:r>
            <a:endParaRPr lang="en-US" altLang="en-US"/>
          </a:p>
          <a:p>
            <a:pPr lvl="1"/>
            <a:r>
              <a:rPr lang="en-US" altLang="en-US"/>
              <a:t>Healthcare and government data exchange.</a:t>
            </a:r>
            <a:endParaRPr lang="en-US" altLang="en-US"/>
          </a:p>
          <a:p>
            <a:pPr lvl="1"/>
            <a:r>
              <a:rPr lang="en-US" altLang="en-US"/>
              <a:t>Secure cloud file integration.</a:t>
            </a:r>
            <a:endParaRPr lang="en-US" altLang="en-US"/>
          </a:p>
          <a:p>
            <a:pPr lvl="0"/>
            <a:r>
              <a:rPr lang="en-US" altLang="en-US"/>
              <a:t>LIMITATIONS :</a:t>
            </a:r>
            <a:endParaRPr lang="en-US" altLang="en-US"/>
          </a:p>
          <a:p>
            <a:pPr lvl="1"/>
            <a:r>
              <a:rPr lang="en-US" altLang="en-US"/>
              <a:t>Not available as a built-in SSIS Connection Manager.</a:t>
            </a:r>
            <a:endParaRPr lang="en-US" altLang="en-US"/>
          </a:p>
          <a:p>
            <a:pPr lvl="1"/>
            <a:r>
              <a:rPr lang="en-US" altLang="en-US"/>
              <a:t>Requires third-party tools or custom scripting.</a:t>
            </a:r>
            <a:endParaRPr lang="en-US" altLang="en-US"/>
          </a:p>
          <a:p>
            <a:pPr lvl="1"/>
            <a:r>
              <a:rPr lang="en-US" altLang="en-US"/>
              <a:t>Initial configuration is more complex than FTP.</a:t>
            </a:r>
            <a:endParaRPr lang="en-US" altLang="en-US"/>
          </a:p>
          <a:p>
            <a:pPr lvl="1"/>
            <a:r>
              <a:rPr lang="en-US" altLang="en-US"/>
              <a:t>May require additional software installation.</a:t>
            </a:r>
            <a:endParaRPr lang="en-US" altLang="en-US"/>
          </a:p>
        </p:txBody>
      </p:sp>
      <p:sp>
        <p:nvSpPr>
          <p:cNvPr id="4" name="Text Box 3"/>
          <p:cNvSpPr txBox="1"/>
          <p:nvPr/>
        </p:nvSpPr>
        <p:spPr>
          <a:xfrm>
            <a:off x="6774180" y="189865"/>
            <a:ext cx="5080000" cy="1676400"/>
          </a:xfrm>
          <a:prstGeom prst="rect">
            <a:avLst/>
          </a:prstGeom>
        </p:spPr>
        <p:txBody>
          <a:bodyPr>
            <a:spAutoFit/>
          </a:bodyPr>
          <a:p>
            <a:pPr>
              <a:spcAft>
                <a:spcPct val="60000"/>
              </a:spcAft>
            </a:pPr>
            <a:r>
              <a:rPr sz="2300" b="1"/>
              <a:t>Example</a:t>
            </a:r>
            <a:r>
              <a:rPr lang="en-US" sz="2300" b="1"/>
              <a:t> : </a:t>
            </a:r>
            <a:r>
              <a:rPr sz="1600"/>
              <a:t>A bank receives daily transaction files from its branches through an SFTP server. An SSIS package uses WinSCP (via the Execute Process Task) to securely download the encrypted files. After the download, the package validates and loads the data into a SQL Server database.</a:t>
            </a:r>
            <a:endParaRPr sz="16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p>
            <a:r>
              <a:rPr lang="en-US"/>
              <a:t>SSIS Sources</a:t>
            </a:r>
            <a:endParaRPr lang="en-US"/>
          </a:p>
        </p:txBody>
      </p:sp>
      <p:sp>
        <p:nvSpPr>
          <p:cNvPr id="5" name="Subtitle 4"/>
          <p:cNvSpPr>
            <a:spLocks noGrp="1"/>
          </p:cNvSpPr>
          <p:nvPr>
            <p:ph type="subTitle" idx="1"/>
          </p:nvPr>
        </p:nvSpPr>
        <p:spPr/>
        <p:txBody>
          <a:bodyPr/>
          <a:p>
            <a:r>
              <a:rPr lang="en-US"/>
              <a:t>Different Source for SSIS</a:t>
            </a: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What is Source ?</a:t>
            </a:r>
            <a:endParaRPr lang="en-US"/>
          </a:p>
        </p:txBody>
      </p:sp>
      <p:sp>
        <p:nvSpPr>
          <p:cNvPr id="3" name="Content Placeholder 2"/>
          <p:cNvSpPr>
            <a:spLocks noGrp="1"/>
          </p:cNvSpPr>
          <p:nvPr>
            <p:ph idx="1"/>
          </p:nvPr>
        </p:nvSpPr>
        <p:spPr/>
        <p:txBody>
          <a:bodyPr>
            <a:normAutofit fontScale="90000" lnSpcReduction="20000"/>
          </a:bodyPr>
          <a:p>
            <a:r>
              <a:rPr lang="en-US" altLang="en-US"/>
              <a:t>Source Assistant in SSIS is a wizard that helps developers quickly configure and add Source components to a Data Flow Task. It simplifies the process of selecting the data source, creating the required connection manager, and configuring the source component.</a:t>
            </a:r>
            <a:endParaRPr lang="en-US" altLang="en-US"/>
          </a:p>
          <a:p>
            <a:r>
              <a:rPr lang="en-US" altLang="en-US"/>
              <a:t>It is especially useful for beginners because it reduces manual configuration and speeds up package development.</a:t>
            </a:r>
            <a:endParaRPr lang="en-US" altLang="en-US"/>
          </a:p>
          <a:p>
            <a:r>
              <a:rPr lang="en-US" altLang="en-US"/>
              <a:t>FEATURES :</a:t>
            </a:r>
            <a:endParaRPr lang="en-US" altLang="en-US"/>
          </a:p>
          <a:p>
            <a:pPr lvl="1"/>
            <a:r>
              <a:rPr lang="en-US" altLang="en-US"/>
              <a:t>Provides a guided wizard for adding source components.</a:t>
            </a:r>
            <a:endParaRPr lang="en-US" altLang="en-US"/>
          </a:p>
          <a:p>
            <a:pPr lvl="1"/>
            <a:r>
              <a:rPr lang="en-US" altLang="en-US"/>
              <a:t>Automatically creates and configures connection managers.</a:t>
            </a:r>
            <a:endParaRPr lang="en-US" altLang="en-US"/>
          </a:p>
          <a:p>
            <a:pPr lvl="1"/>
            <a:r>
              <a:rPr lang="en-US" altLang="en-US"/>
              <a:t>Supports multiple data sources.</a:t>
            </a:r>
            <a:endParaRPr lang="en-US" altLang="en-US"/>
          </a:p>
          <a:p>
            <a:pPr lvl="1"/>
            <a:r>
              <a:rPr lang="en-US" altLang="en-US"/>
              <a:t>Simplifies Data Flow design.</a:t>
            </a:r>
            <a:endParaRPr lang="en-US" altLang="en-US"/>
          </a:p>
          <a:p>
            <a:pPr lvl="1"/>
            <a:r>
              <a:rPr lang="en-US" altLang="en-US"/>
              <a:t>Reduces development time.</a:t>
            </a:r>
            <a:endParaRPr lang="en-US" altLang="en-US"/>
          </a:p>
          <a:p>
            <a:pPr lvl="1"/>
            <a:r>
              <a:rPr lang="en-US" altLang="en-US"/>
              <a:t>Easy to use for beginners.</a:t>
            </a:r>
            <a:endParaRPr lang="en-US"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Autofit/>
          </a:bodyPr>
          <a:p>
            <a:r>
              <a:rPr lang="en-US" sz="2400"/>
              <a:t>Example :</a:t>
            </a:r>
            <a:r>
              <a:rPr lang="en-US" altLang="en-US" sz="2400"/>
              <a:t>A developer wants to import customer data from an Excel file. Instead of manually adding an Excel Source and configuring the connection, the Source Assistant guides the developer through selecting the Excel file, creating the connection manager, and adding the source component automatically.</a:t>
            </a:r>
            <a:endParaRPr lang="en-US" altLang="en-US" sz="2400"/>
          </a:p>
        </p:txBody>
      </p:sp>
      <p:sp>
        <p:nvSpPr>
          <p:cNvPr id="3" name="Content Placeholder 2"/>
          <p:cNvSpPr>
            <a:spLocks noGrp="1"/>
          </p:cNvSpPr>
          <p:nvPr>
            <p:ph idx="1"/>
          </p:nvPr>
        </p:nvSpPr>
        <p:spPr/>
        <p:txBody>
          <a:bodyPr/>
          <a:p>
            <a:r>
              <a:rPr lang="en-US"/>
              <a:t>Use Cases : </a:t>
            </a:r>
            <a:endParaRPr lang="en-US"/>
          </a:p>
          <a:p>
            <a:pPr lvl="1"/>
            <a:r>
              <a:rPr lang="en-US" altLang="en-US"/>
              <a:t>Quickly adding data sources to a Data Flow Task.</a:t>
            </a:r>
            <a:endParaRPr lang="en-US" altLang="en-US"/>
          </a:p>
          <a:p>
            <a:pPr lvl="1"/>
            <a:r>
              <a:rPr lang="en-US" altLang="en-US"/>
              <a:t>Automatically configuring source components.</a:t>
            </a:r>
            <a:endParaRPr lang="en-US" altLang="en-US"/>
          </a:p>
          <a:p>
            <a:pPr lvl="1"/>
            <a:r>
              <a:rPr lang="en-US" altLang="en-US"/>
              <a:t>Creating connection managers.</a:t>
            </a:r>
            <a:endParaRPr lang="en-US" altLang="en-US"/>
          </a:p>
          <a:p>
            <a:pPr lvl="1"/>
            <a:r>
              <a:rPr lang="en-US" altLang="en-US"/>
              <a:t>Simplifying ETL package development.</a:t>
            </a:r>
            <a:endParaRPr lang="en-US" altLang="en-US"/>
          </a:p>
          <a:p>
            <a:pPr lvl="0"/>
            <a:r>
              <a:rPr lang="en-US" altLang="en-US"/>
              <a:t>Limitations :</a:t>
            </a:r>
            <a:endParaRPr lang="en-US" altLang="en-US"/>
          </a:p>
          <a:p>
            <a:pPr lvl="1"/>
            <a:r>
              <a:rPr lang="en-US" altLang="en-US"/>
              <a:t>Provides only basic configuration.</a:t>
            </a:r>
            <a:endParaRPr lang="en-US" altLang="en-US"/>
          </a:p>
          <a:p>
            <a:pPr lvl="1"/>
            <a:r>
              <a:rPr lang="en-US" altLang="en-US"/>
              <a:t>Advanced settings require manual modification.</a:t>
            </a:r>
            <a:endParaRPr lang="en-US" altLang="en-US"/>
          </a:p>
          <a:p>
            <a:pPr lvl="1"/>
            <a:r>
              <a:rPr lang="en-US" altLang="en-US"/>
              <a:t>Depends on supported source types.</a:t>
            </a:r>
            <a:endParaRPr lang="en-US"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Different Kind of Sources</a:t>
            </a:r>
            <a:endParaRPr lang="en-US"/>
          </a:p>
        </p:txBody>
      </p:sp>
      <p:sp>
        <p:nvSpPr>
          <p:cNvPr id="3" name="Content Placeholder 2"/>
          <p:cNvSpPr>
            <a:spLocks noGrp="1"/>
          </p:cNvSpPr>
          <p:nvPr>
            <p:ph idx="1"/>
          </p:nvPr>
        </p:nvSpPr>
        <p:spPr/>
        <p:txBody>
          <a:bodyPr/>
          <a:p>
            <a:r>
              <a:rPr lang="en-US"/>
              <a:t>ADO.NET Source</a:t>
            </a:r>
            <a:endParaRPr lang="en-US"/>
          </a:p>
          <a:p>
            <a:r>
              <a:rPr lang="en-US"/>
              <a:t>Excel Source</a:t>
            </a:r>
            <a:endParaRPr lang="en-US"/>
          </a:p>
          <a:p>
            <a:r>
              <a:rPr lang="en-US"/>
              <a:t>OLE DB Source</a:t>
            </a:r>
            <a:endParaRPr lang="en-US"/>
          </a:p>
          <a:p>
            <a:r>
              <a:rPr lang="en-US"/>
              <a:t>Flat File Source</a:t>
            </a:r>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ADO.NET Source</a:t>
            </a:r>
            <a:endParaRPr lang="en-US"/>
          </a:p>
        </p:txBody>
      </p:sp>
      <p:sp>
        <p:nvSpPr>
          <p:cNvPr id="3" name="Content Placeholder 2"/>
          <p:cNvSpPr>
            <a:spLocks noGrp="1"/>
          </p:cNvSpPr>
          <p:nvPr>
            <p:ph idx="1"/>
          </p:nvPr>
        </p:nvSpPr>
        <p:spPr/>
        <p:txBody>
          <a:bodyPr/>
          <a:p>
            <a:r>
              <a:rPr lang="en-US" altLang="en-US"/>
              <a:t>ADO.NET Source is an SSIS Data Flow component used to extract data from databases using an ADO.NET Connection Manager. It retrieves data by executing SQL queries or selecting database tables and passes the data into the Data Flow pipeline.</a:t>
            </a:r>
            <a:endParaRPr lang="en-US" altLang="en-US"/>
          </a:p>
          <a:p>
            <a:r>
              <a:rPr lang="en-US" altLang="en-US"/>
              <a:t>Features : </a:t>
            </a:r>
            <a:endParaRPr lang="en-US" altLang="en-US"/>
          </a:p>
          <a:p>
            <a:pPr lvl="1"/>
            <a:r>
              <a:rPr lang="en-US" altLang="en-US"/>
              <a:t>Uses ADO.NET Connection Manager.</a:t>
            </a:r>
            <a:endParaRPr lang="en-US" altLang="en-US"/>
          </a:p>
          <a:p>
            <a:pPr lvl="1"/>
            <a:r>
              <a:rPr lang="en-US" altLang="en-US"/>
              <a:t>Reads data from relational databases.</a:t>
            </a:r>
            <a:endParaRPr lang="en-US" altLang="en-US"/>
          </a:p>
          <a:p>
            <a:pPr lvl="1"/>
            <a:r>
              <a:rPr lang="en-US" altLang="en-US"/>
              <a:t>Supports SQL queries and database tables.</a:t>
            </a:r>
            <a:endParaRPr lang="en-US" altLang="en-US"/>
          </a:p>
          <a:p>
            <a:pPr lvl="1"/>
            <a:r>
              <a:rPr lang="en-US" altLang="en-US"/>
              <a:t>Works with multiple .NET data providers.</a:t>
            </a:r>
            <a:endParaRPr lang="en-US" altLang="en-US"/>
          </a:p>
          <a:p>
            <a:pPr lvl="1"/>
            <a:r>
              <a:rPr lang="en-US" altLang="en-US"/>
              <a:t>Supports parameterized SQL queries.</a:t>
            </a:r>
            <a:endParaRPr lang="en-US"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ADO.NET Source</a:t>
            </a:r>
            <a:endParaRPr lang="en-US"/>
          </a:p>
        </p:txBody>
      </p:sp>
      <p:sp>
        <p:nvSpPr>
          <p:cNvPr id="3" name="Content Placeholder 2"/>
          <p:cNvSpPr>
            <a:spLocks noGrp="1"/>
          </p:cNvSpPr>
          <p:nvPr>
            <p:ph idx="1"/>
          </p:nvPr>
        </p:nvSpPr>
        <p:spPr/>
        <p:txBody>
          <a:bodyPr/>
          <a:p>
            <a:r>
              <a:rPr lang="en-US"/>
              <a:t>Usage : </a:t>
            </a:r>
            <a:endParaRPr lang="en-US"/>
          </a:p>
          <a:p>
            <a:pPr lvl="1"/>
            <a:r>
              <a:rPr lang="en-US" altLang="en-US"/>
              <a:t>Importing data from SQL Server.</a:t>
            </a:r>
            <a:endParaRPr lang="en-US" altLang="en-US"/>
          </a:p>
          <a:p>
            <a:pPr lvl="1"/>
            <a:r>
              <a:rPr lang="en-US" altLang="en-US"/>
              <a:t>Reading Oracle and MySQL databases.</a:t>
            </a:r>
            <a:endParaRPr lang="en-US" altLang="en-US"/>
          </a:p>
          <a:p>
            <a:pPr lvl="1"/>
            <a:r>
              <a:rPr lang="en-US" altLang="en-US"/>
              <a:t>Extracting data using SQL queries.</a:t>
            </a:r>
            <a:endParaRPr lang="en-US" altLang="en-US"/>
          </a:p>
          <a:p>
            <a:pPr lvl="1"/>
            <a:r>
              <a:rPr lang="en-US" altLang="en-US"/>
              <a:t>Feeding data into Data Flow transformations.</a:t>
            </a:r>
            <a:endParaRPr lang="en-US" altLang="en-US"/>
          </a:p>
          <a:p>
            <a:pPr lvl="0"/>
            <a:r>
              <a:rPr lang="en-US" altLang="en-US"/>
              <a:t>Limitations :</a:t>
            </a:r>
            <a:endParaRPr lang="en-US" altLang="en-US"/>
          </a:p>
          <a:p>
            <a:pPr lvl="1"/>
            <a:r>
              <a:rPr lang="en-US" altLang="en-US"/>
              <a:t>Requires appropriate ADO.NET provider.</a:t>
            </a:r>
            <a:endParaRPr lang="en-US" altLang="en-US"/>
          </a:p>
          <a:p>
            <a:pPr lvl="1"/>
            <a:r>
              <a:rPr lang="en-US" altLang="en-US"/>
              <a:t>May be slower than OLE DB Source for large ETL operations.</a:t>
            </a:r>
            <a:endParaRPr lang="en-US" altLang="en-US"/>
          </a:p>
          <a:p>
            <a:pPr lvl="1"/>
            <a:r>
              <a:rPr lang="en-US" altLang="en-US"/>
              <a:t>Depends on installed .NET providers.</a:t>
            </a:r>
            <a:endParaRPr lang="en-US" altLang="en-US"/>
          </a:p>
        </p:txBody>
      </p:sp>
      <p:sp>
        <p:nvSpPr>
          <p:cNvPr id="4" name="Text Box 3"/>
          <p:cNvSpPr txBox="1"/>
          <p:nvPr/>
        </p:nvSpPr>
        <p:spPr>
          <a:xfrm>
            <a:off x="5509895" y="5673090"/>
            <a:ext cx="6096000" cy="922020"/>
          </a:xfrm>
          <a:prstGeom prst="rect">
            <a:avLst/>
          </a:prstGeom>
          <a:noFill/>
        </p:spPr>
        <p:txBody>
          <a:bodyPr wrap="square" rtlCol="0" anchor="t">
            <a:spAutoFit/>
          </a:bodyPr>
          <a:p>
            <a:r>
              <a:rPr lang="en-US" altLang="en-US"/>
              <a:t>Example :</a:t>
            </a:r>
            <a:endParaRPr lang="en-US" altLang="en-US"/>
          </a:p>
          <a:p>
            <a:r>
              <a:rPr lang="en-US" altLang="en-US"/>
              <a:t>SELECT EmployeeID, Name, Department</a:t>
            </a:r>
            <a:endParaRPr lang="en-US" altLang="en-US"/>
          </a:p>
          <a:p>
            <a:r>
              <a:rPr lang="en-US" altLang="en-US"/>
              <a:t>FROM Employees;</a:t>
            </a:r>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Excel Source </a:t>
            </a:r>
            <a:endParaRPr lang="en-US"/>
          </a:p>
        </p:txBody>
      </p:sp>
      <p:sp>
        <p:nvSpPr>
          <p:cNvPr id="3" name="Content Placeholder 2"/>
          <p:cNvSpPr>
            <a:spLocks noGrp="1"/>
          </p:cNvSpPr>
          <p:nvPr>
            <p:ph idx="1"/>
          </p:nvPr>
        </p:nvSpPr>
        <p:spPr/>
        <p:txBody>
          <a:bodyPr/>
          <a:p>
            <a:r>
              <a:rPr lang="en-US" altLang="en-US"/>
              <a:t>Excel Source is an SSIS Data Flow component used to read data from Microsoft Excel worksheets or named ranges and load it into the Data Flow pipeline.</a:t>
            </a:r>
            <a:endParaRPr lang="en-US" altLang="en-US"/>
          </a:p>
          <a:p>
            <a:r>
              <a:rPr lang="en-US" altLang="en-US"/>
              <a:t>Features :</a:t>
            </a:r>
            <a:endParaRPr lang="en-US" altLang="en-US"/>
          </a:p>
          <a:p>
            <a:pPr lvl="1"/>
            <a:r>
              <a:rPr lang="en-US" altLang="en-US"/>
              <a:t>Reads data from Excel files.</a:t>
            </a:r>
            <a:endParaRPr lang="en-US" altLang="en-US"/>
          </a:p>
          <a:p>
            <a:pPr lvl="1"/>
            <a:r>
              <a:rPr lang="en-US" altLang="en-US"/>
              <a:t>Supports .xls and .xlsx formats.</a:t>
            </a:r>
            <a:endParaRPr lang="en-US" altLang="en-US"/>
          </a:p>
          <a:p>
            <a:pPr lvl="1"/>
            <a:r>
              <a:rPr lang="en-US" altLang="en-US"/>
              <a:t>Reads worksheets and named ranges.</a:t>
            </a:r>
            <a:endParaRPr lang="en-US" altLang="en-US"/>
          </a:p>
          <a:p>
            <a:pPr lvl="1"/>
            <a:r>
              <a:rPr lang="en-US" altLang="en-US"/>
              <a:t>Works with Excel Connection Manager.</a:t>
            </a:r>
            <a:endParaRPr lang="en-US" altLang="en-US"/>
          </a:p>
          <a:p>
            <a:pPr lvl="1"/>
            <a:r>
              <a:rPr lang="en-US" altLang="en-US"/>
              <a:t>Supports column mapping.</a:t>
            </a:r>
            <a:endParaRPr lang="en-US"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Excel Source</a:t>
            </a:r>
            <a:endParaRPr lang="en-US"/>
          </a:p>
        </p:txBody>
      </p:sp>
      <p:sp>
        <p:nvSpPr>
          <p:cNvPr id="3" name="Content Placeholder 2"/>
          <p:cNvSpPr>
            <a:spLocks noGrp="1"/>
          </p:cNvSpPr>
          <p:nvPr>
            <p:ph idx="1"/>
          </p:nvPr>
        </p:nvSpPr>
        <p:spPr/>
        <p:txBody>
          <a:bodyPr>
            <a:normAutofit fontScale="90000" lnSpcReduction="20000"/>
          </a:bodyPr>
          <a:p>
            <a:r>
              <a:rPr lang="en-US"/>
              <a:t>Uses :</a:t>
            </a:r>
            <a:endParaRPr lang="en-US"/>
          </a:p>
          <a:p>
            <a:pPr lvl="1"/>
            <a:r>
              <a:rPr lang="en-US" altLang="en-US"/>
              <a:t>Reads data from Excel files.</a:t>
            </a:r>
            <a:endParaRPr lang="en-US" altLang="en-US"/>
          </a:p>
          <a:p>
            <a:pPr lvl="1"/>
            <a:r>
              <a:rPr lang="en-US" altLang="en-US"/>
              <a:t>Supports .xls and .xlsx formats.</a:t>
            </a:r>
            <a:endParaRPr lang="en-US" altLang="en-US"/>
          </a:p>
          <a:p>
            <a:pPr lvl="1"/>
            <a:r>
              <a:rPr lang="en-US" altLang="en-US"/>
              <a:t>Reads worksheets and named ranges.</a:t>
            </a:r>
            <a:endParaRPr lang="en-US" altLang="en-US"/>
          </a:p>
          <a:p>
            <a:pPr lvl="1"/>
            <a:r>
              <a:rPr lang="en-US" altLang="en-US"/>
              <a:t>Works with Excel Connection Manager.</a:t>
            </a:r>
            <a:endParaRPr lang="en-US" altLang="en-US"/>
          </a:p>
          <a:p>
            <a:pPr lvl="1"/>
            <a:r>
              <a:rPr lang="en-US" altLang="en-US"/>
              <a:t>Supports column mapping.</a:t>
            </a:r>
            <a:endParaRPr lang="en-US" altLang="en-US"/>
          </a:p>
          <a:p>
            <a:pPr lvl="0"/>
            <a:r>
              <a:rPr lang="en-US" altLang="en-US"/>
              <a:t>Limitations :</a:t>
            </a:r>
            <a:endParaRPr lang="en-US" altLang="en-US"/>
          </a:p>
          <a:p>
            <a:pPr lvl="1"/>
            <a:r>
              <a:rPr lang="en-US" altLang="en-US"/>
              <a:t>Requires Excel drivers.</a:t>
            </a:r>
            <a:endParaRPr lang="en-US" altLang="en-US"/>
          </a:p>
          <a:p>
            <a:pPr lvl="1"/>
            <a:r>
              <a:rPr lang="en-US" altLang="en-US"/>
              <a:t>Mixed data types may cause issues.</a:t>
            </a:r>
            <a:endParaRPr lang="en-US" altLang="en-US"/>
          </a:p>
          <a:p>
            <a:pPr lvl="1"/>
            <a:r>
              <a:rPr lang="en-US" altLang="en-US"/>
              <a:t>Performance decreases with large files.</a:t>
            </a:r>
            <a:endParaRPr lang="en-US" altLang="en-US"/>
          </a:p>
          <a:p>
            <a:pPr lvl="0"/>
            <a:r>
              <a:rPr lang="en-US" altLang="en-US"/>
              <a:t>Examples : </a:t>
            </a:r>
            <a:endParaRPr lang="en-US" altLang="en-US"/>
          </a:p>
          <a:p>
            <a:pPr lvl="1"/>
            <a:r>
              <a:rPr lang="en-US" altLang="en-US"/>
              <a:t>An organization receives EmployeeData.xlsx daily. The Excel Source reads employee records and loads them into SQL Server.</a:t>
            </a:r>
            <a:endParaRPr lang="en-US"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OLE DB Source</a:t>
            </a:r>
            <a:endParaRPr lang="en-US"/>
          </a:p>
        </p:txBody>
      </p:sp>
      <p:sp>
        <p:nvSpPr>
          <p:cNvPr id="3" name="Content Placeholder 2"/>
          <p:cNvSpPr>
            <a:spLocks noGrp="1"/>
          </p:cNvSpPr>
          <p:nvPr>
            <p:ph idx="1"/>
          </p:nvPr>
        </p:nvSpPr>
        <p:spPr/>
        <p:txBody>
          <a:bodyPr/>
          <a:p>
            <a:r>
              <a:rPr lang="en-US" altLang="en-US"/>
              <a:t>OLE DB Source is an SSIS Data Flow component used to extract data from relational databases through an OLE DB Connection Manager. It is one of the most commonly used source components in SSIS.</a:t>
            </a:r>
            <a:endParaRPr lang="en-US" altLang="en-US"/>
          </a:p>
          <a:p>
            <a:r>
              <a:rPr lang="en-US" altLang="en-US"/>
              <a:t>Features :</a:t>
            </a:r>
            <a:endParaRPr lang="en-US" altLang="en-US"/>
          </a:p>
          <a:p>
            <a:pPr lvl="1"/>
            <a:r>
              <a:rPr lang="en-US" altLang="en-US"/>
              <a:t>Uses OLE DB Connection Manager.</a:t>
            </a:r>
            <a:endParaRPr lang="en-US" altLang="en-US"/>
          </a:p>
          <a:p>
            <a:pPr lvl="1"/>
            <a:r>
              <a:rPr lang="en-US" altLang="en-US"/>
              <a:t>Supports SQL Server, Oracle, Access, and other OLE DB databases.</a:t>
            </a:r>
            <a:endParaRPr lang="en-US" altLang="en-US"/>
          </a:p>
          <a:p>
            <a:pPr lvl="1"/>
            <a:r>
              <a:rPr lang="en-US" altLang="en-US"/>
              <a:t>Reads database tables and views.</a:t>
            </a:r>
            <a:endParaRPr lang="en-US" altLang="en-US"/>
          </a:p>
          <a:p>
            <a:pPr lvl="1"/>
            <a:r>
              <a:rPr lang="en-US" altLang="en-US"/>
              <a:t>Executes SQL commands.</a:t>
            </a:r>
            <a:endParaRPr lang="en-US" altLang="en-US"/>
          </a:p>
          <a:p>
            <a:pPr lvl="1"/>
            <a:r>
              <a:rPr lang="en-US" altLang="en-US"/>
              <a:t>Supports parameterized queries.</a:t>
            </a:r>
            <a:endParaRPr lang="en-US"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OLE DB Source</a:t>
            </a:r>
            <a:endParaRPr lang="en-US"/>
          </a:p>
        </p:txBody>
      </p:sp>
      <p:sp>
        <p:nvSpPr>
          <p:cNvPr id="3" name="Content Placeholder 2"/>
          <p:cNvSpPr>
            <a:spLocks noGrp="1"/>
          </p:cNvSpPr>
          <p:nvPr>
            <p:ph idx="1"/>
          </p:nvPr>
        </p:nvSpPr>
        <p:spPr/>
        <p:txBody>
          <a:bodyPr>
            <a:normAutofit lnSpcReduction="20000"/>
          </a:bodyPr>
          <a:p>
            <a:r>
              <a:rPr lang="en-US"/>
              <a:t>Uses :</a:t>
            </a:r>
            <a:endParaRPr lang="en-US"/>
          </a:p>
          <a:p>
            <a:pPr lvl="1"/>
            <a:r>
              <a:rPr lang="en-US" altLang="en-US"/>
              <a:t>Extracting data from SQL Server.</a:t>
            </a:r>
            <a:endParaRPr lang="en-US" altLang="en-US"/>
          </a:p>
          <a:p>
            <a:pPr lvl="1"/>
            <a:r>
              <a:rPr lang="en-US" altLang="en-US"/>
              <a:t>Reading Oracle databases.</a:t>
            </a:r>
            <a:endParaRPr lang="en-US" altLang="en-US"/>
          </a:p>
          <a:p>
            <a:pPr lvl="1"/>
            <a:r>
              <a:rPr lang="en-US" altLang="en-US"/>
              <a:t>Importing data warehouse information.</a:t>
            </a:r>
            <a:endParaRPr lang="en-US" altLang="en-US"/>
          </a:p>
          <a:p>
            <a:pPr lvl="1"/>
            <a:r>
              <a:rPr lang="en-US" altLang="en-US"/>
              <a:t>Loading database records into the Data Flow.</a:t>
            </a:r>
            <a:endParaRPr lang="en-US" altLang="en-US"/>
          </a:p>
          <a:p>
            <a:pPr lvl="0"/>
            <a:r>
              <a:rPr lang="en-US" altLang="en-US"/>
              <a:t>Limitations :</a:t>
            </a:r>
            <a:endParaRPr lang="en-US" altLang="en-US"/>
          </a:p>
          <a:p>
            <a:pPr lvl="1"/>
            <a:r>
              <a:rPr lang="en-US" altLang="en-US"/>
              <a:t>Requires OLE DB provider.</a:t>
            </a:r>
            <a:endParaRPr lang="en-US" altLang="en-US"/>
          </a:p>
          <a:p>
            <a:pPr lvl="1"/>
            <a:r>
              <a:rPr lang="en-US" altLang="en-US"/>
              <a:t>Limited to OLE DB-supported databases.</a:t>
            </a:r>
            <a:endParaRPr lang="en-US" altLang="en-US"/>
          </a:p>
          <a:p>
            <a:pPr lvl="1"/>
            <a:r>
              <a:rPr lang="en-US" altLang="en-US"/>
              <a:t>Provider compatibility issues may occur.</a:t>
            </a:r>
            <a:endParaRPr lang="en-US" altLang="en-US"/>
          </a:p>
          <a:p>
            <a:pPr lvl="0"/>
            <a:r>
              <a:rPr lang="en-US" altLang="en-US"/>
              <a:t>Example :</a:t>
            </a:r>
            <a:endParaRPr lang="en-US" altLang="en-US"/>
          </a:p>
          <a:p>
            <a:pPr lvl="1"/>
            <a:r>
              <a:rPr lang="en-US" altLang="en-US"/>
              <a:t>SELECT *</a:t>
            </a:r>
            <a:endParaRPr lang="en-US" altLang="en-US"/>
          </a:p>
          <a:p>
            <a:pPr lvl="1"/>
            <a:r>
              <a:rPr lang="en-US" altLang="en-US"/>
              <a:t>FROM Sales;</a:t>
            </a:r>
            <a:endParaRPr lang="en-US"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Flat File Source</a:t>
            </a:r>
            <a:endParaRPr lang="en-US"/>
          </a:p>
        </p:txBody>
      </p:sp>
      <p:sp>
        <p:nvSpPr>
          <p:cNvPr id="3" name="Content Placeholder 2"/>
          <p:cNvSpPr>
            <a:spLocks noGrp="1"/>
          </p:cNvSpPr>
          <p:nvPr>
            <p:ph idx="1"/>
          </p:nvPr>
        </p:nvSpPr>
        <p:spPr/>
        <p:txBody>
          <a:bodyPr/>
          <a:p>
            <a:r>
              <a:rPr lang="en-US" altLang="en-US"/>
              <a:t>Flat File Source is an SSIS Data Flow component used to read data from flat files, such as CSV, TXT, TAB-delimited, and fixed-width files, and load it into the Data Flow pipeline.</a:t>
            </a:r>
            <a:endParaRPr lang="en-US" altLang="en-US"/>
          </a:p>
          <a:p>
            <a:r>
              <a:rPr lang="en-US" altLang="en-US"/>
              <a:t>It works with the Flat File Connection Manager.</a:t>
            </a:r>
            <a:endParaRPr lang="en-US" altLang="en-US"/>
          </a:p>
          <a:p>
            <a:r>
              <a:rPr lang="en-US" altLang="en-US"/>
              <a:t>Features  : </a:t>
            </a:r>
            <a:endParaRPr lang="en-US" altLang="en-US"/>
          </a:p>
          <a:p>
            <a:pPr lvl="1"/>
            <a:r>
              <a:rPr lang="en-US" altLang="en-US"/>
              <a:t>Reads CSV, TXT, and fixed-width files.</a:t>
            </a:r>
            <a:endParaRPr lang="en-US" altLang="en-US"/>
          </a:p>
          <a:p>
            <a:pPr lvl="1"/>
            <a:r>
              <a:rPr lang="en-US" altLang="en-US"/>
              <a:t>Supports delimited and fixed-width formats.</a:t>
            </a:r>
            <a:endParaRPr lang="en-US" altLang="en-US"/>
          </a:p>
          <a:p>
            <a:pPr lvl="1"/>
            <a:r>
              <a:rPr lang="en-US" altLang="en-US"/>
              <a:t>Uses Flat File Connection Manager.</a:t>
            </a:r>
            <a:endParaRPr lang="en-US" altLang="en-US"/>
          </a:p>
          <a:p>
            <a:pPr lvl="1"/>
            <a:r>
              <a:rPr lang="en-US" altLang="en-US"/>
              <a:t>Supports column mapping.</a:t>
            </a:r>
            <a:endParaRPr lang="en-US" altLang="en-US"/>
          </a:p>
          <a:p>
            <a:pPr lvl="1"/>
            <a:r>
              <a:rPr lang="en-US" altLang="en-US"/>
              <a:t>Handles text qualifiers and delimiters.</a:t>
            </a:r>
            <a:endParaRPr lang="en-US" altLang="en-US"/>
          </a:p>
          <a:p>
            <a:endParaRPr lang="en-US"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Uses and Limitations of Flat File Sources</a:t>
            </a:r>
            <a:endParaRPr lang="en-US"/>
          </a:p>
        </p:txBody>
      </p:sp>
      <p:sp>
        <p:nvSpPr>
          <p:cNvPr id="3" name="Content Placeholder 2"/>
          <p:cNvSpPr>
            <a:spLocks noGrp="1"/>
          </p:cNvSpPr>
          <p:nvPr>
            <p:ph idx="1"/>
          </p:nvPr>
        </p:nvSpPr>
        <p:spPr/>
        <p:txBody>
          <a:bodyPr>
            <a:normAutofit lnSpcReduction="20000"/>
          </a:bodyPr>
          <a:p>
            <a:pPr lvl="1"/>
            <a:r>
              <a:rPr lang="en-US" altLang="en-US"/>
              <a:t>Importing CSV files.</a:t>
            </a:r>
            <a:endParaRPr lang="en-US" altLang="en-US"/>
          </a:p>
          <a:p>
            <a:pPr lvl="1"/>
            <a:r>
              <a:rPr lang="en-US" altLang="en-US"/>
              <a:t>Reading log files.</a:t>
            </a:r>
            <a:endParaRPr lang="en-US" altLang="en-US"/>
          </a:p>
          <a:p>
            <a:pPr lvl="1"/>
            <a:r>
              <a:rPr lang="en-US" altLang="en-US"/>
              <a:t>Processing text files.</a:t>
            </a:r>
            <a:endParaRPr lang="en-US" altLang="en-US"/>
          </a:p>
          <a:p>
            <a:pPr lvl="1"/>
            <a:r>
              <a:rPr lang="en-US" altLang="en-US"/>
              <a:t>Loading external data into databases.</a:t>
            </a:r>
            <a:endParaRPr lang="en-US" altLang="en-US"/>
          </a:p>
          <a:p>
            <a:r>
              <a:rPr lang="en-US" altLang="en-US"/>
              <a:t>Limitations :</a:t>
            </a:r>
            <a:endParaRPr lang="en-US" altLang="en-US"/>
          </a:p>
          <a:p>
            <a:pPr lvl="1"/>
            <a:r>
              <a:rPr lang="en-US" altLang="en-US"/>
              <a:t>Data type conversion may be required.</a:t>
            </a:r>
            <a:endParaRPr lang="en-US" altLang="en-US"/>
          </a:p>
          <a:p>
            <a:pPr lvl="1"/>
            <a:r>
              <a:rPr lang="en-US" altLang="en-US"/>
              <a:t>Errors may occur due to inconsistent delimiters.</a:t>
            </a:r>
            <a:endParaRPr lang="en-US" altLang="en-US"/>
          </a:p>
          <a:p>
            <a:pPr lvl="1"/>
            <a:r>
              <a:rPr lang="en-US" altLang="en-US"/>
              <a:t>No support for relational database features.</a:t>
            </a:r>
            <a:endParaRPr lang="en-US" altLang="en-US"/>
          </a:p>
          <a:p>
            <a:pPr lvl="0"/>
            <a:r>
              <a:rPr lang="en-US" altLang="en-US"/>
              <a:t>Examples :</a:t>
            </a:r>
            <a:endParaRPr lang="en-US" altLang="en-US"/>
          </a:p>
          <a:p>
            <a:pPr lvl="1"/>
            <a:r>
              <a:rPr lang="en-US" altLang="en-US"/>
              <a:t>A company receives a daily Sales.csv file. The Flat File Source reads the records and loads them into SQL Server after applying required transformations.</a:t>
            </a:r>
            <a:endParaRPr lang="en-US"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p>
            <a:r>
              <a:rPr lang="en-US"/>
              <a:t>SSIS Destinations</a:t>
            </a:r>
            <a:endParaRPr lang="en-US"/>
          </a:p>
        </p:txBody>
      </p:sp>
      <p:sp>
        <p:nvSpPr>
          <p:cNvPr id="5" name="Subtitle 4"/>
          <p:cNvSpPr>
            <a:spLocks noGrp="1"/>
          </p:cNvSpPr>
          <p:nvPr>
            <p:ph type="subTitle" idx="1"/>
          </p:nvPr>
        </p:nvSpPr>
        <p:spPr/>
        <p:txBody>
          <a:bodyPr/>
          <a:p>
            <a:r>
              <a:rPr lang="en-US"/>
              <a:t>Different Destination Types</a:t>
            </a:r>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What are Destinations ?</a:t>
            </a:r>
            <a:endParaRPr lang="en-US"/>
          </a:p>
        </p:txBody>
      </p:sp>
      <p:sp>
        <p:nvSpPr>
          <p:cNvPr id="3" name="Content Placeholder 2"/>
          <p:cNvSpPr>
            <a:spLocks noGrp="1"/>
          </p:cNvSpPr>
          <p:nvPr>
            <p:ph idx="1"/>
          </p:nvPr>
        </p:nvSpPr>
        <p:spPr/>
        <p:txBody>
          <a:bodyPr>
            <a:normAutofit fontScale="90000"/>
          </a:bodyPr>
          <a:p>
            <a:r>
              <a:rPr lang="en-US" altLang="en-US"/>
              <a:t>SSIS Destinations are Data Flow components in SQL Server Integration Services (SSIS) that are used to store or write processed data into a target destination after extraction and transformation. The destination can be a database, flat file, Excel file, or another storage system.</a:t>
            </a:r>
            <a:endParaRPr lang="en-US" altLang="en-US"/>
          </a:p>
          <a:p>
            <a:endParaRPr lang="en-US" altLang="en-US"/>
          </a:p>
          <a:p>
            <a:r>
              <a:rPr lang="en-US" altLang="en-US"/>
              <a:t>Destinations are the final step in the ETL (Extract, Transform, Load) process, where transformed data is loaded into the desired target.</a:t>
            </a:r>
            <a:endParaRPr lang="en-US" altLang="en-US"/>
          </a:p>
          <a:p>
            <a:r>
              <a:rPr lang="en-US" altLang="en-US" b="1" u="sng"/>
              <a:t>Types of SSIS Destinations :</a:t>
            </a:r>
            <a:endParaRPr lang="en-US" altLang="en-US" b="1" u="sng"/>
          </a:p>
          <a:p>
            <a:pPr lvl="1"/>
            <a:r>
              <a:rPr lang="en-US" altLang="en-US"/>
              <a:t>ADO.NET Destination</a:t>
            </a:r>
            <a:endParaRPr lang="en-US" altLang="en-US"/>
          </a:p>
          <a:p>
            <a:pPr lvl="1"/>
            <a:r>
              <a:rPr lang="en-US" altLang="en-US"/>
              <a:t>OLE DB Destination</a:t>
            </a:r>
            <a:endParaRPr lang="en-US" altLang="en-US"/>
          </a:p>
          <a:p>
            <a:pPr lvl="1"/>
            <a:r>
              <a:rPr lang="en-US" altLang="en-US"/>
              <a:t>Flat File Destination</a:t>
            </a:r>
            <a:endParaRPr lang="en-US"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ADO.NET Destination</a:t>
            </a:r>
            <a:endParaRPr lang="en-US" altLang="en-US"/>
          </a:p>
        </p:txBody>
      </p:sp>
      <p:sp>
        <p:nvSpPr>
          <p:cNvPr id="3" name="Content Placeholder 2"/>
          <p:cNvSpPr>
            <a:spLocks noGrp="1"/>
          </p:cNvSpPr>
          <p:nvPr>
            <p:ph idx="1"/>
          </p:nvPr>
        </p:nvSpPr>
        <p:spPr/>
        <p:txBody>
          <a:bodyPr>
            <a:normAutofit fontScale="90000"/>
          </a:bodyPr>
          <a:p>
            <a:r>
              <a:rPr lang="en-US" altLang="en-US"/>
              <a:t>ADO.NET Destination is an SSIS Data Flow component used to write data into a database using an ADO.NET Connection Manager. It loads transformed data into relational databases that support ADO.NET providers.</a:t>
            </a:r>
            <a:endParaRPr lang="en-US" altLang="en-US"/>
          </a:p>
          <a:p>
            <a:r>
              <a:rPr lang="en-US" altLang="en-US"/>
              <a:t>It is commonly used when working with .NET data providers and applications.</a:t>
            </a:r>
            <a:endParaRPr lang="en-US" altLang="en-US"/>
          </a:p>
          <a:p>
            <a:r>
              <a:rPr lang="en-US" altLang="en-US"/>
              <a:t>Features :</a:t>
            </a:r>
            <a:endParaRPr lang="en-US" altLang="en-US"/>
          </a:p>
          <a:p>
            <a:pPr lvl="1"/>
            <a:r>
              <a:rPr lang="en-US" altLang="en-US"/>
              <a:t>Uses ADO.NET Connection Manager.</a:t>
            </a:r>
            <a:endParaRPr lang="en-US" altLang="en-US"/>
          </a:p>
          <a:p>
            <a:pPr lvl="1"/>
            <a:r>
              <a:rPr lang="en-US" altLang="en-US"/>
              <a:t>Inserts data into relational databases.</a:t>
            </a:r>
            <a:endParaRPr lang="en-US" altLang="en-US"/>
          </a:p>
          <a:p>
            <a:pPr lvl="1"/>
            <a:r>
              <a:rPr lang="en-US" altLang="en-US"/>
              <a:t>Supports multiple ADO.NET providers.</a:t>
            </a:r>
            <a:endParaRPr lang="en-US" altLang="en-US"/>
          </a:p>
          <a:p>
            <a:pPr lvl="1"/>
            <a:r>
              <a:rPr lang="en-US" altLang="en-US"/>
              <a:t>Allows column mapping between source and destination.</a:t>
            </a:r>
            <a:endParaRPr lang="en-US" altLang="en-US"/>
          </a:p>
          <a:p>
            <a:pPr lvl="1"/>
            <a:r>
              <a:rPr lang="en-US" altLang="en-US"/>
              <a:t>Integrates well with .NET applications.</a:t>
            </a:r>
            <a:endParaRPr lang="en-US" altLang="en-US"/>
          </a:p>
          <a:p>
            <a:pPr lvl="1"/>
            <a:r>
              <a:rPr lang="en-US" altLang="en-US"/>
              <a:t>Supports parameterized operations.</a:t>
            </a:r>
            <a:endParaRPr lang="en-US"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370205"/>
            <a:ext cx="10515600" cy="5807075"/>
          </a:xfrm>
        </p:spPr>
        <p:txBody>
          <a:bodyPr/>
          <a:p>
            <a:r>
              <a:rPr lang="en-US"/>
              <a:t>Usage :</a:t>
            </a:r>
            <a:endParaRPr lang="en-US"/>
          </a:p>
          <a:p>
            <a:pPr lvl="1"/>
            <a:r>
              <a:rPr lang="en-US" altLang="en-US"/>
              <a:t>Loading data into SQL Server databases.</a:t>
            </a:r>
            <a:endParaRPr lang="en-US" altLang="en-US"/>
          </a:p>
          <a:p>
            <a:pPr lvl="1"/>
            <a:r>
              <a:rPr lang="en-US" altLang="en-US"/>
              <a:t>Writing data to Oracle or MySQL databases.</a:t>
            </a:r>
            <a:endParaRPr lang="en-US" altLang="en-US"/>
          </a:p>
          <a:p>
            <a:pPr lvl="1"/>
            <a:r>
              <a:rPr lang="en-US" altLang="en-US"/>
              <a:t>Inserting transformed data into tables.</a:t>
            </a:r>
            <a:endParaRPr lang="en-US" altLang="en-US"/>
          </a:p>
          <a:p>
            <a:pPr lvl="1"/>
            <a:r>
              <a:rPr lang="en-US" altLang="en-US"/>
              <a:t>Integrating SSIS with .NET-based applications.</a:t>
            </a:r>
            <a:endParaRPr lang="en-US" altLang="en-US"/>
          </a:p>
          <a:p>
            <a:pPr lvl="0"/>
            <a:r>
              <a:rPr lang="en-US" altLang="en-US"/>
              <a:t>Limitations :</a:t>
            </a:r>
            <a:endParaRPr lang="en-US" altLang="en-US"/>
          </a:p>
          <a:p>
            <a:pPr lvl="1"/>
            <a:r>
              <a:rPr lang="en-US" altLang="en-US"/>
              <a:t>Requires the appropriate ADO.NET provider.</a:t>
            </a:r>
            <a:endParaRPr lang="en-US" altLang="en-US"/>
          </a:p>
          <a:p>
            <a:pPr lvl="1"/>
            <a:r>
              <a:rPr lang="en-US" altLang="en-US"/>
              <a:t>May be slower than OLE DB Destination for large data loads.</a:t>
            </a:r>
            <a:endParaRPr lang="en-US" altLang="en-US"/>
          </a:p>
          <a:p>
            <a:pPr lvl="1"/>
            <a:r>
              <a:rPr lang="en-US" altLang="en-US"/>
              <a:t>Not optimized for high-speed bulk loading.</a:t>
            </a:r>
            <a:endParaRPr lang="en-US" altLang="en-US"/>
          </a:p>
          <a:p>
            <a:pPr lvl="0"/>
            <a:r>
              <a:rPr lang="en-US" altLang="en-US"/>
              <a:t>Examples :</a:t>
            </a:r>
            <a:endParaRPr lang="en-US" altLang="en-US"/>
          </a:p>
          <a:p>
            <a:pPr lvl="1"/>
            <a:r>
              <a:rPr lang="en-US" altLang="en-US"/>
              <a:t>An SSIS package extracts customer information from an Excel file, transforms the data, and uses an ADO.NET Destination to insert the records into the Customers table of a SQL Server database.</a:t>
            </a:r>
            <a:endParaRPr lang="en-US"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OLE DB Destination</a:t>
            </a:r>
            <a:endParaRPr lang="en-US" altLang="en-US"/>
          </a:p>
        </p:txBody>
      </p:sp>
      <p:sp>
        <p:nvSpPr>
          <p:cNvPr id="3" name="Content Placeholder 2"/>
          <p:cNvSpPr>
            <a:spLocks noGrp="1"/>
          </p:cNvSpPr>
          <p:nvPr>
            <p:ph idx="1"/>
          </p:nvPr>
        </p:nvSpPr>
        <p:spPr/>
        <p:txBody>
          <a:bodyPr>
            <a:normAutofit lnSpcReduction="20000"/>
          </a:bodyPr>
          <a:p>
            <a:r>
              <a:rPr lang="en-US" altLang="en-US"/>
              <a:t>OLE DB Destination is an SSIS Data Flow component used to load data into relational databases through an OLE DB Connection Manager. It is one of the most widely used destination components because it provides high-performance data loading, including support for fast bulk insert operations.</a:t>
            </a:r>
            <a:endParaRPr lang="en-US" altLang="en-US"/>
          </a:p>
          <a:p>
            <a:r>
              <a:rPr lang="en-US" altLang="en-US"/>
              <a:t>Features :</a:t>
            </a:r>
            <a:endParaRPr lang="en-US" altLang="en-US"/>
          </a:p>
          <a:p>
            <a:pPr lvl="1"/>
            <a:r>
              <a:rPr lang="en-US" altLang="en-US"/>
              <a:t>Uses OLE DB Connection Manager.</a:t>
            </a:r>
            <a:endParaRPr lang="en-US" altLang="en-US"/>
          </a:p>
          <a:p>
            <a:pPr lvl="1"/>
            <a:r>
              <a:rPr lang="en-US" altLang="en-US"/>
              <a:t>Supports SQL Server, Oracle, Access, and other OLE DB-compatible databases.</a:t>
            </a:r>
            <a:endParaRPr lang="en-US" altLang="en-US"/>
          </a:p>
          <a:p>
            <a:pPr lvl="1"/>
            <a:r>
              <a:rPr lang="en-US" altLang="en-US"/>
              <a:t>Performs high-speed data loading.</a:t>
            </a:r>
            <a:endParaRPr lang="en-US" altLang="en-US"/>
          </a:p>
          <a:p>
            <a:pPr lvl="1"/>
            <a:r>
              <a:rPr lang="en-US" altLang="en-US"/>
              <a:t>Supports bulk insert operations.</a:t>
            </a:r>
            <a:endParaRPr lang="en-US" altLang="en-US"/>
          </a:p>
          <a:p>
            <a:pPr lvl="1"/>
            <a:r>
              <a:rPr lang="en-US" altLang="en-US"/>
              <a:t>Allows automatic column mapping.</a:t>
            </a:r>
            <a:endParaRPr lang="en-US" altLang="en-US"/>
          </a:p>
          <a:p>
            <a:pPr lvl="1"/>
            <a:r>
              <a:rPr lang="en-US" altLang="en-US"/>
              <a:t>Offers multiple data access modes.</a:t>
            </a:r>
            <a:endParaRPr lang="en-US"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216535"/>
            <a:ext cx="10515600" cy="5960745"/>
          </a:xfrm>
        </p:spPr>
        <p:txBody>
          <a:bodyPr/>
          <a:p>
            <a:r>
              <a:rPr lang="en-US" altLang="en-US"/>
              <a:t>Uses :</a:t>
            </a:r>
            <a:endParaRPr lang="en-US" altLang="en-US"/>
          </a:p>
          <a:p>
            <a:pPr lvl="1"/>
            <a:r>
              <a:rPr lang="en-US" altLang="en-US"/>
              <a:t>Loading data into SQL Server databases.</a:t>
            </a:r>
            <a:endParaRPr lang="en-US" altLang="en-US"/>
          </a:p>
          <a:p>
            <a:pPr lvl="1"/>
            <a:r>
              <a:rPr lang="en-US" altLang="en-US"/>
              <a:t>Populating data warehouses.</a:t>
            </a:r>
            <a:endParaRPr lang="en-US" altLang="en-US"/>
          </a:p>
          <a:p>
            <a:pPr lvl="1"/>
            <a:r>
              <a:rPr lang="en-US" altLang="en-US"/>
              <a:t>Bulk importing large datasets.</a:t>
            </a:r>
            <a:endParaRPr lang="en-US" altLang="en-US"/>
          </a:p>
          <a:p>
            <a:pPr lvl="1"/>
            <a:r>
              <a:rPr lang="en-US" altLang="en-US"/>
              <a:t>Loading transformed data into database tables.</a:t>
            </a:r>
            <a:endParaRPr lang="en-US" altLang="en-US"/>
          </a:p>
          <a:p>
            <a:pPr lvl="0"/>
            <a:r>
              <a:rPr lang="en-US" altLang="en-US"/>
              <a:t>Limitations :</a:t>
            </a:r>
            <a:endParaRPr lang="en-US" altLang="en-US"/>
          </a:p>
          <a:p>
            <a:pPr lvl="1"/>
            <a:r>
              <a:rPr lang="en-US" altLang="en-US"/>
              <a:t>Requires an OLE DB provider.</a:t>
            </a:r>
            <a:endParaRPr lang="en-US" altLang="en-US"/>
          </a:p>
          <a:p>
            <a:pPr lvl="1"/>
            <a:r>
              <a:rPr lang="en-US" altLang="en-US"/>
              <a:t>Limited to OLE DB-supported databases.</a:t>
            </a:r>
            <a:endParaRPr lang="en-US" altLang="en-US"/>
          </a:p>
          <a:p>
            <a:pPr lvl="1"/>
            <a:r>
              <a:rPr lang="en-US" altLang="en-US"/>
              <a:t>Provider compatibility issues may occur.</a:t>
            </a:r>
            <a:endParaRPr lang="en-US" altLang="en-US"/>
          </a:p>
          <a:p>
            <a:pPr lvl="0"/>
            <a:r>
              <a:rPr lang="en-US" altLang="en-US"/>
              <a:t>Example :</a:t>
            </a:r>
            <a:endParaRPr lang="en-US" altLang="en-US"/>
          </a:p>
          <a:p>
            <a:pPr lvl="1"/>
            <a:r>
              <a:rPr lang="en-US" altLang="en-US"/>
              <a:t>An SSIS package extracts millions of sales records, applies transformations, and loads the processed data into a Sales table in SQL Server using the OLE DB Destination with the Table or View – Fast Load option.</a:t>
            </a:r>
            <a:endParaRPr lang="en-US"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Flat File Destination</a:t>
            </a:r>
            <a:endParaRPr lang="en-US" altLang="en-US"/>
          </a:p>
        </p:txBody>
      </p:sp>
      <p:sp>
        <p:nvSpPr>
          <p:cNvPr id="3" name="Content Placeholder 2"/>
          <p:cNvSpPr>
            <a:spLocks noGrp="1"/>
          </p:cNvSpPr>
          <p:nvPr>
            <p:ph idx="1"/>
          </p:nvPr>
        </p:nvSpPr>
        <p:spPr/>
        <p:txBody>
          <a:bodyPr>
            <a:normAutofit lnSpcReduction="10000"/>
          </a:bodyPr>
          <a:p>
            <a:r>
              <a:rPr lang="en-US" altLang="en-US"/>
              <a:t>Flat File Destination is an SSIS Data Flow component used to write data to flat files, such as CSV, TXT, or fixed-width files. It works with the Flat File Connection Manager to create or update text-based output files.</a:t>
            </a:r>
            <a:endParaRPr lang="en-US" altLang="en-US"/>
          </a:p>
          <a:p>
            <a:r>
              <a:rPr lang="en-US" altLang="en-US"/>
              <a:t>Features :</a:t>
            </a:r>
            <a:endParaRPr lang="en-US" altLang="en-US"/>
          </a:p>
          <a:p>
            <a:pPr lvl="1"/>
            <a:r>
              <a:rPr lang="en-US" altLang="en-US"/>
              <a:t>Writes data to CSV, TXT, and fixed-width files.</a:t>
            </a:r>
            <a:endParaRPr lang="en-US" altLang="en-US"/>
          </a:p>
          <a:p>
            <a:pPr lvl="1"/>
            <a:r>
              <a:rPr lang="en-US" altLang="en-US"/>
              <a:t>Uses Flat File Connection Manager.</a:t>
            </a:r>
            <a:endParaRPr lang="en-US" altLang="en-US"/>
          </a:p>
          <a:p>
            <a:pPr lvl="1"/>
            <a:r>
              <a:rPr lang="en-US" altLang="en-US"/>
              <a:t>Supports delimited and fixed-width formats.</a:t>
            </a:r>
            <a:endParaRPr lang="en-US" altLang="en-US"/>
          </a:p>
          <a:p>
            <a:pPr lvl="1"/>
            <a:r>
              <a:rPr lang="en-US" altLang="en-US"/>
              <a:t>Allows custom delimiters and text qualifiers.</a:t>
            </a:r>
            <a:endParaRPr lang="en-US" altLang="en-US"/>
          </a:p>
          <a:p>
            <a:pPr lvl="1"/>
            <a:r>
              <a:rPr lang="en-US" altLang="en-US"/>
              <a:t>Supports column mapping.</a:t>
            </a:r>
            <a:endParaRPr lang="en-US" altLang="en-US"/>
          </a:p>
          <a:p>
            <a:pPr lvl="1"/>
            <a:r>
              <a:rPr lang="en-US" altLang="en-US"/>
              <a:t>Creates output files automatically.</a:t>
            </a:r>
            <a:endParaRPr lang="en-US"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380365"/>
            <a:ext cx="10515600" cy="5796915"/>
          </a:xfrm>
        </p:spPr>
        <p:txBody>
          <a:bodyPr/>
          <a:p>
            <a:r>
              <a:rPr lang="en-US"/>
              <a:t>Uses :</a:t>
            </a:r>
            <a:endParaRPr lang="en-US"/>
          </a:p>
          <a:p>
            <a:pPr lvl="1"/>
            <a:r>
              <a:rPr lang="en-US" altLang="en-US"/>
              <a:t>Exporting database records to CSV files.</a:t>
            </a:r>
            <a:endParaRPr lang="en-US" altLang="en-US"/>
          </a:p>
          <a:p>
            <a:pPr lvl="1"/>
            <a:r>
              <a:rPr lang="en-US" altLang="en-US"/>
              <a:t>Creating text reports.</a:t>
            </a:r>
            <a:endParaRPr lang="en-US" altLang="en-US"/>
          </a:p>
          <a:p>
            <a:pPr lvl="1"/>
            <a:r>
              <a:rPr lang="en-US" altLang="en-US"/>
              <a:t>Generating files for data exchange.</a:t>
            </a:r>
            <a:endParaRPr lang="en-US" altLang="en-US"/>
          </a:p>
          <a:p>
            <a:pPr lvl="1"/>
            <a:r>
              <a:rPr lang="en-US" altLang="en-US"/>
              <a:t>Producing output for external applications.</a:t>
            </a:r>
            <a:endParaRPr lang="en-US" altLang="en-US"/>
          </a:p>
          <a:p>
            <a:pPr lvl="0"/>
            <a:r>
              <a:rPr lang="en-US" altLang="en-US"/>
              <a:t>Limitations :</a:t>
            </a:r>
            <a:endParaRPr lang="en-US" altLang="en-US"/>
          </a:p>
          <a:p>
            <a:pPr lvl="1"/>
            <a:r>
              <a:rPr lang="en-US" altLang="en-US"/>
              <a:t>Stores only text-based data.</a:t>
            </a:r>
            <a:endParaRPr lang="en-US" altLang="en-US"/>
          </a:p>
          <a:p>
            <a:pPr lvl="1"/>
            <a:r>
              <a:rPr lang="en-US" altLang="en-US"/>
              <a:t>Does not support relational database features.</a:t>
            </a:r>
            <a:endParaRPr lang="en-US" altLang="en-US"/>
          </a:p>
          <a:p>
            <a:pPr lvl="1"/>
            <a:r>
              <a:rPr lang="en-US" altLang="en-US"/>
              <a:t>Large files may take longer to generate.</a:t>
            </a:r>
            <a:endParaRPr lang="en-US" altLang="en-US"/>
          </a:p>
          <a:p>
            <a:pPr lvl="1"/>
            <a:r>
              <a:rPr lang="en-US" altLang="en-US"/>
              <a:t>Data formatting must be handled carefully.</a:t>
            </a:r>
            <a:endParaRPr lang="en-US" altLang="en-US"/>
          </a:p>
          <a:p>
            <a:pPr lvl="0"/>
            <a:r>
              <a:rPr lang="en-US" altLang="en-US"/>
              <a:t>Examples :</a:t>
            </a:r>
            <a:endParaRPr lang="en-US" altLang="en-US"/>
          </a:p>
          <a:p>
            <a:pPr lvl="1"/>
            <a:r>
              <a:rPr lang="en-US" altLang="en-US"/>
              <a:t>After processing employee salary data, an SSIS package exports the final results to a Salary_Report.csv file using the Flat File Destination. The generated file is then shared with the finance department.</a:t>
            </a:r>
            <a:endParaRPr lang="en-US"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nvGraphicFramePr>
        <p:xfrm>
          <a:off x="0" y="635"/>
          <a:ext cx="12192000" cy="6857365"/>
        </p:xfrm>
        <a:graphic>
          <a:graphicData uri="http://schemas.openxmlformats.org/drawingml/2006/table">
            <a:tbl>
              <a:tblPr/>
              <a:tblGrid>
                <a:gridCol w="2382520"/>
                <a:gridCol w="3713480"/>
                <a:gridCol w="3048000"/>
                <a:gridCol w="3048000"/>
              </a:tblGrid>
              <a:tr h="623570">
                <a:tc>
                  <a:txBody>
                    <a:bodyPr/>
                    <a:p>
                      <a:pPr algn="ctr"/>
                      <a:r>
                        <a:rPr sz="1800" b="1" u="sng"/>
                        <a:t>Feature</a:t>
                      </a:r>
                      <a:endParaRPr sz="1800" b="1" u="sng"/>
                    </a:p>
                  </a:txBody>
                  <a:tcPr marL="0" marR="0" marT="0" marB="0" anchor="ctr" anchorCtr="0">
                    <a:lnL>
                      <a:noFill/>
                    </a:lnL>
                    <a:lnR>
                      <a:noFill/>
                    </a:lnR>
                    <a:lnT>
                      <a:noFill/>
                    </a:lnT>
                    <a:lnB>
                      <a:noFill/>
                    </a:lnB>
                    <a:noFill/>
                  </a:tcPr>
                </a:tc>
                <a:tc>
                  <a:txBody>
                    <a:bodyPr/>
                    <a:p>
                      <a:pPr algn="ctr"/>
                      <a:r>
                        <a:rPr sz="1800" b="1" u="sng"/>
                        <a:t>ADO.NET Destination</a:t>
                      </a:r>
                      <a:endParaRPr sz="1800" b="1" u="sng"/>
                    </a:p>
                  </a:txBody>
                  <a:tcPr marL="0" marR="0" marT="0" marB="0" anchor="ctr" anchorCtr="0">
                    <a:lnL>
                      <a:noFill/>
                    </a:lnL>
                    <a:lnR>
                      <a:noFill/>
                    </a:lnR>
                    <a:lnT>
                      <a:noFill/>
                    </a:lnT>
                    <a:lnB>
                      <a:noFill/>
                    </a:lnB>
                    <a:noFill/>
                  </a:tcPr>
                </a:tc>
                <a:tc>
                  <a:txBody>
                    <a:bodyPr/>
                    <a:p>
                      <a:pPr algn="ctr"/>
                      <a:r>
                        <a:rPr sz="1800" b="1" u="sng"/>
                        <a:t>OLE DB Destination</a:t>
                      </a:r>
                      <a:endParaRPr sz="1800" b="1" u="sng"/>
                    </a:p>
                  </a:txBody>
                  <a:tcPr marL="0" marR="0" marT="0" marB="0" anchor="ctr" anchorCtr="0">
                    <a:lnL>
                      <a:noFill/>
                    </a:lnL>
                    <a:lnR>
                      <a:noFill/>
                    </a:lnR>
                    <a:lnT>
                      <a:noFill/>
                    </a:lnT>
                    <a:lnB>
                      <a:noFill/>
                    </a:lnB>
                    <a:noFill/>
                  </a:tcPr>
                </a:tc>
                <a:tc>
                  <a:txBody>
                    <a:bodyPr/>
                    <a:p>
                      <a:pPr algn="ctr"/>
                      <a:r>
                        <a:rPr sz="1800" b="1" u="sng"/>
                        <a:t>Flat File Destination</a:t>
                      </a:r>
                      <a:endParaRPr sz="1800" b="1" u="sng"/>
                    </a:p>
                  </a:txBody>
                  <a:tcPr marL="0" marR="0" marT="0" marB="0" anchor="ctr" anchorCtr="0">
                    <a:lnL>
                      <a:noFill/>
                    </a:lnL>
                    <a:lnR>
                      <a:noFill/>
                    </a:lnR>
                    <a:lnT>
                      <a:noFill/>
                    </a:lnT>
                    <a:lnB>
                      <a:noFill/>
                    </a:lnB>
                    <a:noFill/>
                  </a:tcPr>
                </a:tc>
              </a:tr>
              <a:tr h="623570">
                <a:tc>
                  <a:txBody>
                    <a:bodyPr/>
                    <a:p>
                      <a:pPr algn="ctr"/>
                      <a:r>
                        <a:rPr sz="1600" b="1"/>
                        <a:t>Purpose</a:t>
                      </a:r>
                      <a:endParaRPr sz="1600" b="1"/>
                    </a:p>
                  </a:txBody>
                  <a:tcPr marL="0" marR="0" marT="0" marB="0" anchor="ctr" anchorCtr="0">
                    <a:lnL>
                      <a:noFill/>
                    </a:lnL>
                    <a:lnR>
                      <a:noFill/>
                    </a:lnR>
                    <a:lnT>
                      <a:noFill/>
                    </a:lnT>
                    <a:lnB>
                      <a:noFill/>
                    </a:lnB>
                    <a:noFill/>
                  </a:tcPr>
                </a:tc>
                <a:tc>
                  <a:txBody>
                    <a:bodyPr/>
                    <a:p>
                      <a:pPr algn="ctr"/>
                      <a:r>
                        <a:rPr sz="1800"/>
                        <a:t>Loads data into databases using ADO.NET</a:t>
                      </a:r>
                      <a:endParaRPr sz="1800"/>
                    </a:p>
                  </a:txBody>
                  <a:tcPr marL="0" marR="0" marT="0" marB="0" anchor="ctr" anchorCtr="0">
                    <a:lnL>
                      <a:noFill/>
                    </a:lnL>
                    <a:lnR>
                      <a:noFill/>
                    </a:lnR>
                    <a:lnT>
                      <a:noFill/>
                    </a:lnT>
                    <a:lnB>
                      <a:noFill/>
                    </a:lnB>
                    <a:noFill/>
                  </a:tcPr>
                </a:tc>
                <a:tc>
                  <a:txBody>
                    <a:bodyPr/>
                    <a:p>
                      <a:pPr algn="ctr"/>
                      <a:r>
                        <a:rPr sz="1800"/>
                        <a:t>Loads data into databases using OLE DB</a:t>
                      </a:r>
                      <a:endParaRPr sz="1800"/>
                    </a:p>
                  </a:txBody>
                  <a:tcPr marL="0" marR="0" marT="0" marB="0" anchor="ctr" anchorCtr="0">
                    <a:lnL>
                      <a:noFill/>
                    </a:lnL>
                    <a:lnR>
                      <a:noFill/>
                    </a:lnR>
                    <a:lnT>
                      <a:noFill/>
                    </a:lnT>
                    <a:lnB>
                      <a:noFill/>
                    </a:lnB>
                    <a:noFill/>
                  </a:tcPr>
                </a:tc>
                <a:tc>
                  <a:txBody>
                    <a:bodyPr/>
                    <a:p>
                      <a:pPr algn="ctr"/>
                      <a:r>
                        <a:rPr sz="1800"/>
                        <a:t>Writes data to flat files</a:t>
                      </a:r>
                      <a:endParaRPr sz="1800"/>
                    </a:p>
                  </a:txBody>
                  <a:tcPr marL="0" marR="0" marT="0" marB="0" anchor="ctr" anchorCtr="0">
                    <a:lnL>
                      <a:noFill/>
                    </a:lnL>
                    <a:lnR>
                      <a:noFill/>
                    </a:lnR>
                    <a:lnT>
                      <a:noFill/>
                    </a:lnT>
                    <a:lnB>
                      <a:noFill/>
                    </a:lnB>
                    <a:noFill/>
                  </a:tcPr>
                </a:tc>
              </a:tr>
              <a:tr h="622300">
                <a:tc>
                  <a:txBody>
                    <a:bodyPr/>
                    <a:p>
                      <a:pPr algn="ctr"/>
                      <a:r>
                        <a:rPr sz="1600" b="1"/>
                        <a:t>Connection Manager</a:t>
                      </a:r>
                      <a:endParaRPr sz="1600" b="1"/>
                    </a:p>
                  </a:txBody>
                  <a:tcPr marL="0" marR="0" marT="0" marB="0" anchor="ctr" anchorCtr="0">
                    <a:lnL>
                      <a:noFill/>
                    </a:lnL>
                    <a:lnR>
                      <a:noFill/>
                    </a:lnR>
                    <a:lnT>
                      <a:noFill/>
                    </a:lnT>
                    <a:lnB>
                      <a:noFill/>
                    </a:lnB>
                    <a:noFill/>
                  </a:tcPr>
                </a:tc>
                <a:tc>
                  <a:txBody>
                    <a:bodyPr/>
                    <a:p>
                      <a:pPr algn="ctr"/>
                      <a:r>
                        <a:rPr sz="1800"/>
                        <a:t>ADO.NET Connection Manager</a:t>
                      </a:r>
                      <a:endParaRPr sz="1800"/>
                    </a:p>
                  </a:txBody>
                  <a:tcPr marL="0" marR="0" marT="0" marB="0" anchor="ctr" anchorCtr="0">
                    <a:lnL>
                      <a:noFill/>
                    </a:lnL>
                    <a:lnR>
                      <a:noFill/>
                    </a:lnR>
                    <a:lnT>
                      <a:noFill/>
                    </a:lnT>
                    <a:lnB>
                      <a:noFill/>
                    </a:lnB>
                    <a:noFill/>
                  </a:tcPr>
                </a:tc>
                <a:tc>
                  <a:txBody>
                    <a:bodyPr/>
                    <a:p>
                      <a:pPr algn="ctr"/>
                      <a:r>
                        <a:rPr sz="1800"/>
                        <a:t>OLE DB Connection Manager</a:t>
                      </a:r>
                      <a:endParaRPr sz="1800"/>
                    </a:p>
                  </a:txBody>
                  <a:tcPr marL="0" marR="0" marT="0" marB="0" anchor="ctr" anchorCtr="0">
                    <a:lnL>
                      <a:noFill/>
                    </a:lnL>
                    <a:lnR>
                      <a:noFill/>
                    </a:lnR>
                    <a:lnT>
                      <a:noFill/>
                    </a:lnT>
                    <a:lnB>
                      <a:noFill/>
                    </a:lnB>
                    <a:noFill/>
                  </a:tcPr>
                </a:tc>
                <a:tc>
                  <a:txBody>
                    <a:bodyPr/>
                    <a:p>
                      <a:pPr algn="ctr"/>
                      <a:r>
                        <a:rPr sz="1800"/>
                        <a:t>Flat File Connection Manager</a:t>
                      </a:r>
                      <a:endParaRPr sz="1800"/>
                    </a:p>
                  </a:txBody>
                  <a:tcPr marL="0" marR="0" marT="0" marB="0" anchor="ctr" anchorCtr="0">
                    <a:lnL>
                      <a:noFill/>
                    </a:lnL>
                    <a:lnR>
                      <a:noFill/>
                    </a:lnR>
                    <a:lnT>
                      <a:noFill/>
                    </a:lnT>
                    <a:lnB>
                      <a:noFill/>
                    </a:lnB>
                    <a:noFill/>
                  </a:tcPr>
                </a:tc>
              </a:tr>
              <a:tr h="1247140">
                <a:tc>
                  <a:txBody>
                    <a:bodyPr/>
                    <a:p>
                      <a:pPr algn="ctr"/>
                      <a:r>
                        <a:rPr sz="1600" b="1"/>
                        <a:t>Target</a:t>
                      </a:r>
                      <a:endParaRPr sz="1600" b="1"/>
                    </a:p>
                  </a:txBody>
                  <a:tcPr marL="0" marR="0" marT="0" marB="0" anchor="ctr" anchorCtr="0">
                    <a:lnL>
                      <a:noFill/>
                    </a:lnL>
                    <a:lnR>
                      <a:noFill/>
                    </a:lnR>
                    <a:lnT>
                      <a:noFill/>
                    </a:lnT>
                    <a:lnB>
                      <a:noFill/>
                    </a:lnB>
                    <a:noFill/>
                  </a:tcPr>
                </a:tc>
                <a:tc>
                  <a:txBody>
                    <a:bodyPr/>
                    <a:p>
                      <a:pPr algn="ctr"/>
                      <a:r>
                        <a:rPr sz="1800"/>
                        <a:t>SQL Server, Oracle, MySQL, PostgreSQL, etc.</a:t>
                      </a:r>
                      <a:endParaRPr sz="1800"/>
                    </a:p>
                  </a:txBody>
                  <a:tcPr marL="0" marR="0" marT="0" marB="0" anchor="ctr" anchorCtr="0">
                    <a:lnL>
                      <a:noFill/>
                    </a:lnL>
                    <a:lnR>
                      <a:noFill/>
                    </a:lnR>
                    <a:lnT>
                      <a:noFill/>
                    </a:lnT>
                    <a:lnB>
                      <a:noFill/>
                    </a:lnB>
                    <a:noFill/>
                  </a:tcPr>
                </a:tc>
                <a:tc>
                  <a:txBody>
                    <a:bodyPr/>
                    <a:p>
                      <a:pPr algn="ctr"/>
                      <a:r>
                        <a:rPr sz="1800"/>
                        <a:t>SQL Server, Oracle, Access, and other OLE DB databases</a:t>
                      </a:r>
                      <a:endParaRPr sz="1800"/>
                    </a:p>
                  </a:txBody>
                  <a:tcPr marL="0" marR="0" marT="0" marB="0" anchor="ctr" anchorCtr="0">
                    <a:lnL>
                      <a:noFill/>
                    </a:lnL>
                    <a:lnR>
                      <a:noFill/>
                    </a:lnR>
                    <a:lnT>
                      <a:noFill/>
                    </a:lnT>
                    <a:lnB>
                      <a:noFill/>
                    </a:lnB>
                    <a:noFill/>
                  </a:tcPr>
                </a:tc>
                <a:tc>
                  <a:txBody>
                    <a:bodyPr/>
                    <a:p>
                      <a:pPr algn="ctr"/>
                      <a:r>
                        <a:rPr sz="1800"/>
                        <a:t>CSV, TXT, Fixed-width files</a:t>
                      </a:r>
                      <a:endParaRPr sz="1800"/>
                    </a:p>
                  </a:txBody>
                  <a:tcPr marL="0" marR="0" marT="0" marB="0" anchor="ctr" anchorCtr="0">
                    <a:lnL>
                      <a:noFill/>
                    </a:lnL>
                    <a:lnR>
                      <a:noFill/>
                    </a:lnR>
                    <a:lnT>
                      <a:noFill/>
                    </a:lnT>
                    <a:lnB>
                      <a:noFill/>
                    </a:lnB>
                    <a:noFill/>
                  </a:tcPr>
                </a:tc>
              </a:tr>
              <a:tr h="624205">
                <a:tc>
                  <a:txBody>
                    <a:bodyPr/>
                    <a:p>
                      <a:pPr algn="ctr"/>
                      <a:r>
                        <a:rPr sz="1600" b="1"/>
                        <a:t>Performance</a:t>
                      </a:r>
                      <a:endParaRPr sz="1600" b="1"/>
                    </a:p>
                  </a:txBody>
                  <a:tcPr marL="0" marR="0" marT="0" marB="0" anchor="ctr" anchorCtr="0">
                    <a:lnL>
                      <a:noFill/>
                    </a:lnL>
                    <a:lnR>
                      <a:noFill/>
                    </a:lnR>
                    <a:lnT>
                      <a:noFill/>
                    </a:lnT>
                    <a:lnB>
                      <a:noFill/>
                    </a:lnB>
                    <a:noFill/>
                  </a:tcPr>
                </a:tc>
                <a:tc>
                  <a:txBody>
                    <a:bodyPr/>
                    <a:p>
                      <a:pPr algn="ctr"/>
                      <a:r>
                        <a:rPr sz="1800"/>
                        <a:t>Good</a:t>
                      </a:r>
                      <a:endParaRPr sz="1800"/>
                    </a:p>
                  </a:txBody>
                  <a:tcPr marL="0" marR="0" marT="0" marB="0" anchor="ctr" anchorCtr="0">
                    <a:lnL>
                      <a:noFill/>
                    </a:lnL>
                    <a:lnR>
                      <a:noFill/>
                    </a:lnR>
                    <a:lnT>
                      <a:noFill/>
                    </a:lnT>
                    <a:lnB>
                      <a:noFill/>
                    </a:lnB>
                    <a:noFill/>
                  </a:tcPr>
                </a:tc>
                <a:tc>
                  <a:txBody>
                    <a:bodyPr/>
                    <a:p>
                      <a:pPr algn="ctr"/>
                      <a:r>
                        <a:rPr sz="1800"/>
                        <a:t>Very High</a:t>
                      </a:r>
                      <a:endParaRPr sz="1800"/>
                    </a:p>
                  </a:txBody>
                  <a:tcPr marL="0" marR="0" marT="0" marB="0" anchor="ctr" anchorCtr="0">
                    <a:lnL>
                      <a:noFill/>
                    </a:lnL>
                    <a:lnR>
                      <a:noFill/>
                    </a:lnR>
                    <a:lnT>
                      <a:noFill/>
                    </a:lnT>
                    <a:lnB>
                      <a:noFill/>
                    </a:lnB>
                    <a:noFill/>
                  </a:tcPr>
                </a:tc>
                <a:tc>
                  <a:txBody>
                    <a:bodyPr/>
                    <a:p>
                      <a:pPr algn="ctr"/>
                      <a:r>
                        <a:rPr sz="1800"/>
                        <a:t>Moderate</a:t>
                      </a:r>
                      <a:endParaRPr sz="1800"/>
                    </a:p>
                  </a:txBody>
                  <a:tcPr marL="0" marR="0" marT="0" marB="0" anchor="ctr" anchorCtr="0">
                    <a:lnL>
                      <a:noFill/>
                    </a:lnL>
                    <a:lnR>
                      <a:noFill/>
                    </a:lnR>
                    <a:lnT>
                      <a:noFill/>
                    </a:lnT>
                    <a:lnB>
                      <a:noFill/>
                    </a:lnB>
                    <a:noFill/>
                  </a:tcPr>
                </a:tc>
              </a:tr>
              <a:tr h="623570">
                <a:tc>
                  <a:txBody>
                    <a:bodyPr/>
                    <a:p>
                      <a:pPr algn="ctr"/>
                      <a:r>
                        <a:rPr sz="1600" b="1"/>
                        <a:t>Bulk Loading Support</a:t>
                      </a:r>
                      <a:endParaRPr sz="1600" b="1"/>
                    </a:p>
                  </a:txBody>
                  <a:tcPr marL="0" marR="0" marT="0" marB="0" anchor="ctr" anchorCtr="0">
                    <a:lnL>
                      <a:noFill/>
                    </a:lnL>
                    <a:lnR>
                      <a:noFill/>
                    </a:lnR>
                    <a:lnT>
                      <a:noFill/>
                    </a:lnT>
                    <a:lnB>
                      <a:noFill/>
                    </a:lnB>
                    <a:noFill/>
                  </a:tcPr>
                </a:tc>
                <a:tc>
                  <a:txBody>
                    <a:bodyPr/>
                    <a:p>
                      <a:pPr algn="ctr"/>
                      <a:r>
                        <a:rPr sz="1800"/>
                        <a:t>Limited</a:t>
                      </a:r>
                      <a:endParaRPr sz="1800"/>
                    </a:p>
                  </a:txBody>
                  <a:tcPr marL="0" marR="0" marT="0" marB="0" anchor="ctr" anchorCtr="0">
                    <a:lnL>
                      <a:noFill/>
                    </a:lnL>
                    <a:lnR>
                      <a:noFill/>
                    </a:lnR>
                    <a:lnT>
                      <a:noFill/>
                    </a:lnT>
                    <a:lnB>
                      <a:noFill/>
                    </a:lnB>
                    <a:noFill/>
                  </a:tcPr>
                </a:tc>
                <a:tc>
                  <a:txBody>
                    <a:bodyPr/>
                    <a:p>
                      <a:pPr algn="ctr"/>
                      <a:r>
                        <a:rPr sz="1800"/>
                        <a:t>Yes (Fast Load)</a:t>
                      </a:r>
                      <a:endParaRPr sz="1800"/>
                    </a:p>
                  </a:txBody>
                  <a:tcPr marL="0" marR="0" marT="0" marB="0" anchor="ctr" anchorCtr="0">
                    <a:lnL>
                      <a:noFill/>
                    </a:lnL>
                    <a:lnR>
                      <a:noFill/>
                    </a:lnR>
                    <a:lnT>
                      <a:noFill/>
                    </a:lnT>
                    <a:lnB>
                      <a:noFill/>
                    </a:lnB>
                    <a:noFill/>
                  </a:tcPr>
                </a:tc>
                <a:tc>
                  <a:txBody>
                    <a:bodyPr/>
                    <a:p>
                      <a:pPr algn="ctr"/>
                      <a:r>
                        <a:rPr sz="1800"/>
                        <a:t>No</a:t>
                      </a:r>
                      <a:endParaRPr sz="1800"/>
                    </a:p>
                  </a:txBody>
                  <a:tcPr marL="0" marR="0" marT="0" marB="0" anchor="ctr" anchorCtr="0">
                    <a:lnL>
                      <a:noFill/>
                    </a:lnL>
                    <a:lnR>
                      <a:noFill/>
                    </a:lnR>
                    <a:lnT>
                      <a:noFill/>
                    </a:lnT>
                    <a:lnB>
                      <a:noFill/>
                    </a:lnB>
                    <a:noFill/>
                  </a:tcPr>
                </a:tc>
              </a:tr>
              <a:tr h="623570">
                <a:tc>
                  <a:txBody>
                    <a:bodyPr/>
                    <a:p>
                      <a:pPr algn="ctr"/>
                      <a:r>
                        <a:rPr sz="1600" b="1"/>
                        <a:t>Data Format</a:t>
                      </a:r>
                      <a:endParaRPr sz="1600" b="1"/>
                    </a:p>
                  </a:txBody>
                  <a:tcPr marL="0" marR="0" marT="0" marB="0" anchor="ctr" anchorCtr="0">
                    <a:lnL>
                      <a:noFill/>
                    </a:lnL>
                    <a:lnR>
                      <a:noFill/>
                    </a:lnR>
                    <a:lnT>
                      <a:noFill/>
                    </a:lnT>
                    <a:lnB>
                      <a:noFill/>
                    </a:lnB>
                    <a:noFill/>
                  </a:tcPr>
                </a:tc>
                <a:tc>
                  <a:txBody>
                    <a:bodyPr/>
                    <a:p>
                      <a:pPr algn="ctr"/>
                      <a:r>
                        <a:rPr sz="1800"/>
                        <a:t>Relational tables</a:t>
                      </a:r>
                      <a:endParaRPr sz="1800"/>
                    </a:p>
                  </a:txBody>
                  <a:tcPr marL="0" marR="0" marT="0" marB="0" anchor="ctr" anchorCtr="0">
                    <a:lnL>
                      <a:noFill/>
                    </a:lnL>
                    <a:lnR>
                      <a:noFill/>
                    </a:lnR>
                    <a:lnT>
                      <a:noFill/>
                    </a:lnT>
                    <a:lnB>
                      <a:noFill/>
                    </a:lnB>
                    <a:noFill/>
                  </a:tcPr>
                </a:tc>
                <a:tc>
                  <a:txBody>
                    <a:bodyPr/>
                    <a:p>
                      <a:pPr algn="ctr"/>
                      <a:r>
                        <a:rPr sz="1800"/>
                        <a:t>Relational tables</a:t>
                      </a:r>
                      <a:endParaRPr sz="1800"/>
                    </a:p>
                  </a:txBody>
                  <a:tcPr marL="0" marR="0" marT="0" marB="0" anchor="ctr" anchorCtr="0">
                    <a:lnL>
                      <a:noFill/>
                    </a:lnL>
                    <a:lnR>
                      <a:noFill/>
                    </a:lnR>
                    <a:lnT>
                      <a:noFill/>
                    </a:lnT>
                    <a:lnB>
                      <a:noFill/>
                    </a:lnB>
                    <a:noFill/>
                  </a:tcPr>
                </a:tc>
                <a:tc>
                  <a:txBody>
                    <a:bodyPr/>
                    <a:p>
                      <a:pPr algn="ctr"/>
                      <a:r>
                        <a:rPr sz="1800"/>
                        <a:t>Text files</a:t>
                      </a:r>
                      <a:endParaRPr sz="1800"/>
                    </a:p>
                  </a:txBody>
                  <a:tcPr marL="0" marR="0" marT="0" marB="0" anchor="ctr" anchorCtr="0">
                    <a:lnL>
                      <a:noFill/>
                    </a:lnL>
                    <a:lnR>
                      <a:noFill/>
                    </a:lnR>
                    <a:lnT>
                      <a:noFill/>
                    </a:lnT>
                    <a:lnB>
                      <a:noFill/>
                    </a:lnB>
                    <a:noFill/>
                  </a:tcPr>
                </a:tc>
              </a:tr>
              <a:tr h="622300">
                <a:tc>
                  <a:txBody>
                    <a:bodyPr/>
                    <a:p>
                      <a:pPr algn="ctr"/>
                      <a:r>
                        <a:rPr sz="1600" b="1"/>
                        <a:t>Common Use</a:t>
                      </a:r>
                      <a:endParaRPr sz="1600" b="1"/>
                    </a:p>
                  </a:txBody>
                  <a:tcPr marL="0" marR="0" marT="0" marB="0" anchor="ctr" anchorCtr="0">
                    <a:lnL>
                      <a:noFill/>
                    </a:lnL>
                    <a:lnR>
                      <a:noFill/>
                    </a:lnR>
                    <a:lnT>
                      <a:noFill/>
                    </a:lnT>
                    <a:lnB>
                      <a:noFill/>
                    </a:lnB>
                    <a:noFill/>
                  </a:tcPr>
                </a:tc>
                <a:tc>
                  <a:txBody>
                    <a:bodyPr/>
                    <a:p>
                      <a:pPr algn="ctr"/>
                      <a:r>
                        <a:rPr sz="1800"/>
                        <a:t>.NET database applications</a:t>
                      </a:r>
                      <a:endParaRPr sz="1800"/>
                    </a:p>
                  </a:txBody>
                  <a:tcPr marL="0" marR="0" marT="0" marB="0" anchor="ctr" anchorCtr="0">
                    <a:lnL>
                      <a:noFill/>
                    </a:lnL>
                    <a:lnR>
                      <a:noFill/>
                    </a:lnR>
                    <a:lnT>
                      <a:noFill/>
                    </a:lnT>
                    <a:lnB>
                      <a:noFill/>
                    </a:lnB>
                    <a:noFill/>
                  </a:tcPr>
                </a:tc>
                <a:tc>
                  <a:txBody>
                    <a:bodyPr/>
                    <a:p>
                      <a:pPr algn="ctr"/>
                      <a:r>
                        <a:rPr sz="1800"/>
                        <a:t>Large ETL and data warehouse loading</a:t>
                      </a:r>
                      <a:endParaRPr sz="1800"/>
                    </a:p>
                  </a:txBody>
                  <a:tcPr marL="0" marR="0" marT="0" marB="0" anchor="ctr" anchorCtr="0">
                    <a:lnL>
                      <a:noFill/>
                    </a:lnL>
                    <a:lnR>
                      <a:noFill/>
                    </a:lnR>
                    <a:lnT>
                      <a:noFill/>
                    </a:lnT>
                    <a:lnB>
                      <a:noFill/>
                    </a:lnB>
                    <a:noFill/>
                  </a:tcPr>
                </a:tc>
                <a:tc>
                  <a:txBody>
                    <a:bodyPr/>
                    <a:p>
                      <a:pPr algn="ctr"/>
                      <a:r>
                        <a:rPr sz="1800"/>
                        <a:t>Exporting reports and text files</a:t>
                      </a:r>
                      <a:endParaRPr sz="1800"/>
                    </a:p>
                  </a:txBody>
                  <a:tcPr marL="0" marR="0" marT="0" marB="0" anchor="ctr" anchorCtr="0">
                    <a:lnL>
                      <a:noFill/>
                    </a:lnL>
                    <a:lnR>
                      <a:noFill/>
                    </a:lnR>
                    <a:lnT>
                      <a:noFill/>
                    </a:lnT>
                    <a:lnB>
                      <a:noFill/>
                    </a:lnB>
                    <a:noFill/>
                  </a:tcPr>
                </a:tc>
              </a:tr>
              <a:tr h="623570">
                <a:tc>
                  <a:txBody>
                    <a:bodyPr/>
                    <a:p>
                      <a:pPr algn="ctr"/>
                      <a:r>
                        <a:rPr sz="1600" b="1"/>
                        <a:t>Supports Column Mapping</a:t>
                      </a:r>
                      <a:endParaRPr sz="1600" b="1"/>
                    </a:p>
                  </a:txBody>
                  <a:tcPr marL="0" marR="0" marT="0" marB="0" anchor="ctr" anchorCtr="0">
                    <a:lnL>
                      <a:noFill/>
                    </a:lnL>
                    <a:lnR>
                      <a:noFill/>
                    </a:lnR>
                    <a:lnT>
                      <a:noFill/>
                    </a:lnT>
                    <a:lnB>
                      <a:noFill/>
                    </a:lnB>
                    <a:noFill/>
                  </a:tcPr>
                </a:tc>
                <a:tc>
                  <a:txBody>
                    <a:bodyPr/>
                    <a:p>
                      <a:pPr algn="ctr"/>
                      <a:r>
                        <a:rPr sz="1800"/>
                        <a:t>Yes</a:t>
                      </a:r>
                      <a:endParaRPr sz="1800"/>
                    </a:p>
                  </a:txBody>
                  <a:tcPr marL="0" marR="0" marT="0" marB="0" anchor="ctr" anchorCtr="0">
                    <a:lnL>
                      <a:noFill/>
                    </a:lnL>
                    <a:lnR>
                      <a:noFill/>
                    </a:lnR>
                    <a:lnT>
                      <a:noFill/>
                    </a:lnT>
                    <a:lnB>
                      <a:noFill/>
                    </a:lnB>
                    <a:noFill/>
                  </a:tcPr>
                </a:tc>
                <a:tc>
                  <a:txBody>
                    <a:bodyPr/>
                    <a:p>
                      <a:pPr algn="ctr"/>
                      <a:r>
                        <a:rPr sz="1800"/>
                        <a:t>Yes</a:t>
                      </a:r>
                      <a:endParaRPr sz="1800"/>
                    </a:p>
                  </a:txBody>
                  <a:tcPr marL="0" marR="0" marT="0" marB="0" anchor="ctr" anchorCtr="0">
                    <a:lnL>
                      <a:noFill/>
                    </a:lnL>
                    <a:lnR>
                      <a:noFill/>
                    </a:lnR>
                    <a:lnT>
                      <a:noFill/>
                    </a:lnT>
                    <a:lnB>
                      <a:noFill/>
                    </a:lnB>
                    <a:noFill/>
                  </a:tcPr>
                </a:tc>
                <a:tc>
                  <a:txBody>
                    <a:bodyPr/>
                    <a:p>
                      <a:pPr algn="ctr"/>
                      <a:r>
                        <a:rPr sz="1800"/>
                        <a:t>Yes</a:t>
                      </a:r>
                      <a:endParaRPr sz="1800"/>
                    </a:p>
                  </a:txBody>
                  <a:tcPr marL="0" marR="0" marT="0" marB="0" anchor="ctr" anchorCtr="0">
                    <a:lnL>
                      <a:noFill/>
                    </a:lnL>
                    <a:lnR>
                      <a:noFill/>
                    </a:lnR>
                    <a:lnT>
                      <a:noFill/>
                    </a:lnT>
                    <a:lnB>
                      <a:noFill/>
                    </a:lnB>
                    <a:noFill/>
                  </a:tcPr>
                </a:tc>
              </a:tr>
              <a:tr h="623570">
                <a:tc>
                  <a:txBody>
                    <a:bodyPr/>
                    <a:p>
                      <a:pPr algn="ctr"/>
                      <a:r>
                        <a:rPr sz="1600" b="1"/>
                        <a:t>Best For</a:t>
                      </a:r>
                      <a:endParaRPr sz="1600" b="1"/>
                    </a:p>
                  </a:txBody>
                  <a:tcPr marL="0" marR="0" marT="0" marB="0" anchor="ctr" anchorCtr="0">
                    <a:lnL>
                      <a:noFill/>
                    </a:lnL>
                    <a:lnR>
                      <a:noFill/>
                    </a:lnR>
                    <a:lnT>
                      <a:noFill/>
                    </a:lnT>
                    <a:lnB>
                      <a:noFill/>
                    </a:lnB>
                    <a:noFill/>
                  </a:tcPr>
                </a:tc>
                <a:tc>
                  <a:txBody>
                    <a:bodyPr/>
                    <a:p>
                      <a:pPr algn="ctr"/>
                      <a:r>
                        <a:rPr sz="1800"/>
                        <a:t>General database loading using ADO.NET</a:t>
                      </a:r>
                      <a:endParaRPr sz="1800"/>
                    </a:p>
                  </a:txBody>
                  <a:tcPr marL="0" marR="0" marT="0" marB="0" anchor="ctr" anchorCtr="0">
                    <a:lnL>
                      <a:noFill/>
                    </a:lnL>
                    <a:lnR>
                      <a:noFill/>
                    </a:lnR>
                    <a:lnT>
                      <a:noFill/>
                    </a:lnT>
                    <a:lnB>
                      <a:noFill/>
                    </a:lnB>
                    <a:noFill/>
                  </a:tcPr>
                </a:tc>
                <a:tc>
                  <a:txBody>
                    <a:bodyPr/>
                    <a:p>
                      <a:pPr algn="ctr"/>
                      <a:r>
                        <a:rPr sz="1800"/>
                        <a:t>High-speed loading of large datasets</a:t>
                      </a:r>
                      <a:endParaRPr sz="1800"/>
                    </a:p>
                  </a:txBody>
                  <a:tcPr marL="0" marR="0" marT="0" marB="0" anchor="ctr" anchorCtr="0">
                    <a:lnL>
                      <a:noFill/>
                    </a:lnL>
                    <a:lnR>
                      <a:noFill/>
                    </a:lnR>
                    <a:lnT>
                      <a:noFill/>
                    </a:lnT>
                    <a:lnB>
                      <a:noFill/>
                    </a:lnB>
                    <a:noFill/>
                  </a:tcPr>
                </a:tc>
                <a:tc>
                  <a:txBody>
                    <a:bodyPr/>
                    <a:p>
                      <a:pPr algn="ctr"/>
                      <a:r>
                        <a:rPr sz="1800"/>
                        <a:t>Exporting data to text-based files</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p>
            <a:r>
              <a:rPr lang="en-US"/>
              <a:t>Enumerator</a:t>
            </a:r>
            <a:endParaRPr lang="en-US"/>
          </a:p>
        </p:txBody>
      </p:sp>
      <p:sp>
        <p:nvSpPr>
          <p:cNvPr id="5" name="Subtitle 4"/>
          <p:cNvSpPr>
            <a:spLocks noGrp="1"/>
          </p:cNvSpPr>
          <p:nvPr>
            <p:ph type="subTitle" idx="1"/>
          </p:nvPr>
        </p:nvSpPr>
        <p:spPr/>
        <p:txBody>
          <a:bodyPr>
            <a:normAutofit lnSpcReduction="20000"/>
          </a:bodyPr>
          <a:p>
            <a:r>
              <a:rPr lang="en-US"/>
              <a:t>File Enum.</a:t>
            </a:r>
            <a:endParaRPr lang="en-US"/>
          </a:p>
          <a:p>
            <a:r>
              <a:rPr lang="en-US"/>
              <a:t>NodeList Enum.</a:t>
            </a:r>
            <a:endParaRPr lang="en-US"/>
          </a:p>
          <a:p>
            <a:r>
              <a:rPr lang="en-US"/>
              <a:t>SMO Enum.</a:t>
            </a:r>
            <a:endParaRPr lang="en-US"/>
          </a:p>
          <a:p>
            <a:r>
              <a:rPr lang="en-US"/>
              <a:t>Variable Enum.</a:t>
            </a:r>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What are Enumerators ?</a:t>
            </a:r>
            <a:endParaRPr lang="en-US"/>
          </a:p>
        </p:txBody>
      </p:sp>
      <p:sp>
        <p:nvSpPr>
          <p:cNvPr id="3" name="Content Placeholder 2"/>
          <p:cNvSpPr>
            <a:spLocks noGrp="1"/>
          </p:cNvSpPr>
          <p:nvPr>
            <p:ph idx="1"/>
          </p:nvPr>
        </p:nvSpPr>
        <p:spPr/>
        <p:txBody>
          <a:bodyPr>
            <a:normAutofit fontScale="90000"/>
          </a:bodyPr>
          <a:p>
            <a:r>
              <a:rPr lang="en-US" altLang="en-US"/>
              <a:t>An Enumerator in SQL Server Integration Services (SSIS) is a component used inside the Foreach Loop Container to iterate through a collection of objects. During each iteration, the enumerator retrieves one item from the collection and assigns it to an SSIS variable for processing.</a:t>
            </a:r>
            <a:endParaRPr lang="en-US" altLang="en-US"/>
          </a:p>
          <a:p>
            <a:r>
              <a:rPr lang="en-US" altLang="en-US"/>
              <a:t>Enumerators are commonly used to process files, XML nodes, SQL Server objects, variables, and recordsets.</a:t>
            </a:r>
            <a:endParaRPr lang="en-US" altLang="en-US"/>
          </a:p>
          <a:p>
            <a:r>
              <a:rPr lang="en-US" altLang="en-US"/>
              <a:t>Types of Enumerators</a:t>
            </a:r>
            <a:endParaRPr lang="en-US" altLang="en-US"/>
          </a:p>
          <a:p>
            <a:pPr lvl="1"/>
            <a:r>
              <a:rPr lang="en-US" altLang="en-US"/>
              <a:t>File Enumerator</a:t>
            </a:r>
            <a:endParaRPr lang="en-US" altLang="en-US"/>
          </a:p>
          <a:p>
            <a:pPr lvl="1"/>
            <a:r>
              <a:rPr lang="en-US" altLang="en-US"/>
              <a:t>NodeList Enumerator</a:t>
            </a:r>
            <a:endParaRPr lang="en-US" altLang="en-US"/>
          </a:p>
          <a:p>
            <a:pPr lvl="1"/>
            <a:r>
              <a:rPr lang="en-US" altLang="en-US"/>
              <a:t>SMO Enumerator</a:t>
            </a:r>
            <a:endParaRPr lang="en-US" altLang="en-US"/>
          </a:p>
          <a:p>
            <a:pPr lvl="1"/>
            <a:r>
              <a:rPr lang="en-US" altLang="en-US"/>
              <a:t>Variable Enumerator</a:t>
            </a:r>
            <a:endParaRPr lang="en-US"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 File Enumerator</a:t>
            </a:r>
            <a:endParaRPr lang="en-US"/>
          </a:p>
        </p:txBody>
      </p:sp>
      <p:sp>
        <p:nvSpPr>
          <p:cNvPr id="3" name="Content Placeholder 2"/>
          <p:cNvSpPr>
            <a:spLocks noGrp="1"/>
          </p:cNvSpPr>
          <p:nvPr>
            <p:ph idx="1"/>
          </p:nvPr>
        </p:nvSpPr>
        <p:spPr/>
        <p:txBody>
          <a:bodyPr/>
          <a:p>
            <a:r>
              <a:rPr lang="en-US" altLang="en-US"/>
              <a:t>The File Enumerator is used to iterate through files stored in a folder. During each iteration, it returns one file name or file path, which can then be processed by SSIS tasks.</a:t>
            </a:r>
            <a:endParaRPr lang="en-US" altLang="en-US"/>
          </a:p>
          <a:p>
            <a:r>
              <a:rPr lang="en-US" altLang="en-US"/>
              <a:t>It is the most commonly used enumerator in SSIS.</a:t>
            </a:r>
            <a:endParaRPr lang="en-US" altLang="en-US"/>
          </a:p>
          <a:p>
            <a:r>
              <a:rPr lang="en-US" altLang="en-US"/>
              <a:t>Features :</a:t>
            </a:r>
            <a:endParaRPr lang="en-US" altLang="en-US"/>
          </a:p>
          <a:p>
            <a:pPr lvl="1"/>
            <a:r>
              <a:rPr lang="en-US" altLang="en-US"/>
              <a:t>Iterates through files in a directory.</a:t>
            </a:r>
            <a:endParaRPr lang="en-US" altLang="en-US"/>
          </a:p>
          <a:p>
            <a:pPr lvl="1"/>
            <a:r>
              <a:rPr lang="en-US" altLang="en-US"/>
              <a:t>Supports wildcards such as *.csv, *.txt, and *.xml.</a:t>
            </a:r>
            <a:endParaRPr lang="en-US" altLang="en-US"/>
          </a:p>
          <a:p>
            <a:pPr lvl="1"/>
            <a:r>
              <a:rPr lang="en-US" altLang="en-US"/>
              <a:t>Can retrieve either the file name or the complete file path.</a:t>
            </a:r>
            <a:endParaRPr lang="en-US" altLang="en-US"/>
          </a:p>
          <a:p>
            <a:pPr lvl="1"/>
            <a:r>
              <a:rPr lang="en-US" altLang="en-US"/>
              <a:t>Supports recursive search in subfolders.</a:t>
            </a:r>
            <a:endParaRPr lang="en-US" altLang="en-US"/>
          </a:p>
          <a:p>
            <a:pPr lvl="1"/>
            <a:r>
              <a:rPr lang="en-US" altLang="en-US"/>
              <a:t>Stores the current file name in an SSIS variable.</a:t>
            </a:r>
            <a:endParaRPr lang="en-US"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2. </a:t>
            </a:r>
            <a:r>
              <a:rPr lang="en-US" altLang="en-US"/>
              <a:t>NodeList Enumerator</a:t>
            </a:r>
            <a:endParaRPr lang="en-US" altLang="en-US"/>
          </a:p>
        </p:txBody>
      </p:sp>
      <p:sp>
        <p:nvSpPr>
          <p:cNvPr id="3" name="Content Placeholder 2"/>
          <p:cNvSpPr>
            <a:spLocks noGrp="1"/>
          </p:cNvSpPr>
          <p:nvPr>
            <p:ph idx="1"/>
          </p:nvPr>
        </p:nvSpPr>
        <p:spPr/>
        <p:txBody>
          <a:bodyPr/>
          <a:p>
            <a:r>
              <a:rPr lang="en-US" altLang="en-US"/>
              <a:t>The NodeList Enumerator is used to iterate through the nodes of an XML document. It processes one XML node at a time using an XPath expression.</a:t>
            </a:r>
            <a:endParaRPr lang="en-US" altLang="en-US"/>
          </a:p>
          <a:p>
            <a:r>
              <a:rPr lang="en-US" altLang="en-US"/>
              <a:t>Features :</a:t>
            </a:r>
            <a:endParaRPr lang="en-US" altLang="en-US"/>
          </a:p>
          <a:p>
            <a:pPr lvl="1"/>
            <a:r>
              <a:rPr lang="en-US" altLang="en-US"/>
              <a:t>Iterates through XML nodes.</a:t>
            </a:r>
            <a:endParaRPr lang="en-US" altLang="en-US"/>
          </a:p>
          <a:p>
            <a:pPr lvl="1"/>
            <a:r>
              <a:rPr lang="en-US" altLang="en-US"/>
              <a:t>Supports XPath expressions.</a:t>
            </a:r>
            <a:endParaRPr lang="en-US" altLang="en-US"/>
          </a:p>
          <a:p>
            <a:pPr lvl="1"/>
            <a:r>
              <a:rPr lang="en-US" altLang="en-US"/>
              <a:t>Reads one XML element per iteration.</a:t>
            </a:r>
            <a:endParaRPr lang="en-US" altLang="en-US"/>
          </a:p>
          <a:p>
            <a:pPr lvl="1"/>
            <a:r>
              <a:rPr lang="en-US" altLang="en-US"/>
              <a:t>Stores node values in SSIS variables.</a:t>
            </a:r>
            <a:endParaRPr lang="en-US" altLang="en-US"/>
          </a:p>
          <a:p>
            <a:pPr lvl="1"/>
            <a:r>
              <a:rPr lang="en-US" altLang="en-US"/>
              <a:t>Useful for XML data processing.</a:t>
            </a:r>
            <a:endParaRPr lang="en-US"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3. </a:t>
            </a:r>
            <a:r>
              <a:rPr lang="en-US" altLang="en-US"/>
              <a:t>SMO Enumerator</a:t>
            </a:r>
            <a:endParaRPr lang="en-US" altLang="en-US"/>
          </a:p>
        </p:txBody>
      </p:sp>
      <p:sp>
        <p:nvSpPr>
          <p:cNvPr id="3" name="Content Placeholder 2"/>
          <p:cNvSpPr>
            <a:spLocks noGrp="1"/>
          </p:cNvSpPr>
          <p:nvPr>
            <p:ph idx="1"/>
          </p:nvPr>
        </p:nvSpPr>
        <p:spPr/>
        <p:txBody>
          <a:bodyPr>
            <a:normAutofit lnSpcReduction="10000"/>
          </a:bodyPr>
          <a:p>
            <a:r>
              <a:rPr lang="en-US" altLang="en-US"/>
              <a:t>The SMO (SQL Server Management Objects) Enumerator is used to iterate through SQL Server objects such as databases, tables, views, stored procedures, and logins.</a:t>
            </a:r>
            <a:endParaRPr lang="en-US" altLang="en-US"/>
          </a:p>
          <a:p>
            <a:r>
              <a:rPr lang="en-US" altLang="en-US"/>
              <a:t>It works with SQL Server Management Objects (SMO) to automate SQL Server administrative tasks.</a:t>
            </a:r>
            <a:endParaRPr lang="en-US" altLang="en-US"/>
          </a:p>
          <a:p>
            <a:r>
              <a:rPr lang="en-US" altLang="en-US"/>
              <a:t>Features :</a:t>
            </a:r>
            <a:endParaRPr lang="en-US" altLang="en-US"/>
          </a:p>
          <a:p>
            <a:pPr lvl="1"/>
            <a:r>
              <a:rPr lang="en-US" altLang="en-US"/>
              <a:t>Iterates through SQL Server objects.</a:t>
            </a:r>
            <a:endParaRPr lang="en-US" altLang="en-US"/>
          </a:p>
          <a:p>
            <a:pPr lvl="1"/>
            <a:r>
              <a:rPr lang="en-US" altLang="en-US"/>
              <a:t>Supports databases, tables, views, and stored procedures.</a:t>
            </a:r>
            <a:endParaRPr lang="en-US" altLang="en-US"/>
          </a:p>
          <a:p>
            <a:pPr lvl="1"/>
            <a:r>
              <a:rPr lang="en-US" altLang="en-US"/>
              <a:t>Works with SQL Server instances.</a:t>
            </a:r>
            <a:endParaRPr lang="en-US" altLang="en-US"/>
          </a:p>
          <a:p>
            <a:pPr lvl="1"/>
            <a:r>
              <a:rPr lang="en-US" altLang="en-US"/>
              <a:t>Stores object names in SSIS variables.</a:t>
            </a:r>
            <a:endParaRPr lang="en-US" altLang="en-US"/>
          </a:p>
          <a:p>
            <a:pPr lvl="1"/>
            <a:r>
              <a:rPr lang="en-US" altLang="en-US"/>
              <a:t>Useful for SQL Server administration.</a:t>
            </a:r>
            <a:endParaRPr lang="en-US"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4. </a:t>
            </a:r>
            <a:r>
              <a:rPr lang="en-US" altLang="en-US"/>
              <a:t>Variable Enumerator</a:t>
            </a:r>
            <a:endParaRPr lang="en-US" altLang="en-US"/>
          </a:p>
        </p:txBody>
      </p:sp>
      <p:sp>
        <p:nvSpPr>
          <p:cNvPr id="3" name="Content Placeholder 2"/>
          <p:cNvSpPr>
            <a:spLocks noGrp="1"/>
          </p:cNvSpPr>
          <p:nvPr>
            <p:ph idx="1"/>
          </p:nvPr>
        </p:nvSpPr>
        <p:spPr/>
        <p:txBody>
          <a:bodyPr/>
          <a:p>
            <a:r>
              <a:rPr lang="en-US" altLang="en-US"/>
              <a:t>The Variable Enumerator is used to iterate through the elements stored in an SSIS Object variable. The variable usually contains a collection such as an array, list, or recordset, and the enumerator processes one item at a time.</a:t>
            </a:r>
            <a:endParaRPr lang="en-US" altLang="en-US"/>
          </a:p>
          <a:p>
            <a:r>
              <a:rPr lang="en-US" altLang="en-US"/>
              <a:t>Features :</a:t>
            </a:r>
            <a:endParaRPr lang="en-US" altLang="en-US"/>
          </a:p>
          <a:p>
            <a:pPr lvl="1"/>
            <a:r>
              <a:rPr lang="en-US" altLang="en-US"/>
              <a:t>Iterates through collections stored in variables.</a:t>
            </a:r>
            <a:endParaRPr lang="en-US" altLang="en-US"/>
          </a:p>
          <a:p>
            <a:pPr lvl="1"/>
            <a:r>
              <a:rPr lang="en-US" altLang="en-US"/>
              <a:t>Works with Object-type variables.</a:t>
            </a:r>
            <a:endParaRPr lang="en-US" altLang="en-US"/>
          </a:p>
          <a:p>
            <a:pPr lvl="1"/>
            <a:r>
              <a:rPr lang="en-US" altLang="en-US"/>
              <a:t>Processes one element during each iteration.</a:t>
            </a:r>
            <a:endParaRPr lang="en-US" altLang="en-US"/>
          </a:p>
          <a:p>
            <a:pPr lvl="1"/>
            <a:r>
              <a:rPr lang="en-US" altLang="en-US"/>
              <a:t>Stores the current value in another SSIS variable.</a:t>
            </a:r>
            <a:endParaRPr lang="en-US" altLang="en-US"/>
          </a:p>
          <a:p>
            <a:pPr lvl="1"/>
            <a:r>
              <a:rPr lang="en-US" altLang="en-US"/>
              <a:t>Supports dynamic package execution.</a:t>
            </a:r>
            <a:endParaRPr lang="en-US"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0" y="635"/>
          <a:ext cx="12192000" cy="7149465"/>
        </p:xfrm>
        <a:graphic>
          <a:graphicData uri="http://schemas.openxmlformats.org/drawingml/2006/table">
            <a:tbl>
              <a:tblPr/>
              <a:tblGrid>
                <a:gridCol w="1550670"/>
                <a:gridCol w="3326130"/>
                <a:gridCol w="2438400"/>
                <a:gridCol w="2438400"/>
                <a:gridCol w="2438400"/>
              </a:tblGrid>
              <a:tr h="623570">
                <a:tc>
                  <a:txBody>
                    <a:bodyPr/>
                    <a:p>
                      <a:pPr algn="ctr"/>
                      <a:r>
                        <a:rPr sz="2000" b="1" u="sng"/>
                        <a:t>Feature</a:t>
                      </a:r>
                      <a:endParaRPr sz="2000" b="1" u="sng"/>
                    </a:p>
                  </a:txBody>
                  <a:tcPr marL="0" marR="0" marT="0" marB="0" anchor="ctr" anchorCtr="0">
                    <a:lnL>
                      <a:noFill/>
                    </a:lnL>
                    <a:lnR>
                      <a:noFill/>
                    </a:lnR>
                    <a:lnT>
                      <a:noFill/>
                    </a:lnT>
                    <a:lnB>
                      <a:noFill/>
                    </a:lnB>
                    <a:noFill/>
                  </a:tcPr>
                </a:tc>
                <a:tc>
                  <a:txBody>
                    <a:bodyPr/>
                    <a:p>
                      <a:pPr algn="ctr"/>
                      <a:r>
                        <a:rPr sz="2000" b="1" u="sng"/>
                        <a:t>File Enumerator</a:t>
                      </a:r>
                      <a:endParaRPr sz="2000" b="1" u="sng"/>
                    </a:p>
                  </a:txBody>
                  <a:tcPr marL="0" marR="0" marT="0" marB="0" anchor="ctr" anchorCtr="0">
                    <a:lnL>
                      <a:noFill/>
                    </a:lnL>
                    <a:lnR>
                      <a:noFill/>
                    </a:lnR>
                    <a:lnT>
                      <a:noFill/>
                    </a:lnT>
                    <a:lnB>
                      <a:noFill/>
                    </a:lnB>
                    <a:noFill/>
                  </a:tcPr>
                </a:tc>
                <a:tc>
                  <a:txBody>
                    <a:bodyPr/>
                    <a:p>
                      <a:pPr algn="ctr"/>
                      <a:r>
                        <a:rPr sz="2000" b="1" u="sng"/>
                        <a:t>NodeList Enumerator</a:t>
                      </a:r>
                      <a:endParaRPr sz="2000" b="1" u="sng"/>
                    </a:p>
                  </a:txBody>
                  <a:tcPr marL="0" marR="0" marT="0" marB="0" anchor="ctr" anchorCtr="0">
                    <a:lnL>
                      <a:noFill/>
                    </a:lnL>
                    <a:lnR>
                      <a:noFill/>
                    </a:lnR>
                    <a:lnT>
                      <a:noFill/>
                    </a:lnT>
                    <a:lnB>
                      <a:noFill/>
                    </a:lnB>
                    <a:noFill/>
                  </a:tcPr>
                </a:tc>
                <a:tc>
                  <a:txBody>
                    <a:bodyPr/>
                    <a:p>
                      <a:pPr algn="ctr"/>
                      <a:r>
                        <a:rPr sz="2000" b="1" u="sng"/>
                        <a:t>SMO Enumerator</a:t>
                      </a:r>
                      <a:endParaRPr sz="2000" b="1" u="sng"/>
                    </a:p>
                  </a:txBody>
                  <a:tcPr marL="0" marR="0" marT="0" marB="0" anchor="ctr" anchorCtr="0">
                    <a:lnL>
                      <a:noFill/>
                    </a:lnL>
                    <a:lnR>
                      <a:noFill/>
                    </a:lnR>
                    <a:lnT>
                      <a:noFill/>
                    </a:lnT>
                    <a:lnB>
                      <a:noFill/>
                    </a:lnB>
                    <a:noFill/>
                  </a:tcPr>
                </a:tc>
                <a:tc>
                  <a:txBody>
                    <a:bodyPr/>
                    <a:p>
                      <a:pPr algn="ctr"/>
                      <a:r>
                        <a:rPr sz="2000" b="1" u="sng"/>
                        <a:t>Variable Enumerator</a:t>
                      </a:r>
                      <a:endParaRPr sz="2000" b="1" u="sng"/>
                    </a:p>
                  </a:txBody>
                  <a:tcPr marL="0" marR="0" marT="0" marB="0" anchor="ctr" anchorCtr="0">
                    <a:lnL>
                      <a:noFill/>
                    </a:lnL>
                    <a:lnR>
                      <a:noFill/>
                    </a:lnR>
                    <a:lnT>
                      <a:noFill/>
                    </a:lnT>
                    <a:lnB>
                      <a:noFill/>
                    </a:lnB>
                    <a:noFill/>
                  </a:tcPr>
                </a:tc>
              </a:tr>
              <a:tr h="1245870">
                <a:tc>
                  <a:txBody>
                    <a:bodyPr/>
                    <a:p>
                      <a:pPr algn="ctr"/>
                      <a:r>
                        <a:rPr sz="1600" b="1" u="sng"/>
                        <a:t>Purpose</a:t>
                      </a:r>
                      <a:endParaRPr sz="1600" b="1" u="sng"/>
                    </a:p>
                  </a:txBody>
                  <a:tcPr marL="0" marR="0" marT="0" marB="0" anchor="ctr" anchorCtr="0">
                    <a:lnL>
                      <a:noFill/>
                    </a:lnL>
                    <a:lnR>
                      <a:noFill/>
                    </a:lnR>
                    <a:lnT>
                      <a:noFill/>
                    </a:lnT>
                    <a:lnB>
                      <a:noFill/>
                    </a:lnB>
                    <a:noFill/>
                  </a:tcPr>
                </a:tc>
                <a:tc>
                  <a:txBody>
                    <a:bodyPr/>
                    <a:p>
                      <a:pPr algn="ctr"/>
                      <a:r>
                        <a:rPr sz="1800"/>
                        <a:t>Iterates through files</a:t>
                      </a:r>
                      <a:endParaRPr sz="1800"/>
                    </a:p>
                  </a:txBody>
                  <a:tcPr marL="0" marR="0" marT="0" marB="0" anchor="ctr" anchorCtr="0">
                    <a:lnL>
                      <a:noFill/>
                    </a:lnL>
                    <a:lnR>
                      <a:noFill/>
                    </a:lnR>
                    <a:lnT>
                      <a:noFill/>
                    </a:lnT>
                    <a:lnB>
                      <a:noFill/>
                    </a:lnB>
                    <a:noFill/>
                  </a:tcPr>
                </a:tc>
                <a:tc>
                  <a:txBody>
                    <a:bodyPr/>
                    <a:p>
                      <a:pPr algn="ctr"/>
                      <a:r>
                        <a:rPr sz="1800"/>
                        <a:t>Iterates through XML nodes</a:t>
                      </a:r>
                      <a:endParaRPr sz="1800"/>
                    </a:p>
                  </a:txBody>
                  <a:tcPr marL="0" marR="0" marT="0" marB="0" anchor="ctr" anchorCtr="0">
                    <a:lnL>
                      <a:noFill/>
                    </a:lnL>
                    <a:lnR>
                      <a:noFill/>
                    </a:lnR>
                    <a:lnT>
                      <a:noFill/>
                    </a:lnT>
                    <a:lnB>
                      <a:noFill/>
                    </a:lnB>
                    <a:noFill/>
                  </a:tcPr>
                </a:tc>
                <a:tc>
                  <a:txBody>
                    <a:bodyPr/>
                    <a:p>
                      <a:pPr algn="ctr"/>
                      <a:r>
                        <a:rPr sz="1800"/>
                        <a:t>Iterates through SQL Server objects</a:t>
                      </a:r>
                      <a:endParaRPr sz="1800"/>
                    </a:p>
                  </a:txBody>
                  <a:tcPr marL="0" marR="0" marT="0" marB="0" anchor="ctr" anchorCtr="0">
                    <a:lnL>
                      <a:noFill/>
                    </a:lnL>
                    <a:lnR>
                      <a:noFill/>
                    </a:lnR>
                    <a:lnT>
                      <a:noFill/>
                    </a:lnT>
                    <a:lnB>
                      <a:noFill/>
                    </a:lnB>
                    <a:noFill/>
                  </a:tcPr>
                </a:tc>
                <a:tc>
                  <a:txBody>
                    <a:bodyPr/>
                    <a:p>
                      <a:pPr algn="ctr"/>
                      <a:r>
                        <a:rPr sz="1800"/>
                        <a:t>Iterates through values stored in Object variables</a:t>
                      </a:r>
                      <a:endParaRPr sz="1800"/>
                    </a:p>
                  </a:txBody>
                  <a:tcPr marL="0" marR="0" marT="0" marB="0" anchor="ctr" anchorCtr="0">
                    <a:lnL>
                      <a:noFill/>
                    </a:lnL>
                    <a:lnR>
                      <a:noFill/>
                    </a:lnR>
                    <a:lnT>
                      <a:noFill/>
                    </a:lnT>
                    <a:lnB>
                      <a:noFill/>
                    </a:lnB>
                    <a:noFill/>
                  </a:tcPr>
                </a:tc>
              </a:tr>
              <a:tr h="623570">
                <a:tc>
                  <a:txBody>
                    <a:bodyPr/>
                    <a:p>
                      <a:pPr algn="ctr"/>
                      <a:r>
                        <a:rPr sz="1600" b="1" u="sng"/>
                        <a:t>Collection Type</a:t>
                      </a:r>
                      <a:endParaRPr sz="1600" b="1" u="sng"/>
                    </a:p>
                  </a:txBody>
                  <a:tcPr marL="0" marR="0" marT="0" marB="0" anchor="ctr" anchorCtr="0">
                    <a:lnL>
                      <a:noFill/>
                    </a:lnL>
                    <a:lnR>
                      <a:noFill/>
                    </a:lnR>
                    <a:lnT>
                      <a:noFill/>
                    </a:lnT>
                    <a:lnB>
                      <a:noFill/>
                    </a:lnB>
                    <a:noFill/>
                  </a:tcPr>
                </a:tc>
                <a:tc>
                  <a:txBody>
                    <a:bodyPr/>
                    <a:p>
                      <a:pPr algn="ctr"/>
                      <a:r>
                        <a:rPr sz="1800"/>
                        <a:t>Files in a folder</a:t>
                      </a:r>
                      <a:endParaRPr sz="1800"/>
                    </a:p>
                  </a:txBody>
                  <a:tcPr marL="0" marR="0" marT="0" marB="0" anchor="ctr" anchorCtr="0">
                    <a:lnL>
                      <a:noFill/>
                    </a:lnL>
                    <a:lnR>
                      <a:noFill/>
                    </a:lnR>
                    <a:lnT>
                      <a:noFill/>
                    </a:lnT>
                    <a:lnB>
                      <a:noFill/>
                    </a:lnB>
                    <a:noFill/>
                  </a:tcPr>
                </a:tc>
                <a:tc>
                  <a:txBody>
                    <a:bodyPr/>
                    <a:p>
                      <a:pPr algn="ctr"/>
                      <a:r>
                        <a:rPr sz="1800"/>
                        <a:t>XML elements/nodes</a:t>
                      </a:r>
                      <a:endParaRPr sz="1800"/>
                    </a:p>
                  </a:txBody>
                  <a:tcPr marL="0" marR="0" marT="0" marB="0" anchor="ctr" anchorCtr="0">
                    <a:lnL>
                      <a:noFill/>
                    </a:lnL>
                    <a:lnR>
                      <a:noFill/>
                    </a:lnR>
                    <a:lnT>
                      <a:noFill/>
                    </a:lnT>
                    <a:lnB>
                      <a:noFill/>
                    </a:lnB>
                    <a:noFill/>
                  </a:tcPr>
                </a:tc>
                <a:tc>
                  <a:txBody>
                    <a:bodyPr/>
                    <a:p>
                      <a:pPr algn="ctr"/>
                      <a:r>
                        <a:rPr sz="1800"/>
                        <a:t>SQL Server objects</a:t>
                      </a:r>
                      <a:endParaRPr sz="1800"/>
                    </a:p>
                  </a:txBody>
                  <a:tcPr marL="0" marR="0" marT="0" marB="0" anchor="ctr" anchorCtr="0">
                    <a:lnL>
                      <a:noFill/>
                    </a:lnL>
                    <a:lnR>
                      <a:noFill/>
                    </a:lnR>
                    <a:lnT>
                      <a:noFill/>
                    </a:lnT>
                    <a:lnB>
                      <a:noFill/>
                    </a:lnB>
                    <a:noFill/>
                  </a:tcPr>
                </a:tc>
                <a:tc>
                  <a:txBody>
                    <a:bodyPr/>
                    <a:p>
                      <a:pPr algn="ctr"/>
                      <a:r>
                        <a:rPr sz="1800"/>
                        <a:t>Object variable collection</a:t>
                      </a:r>
                      <a:endParaRPr sz="1800"/>
                    </a:p>
                  </a:txBody>
                  <a:tcPr marL="0" marR="0" marT="0" marB="0" anchor="ctr" anchorCtr="0">
                    <a:lnL>
                      <a:noFill/>
                    </a:lnL>
                    <a:lnR>
                      <a:noFill/>
                    </a:lnR>
                    <a:lnT>
                      <a:noFill/>
                    </a:lnT>
                    <a:lnB>
                      <a:noFill/>
                    </a:lnB>
                    <a:noFill/>
                  </a:tcPr>
                </a:tc>
              </a:tr>
              <a:tr h="623570">
                <a:tc>
                  <a:txBody>
                    <a:bodyPr/>
                    <a:p>
                      <a:pPr algn="ctr"/>
                      <a:r>
                        <a:rPr sz="1600" b="1" u="sng"/>
                        <a:t>Common Input</a:t>
                      </a:r>
                      <a:endParaRPr sz="1600" b="1" u="sng"/>
                    </a:p>
                  </a:txBody>
                  <a:tcPr marL="0" marR="0" marT="0" marB="0" anchor="ctr" anchorCtr="0">
                    <a:lnL>
                      <a:noFill/>
                    </a:lnL>
                    <a:lnR>
                      <a:noFill/>
                    </a:lnR>
                    <a:lnT>
                      <a:noFill/>
                    </a:lnT>
                    <a:lnB>
                      <a:noFill/>
                    </a:lnB>
                    <a:noFill/>
                  </a:tcPr>
                </a:tc>
                <a:tc>
                  <a:txBody>
                    <a:bodyPr/>
                    <a:p>
                      <a:pPr algn="ctr"/>
                      <a:r>
                        <a:rPr sz="1800"/>
                        <a:t>Folder</a:t>
                      </a:r>
                      <a:endParaRPr sz="1800"/>
                    </a:p>
                  </a:txBody>
                  <a:tcPr marL="0" marR="0" marT="0" marB="0" anchor="ctr" anchorCtr="0">
                    <a:lnL>
                      <a:noFill/>
                    </a:lnL>
                    <a:lnR>
                      <a:noFill/>
                    </a:lnR>
                    <a:lnT>
                      <a:noFill/>
                    </a:lnT>
                    <a:lnB>
                      <a:noFill/>
                    </a:lnB>
                    <a:noFill/>
                  </a:tcPr>
                </a:tc>
                <a:tc>
                  <a:txBody>
                    <a:bodyPr/>
                    <a:p>
                      <a:pPr algn="ctr"/>
                      <a:r>
                        <a:rPr sz="1800"/>
                        <a:t>XML Document</a:t>
                      </a:r>
                      <a:endParaRPr sz="1800"/>
                    </a:p>
                  </a:txBody>
                  <a:tcPr marL="0" marR="0" marT="0" marB="0" anchor="ctr" anchorCtr="0">
                    <a:lnL>
                      <a:noFill/>
                    </a:lnL>
                    <a:lnR>
                      <a:noFill/>
                    </a:lnR>
                    <a:lnT>
                      <a:noFill/>
                    </a:lnT>
                    <a:lnB>
                      <a:noFill/>
                    </a:lnB>
                    <a:noFill/>
                  </a:tcPr>
                </a:tc>
                <a:tc>
                  <a:txBody>
                    <a:bodyPr/>
                    <a:p>
                      <a:pPr algn="ctr"/>
                      <a:r>
                        <a:rPr sz="1800"/>
                        <a:t>SQL Server Instance</a:t>
                      </a:r>
                      <a:endParaRPr sz="1800"/>
                    </a:p>
                  </a:txBody>
                  <a:tcPr marL="0" marR="0" marT="0" marB="0" anchor="ctr" anchorCtr="0">
                    <a:lnL>
                      <a:noFill/>
                    </a:lnL>
                    <a:lnR>
                      <a:noFill/>
                    </a:lnR>
                    <a:lnT>
                      <a:noFill/>
                    </a:lnT>
                    <a:lnB>
                      <a:noFill/>
                    </a:lnB>
                    <a:noFill/>
                  </a:tcPr>
                </a:tc>
                <a:tc>
                  <a:txBody>
                    <a:bodyPr/>
                    <a:p>
                      <a:pPr algn="ctr"/>
                      <a:r>
                        <a:rPr sz="1800"/>
                        <a:t>SSIS Object Variable</a:t>
                      </a:r>
                      <a:endParaRPr sz="1800"/>
                    </a:p>
                  </a:txBody>
                  <a:tcPr marL="0" marR="0" marT="0" marB="0" anchor="ctr" anchorCtr="0">
                    <a:lnL>
                      <a:noFill/>
                    </a:lnL>
                    <a:lnR>
                      <a:noFill/>
                    </a:lnR>
                    <a:lnT>
                      <a:noFill/>
                    </a:lnT>
                    <a:lnB>
                      <a:noFill/>
                    </a:lnB>
                    <a:noFill/>
                  </a:tcPr>
                </a:tc>
              </a:tr>
              <a:tr h="624205">
                <a:tc>
                  <a:txBody>
                    <a:bodyPr/>
                    <a:p>
                      <a:pPr algn="ctr"/>
                      <a:r>
                        <a:rPr sz="1600" b="1" u="sng"/>
                        <a:t>Stores Result In</a:t>
                      </a:r>
                      <a:endParaRPr sz="1600" b="1" u="sng"/>
                    </a:p>
                  </a:txBody>
                  <a:tcPr marL="0" marR="0" marT="0" marB="0" anchor="ctr" anchorCtr="0">
                    <a:lnL>
                      <a:noFill/>
                    </a:lnL>
                    <a:lnR>
                      <a:noFill/>
                    </a:lnR>
                    <a:lnT>
                      <a:noFill/>
                    </a:lnT>
                    <a:lnB>
                      <a:noFill/>
                    </a:lnB>
                    <a:noFill/>
                  </a:tcPr>
                </a:tc>
                <a:tc>
                  <a:txBody>
                    <a:bodyPr/>
                    <a:p>
                      <a:pPr algn="ctr"/>
                      <a:r>
                        <a:rPr sz="1800"/>
                        <a:t>File path or file name variable</a:t>
                      </a:r>
                      <a:endParaRPr sz="1800"/>
                    </a:p>
                  </a:txBody>
                  <a:tcPr marL="0" marR="0" marT="0" marB="0" anchor="ctr" anchorCtr="0">
                    <a:lnL>
                      <a:noFill/>
                    </a:lnL>
                    <a:lnR>
                      <a:noFill/>
                    </a:lnR>
                    <a:lnT>
                      <a:noFill/>
                    </a:lnT>
                    <a:lnB>
                      <a:noFill/>
                    </a:lnB>
                    <a:noFill/>
                  </a:tcPr>
                </a:tc>
                <a:tc>
                  <a:txBody>
                    <a:bodyPr/>
                    <a:p>
                      <a:pPr algn="ctr"/>
                      <a:r>
                        <a:rPr sz="1800"/>
                        <a:t>XML node variable</a:t>
                      </a:r>
                      <a:endParaRPr sz="1800"/>
                    </a:p>
                  </a:txBody>
                  <a:tcPr marL="0" marR="0" marT="0" marB="0" anchor="ctr" anchorCtr="0">
                    <a:lnL>
                      <a:noFill/>
                    </a:lnL>
                    <a:lnR>
                      <a:noFill/>
                    </a:lnR>
                    <a:lnT>
                      <a:noFill/>
                    </a:lnT>
                    <a:lnB>
                      <a:noFill/>
                    </a:lnB>
                    <a:noFill/>
                  </a:tcPr>
                </a:tc>
                <a:tc>
                  <a:txBody>
                    <a:bodyPr/>
                    <a:p>
                      <a:pPr algn="ctr"/>
                      <a:r>
                        <a:rPr sz="1800"/>
                        <a:t>SQL object variable</a:t>
                      </a:r>
                      <a:endParaRPr sz="1800"/>
                    </a:p>
                  </a:txBody>
                  <a:tcPr marL="0" marR="0" marT="0" marB="0" anchor="ctr" anchorCtr="0">
                    <a:lnL>
                      <a:noFill/>
                    </a:lnL>
                    <a:lnR>
                      <a:noFill/>
                    </a:lnR>
                    <a:lnT>
                      <a:noFill/>
                    </a:lnT>
                    <a:lnB>
                      <a:noFill/>
                    </a:lnB>
                    <a:noFill/>
                  </a:tcPr>
                </a:tc>
                <a:tc>
                  <a:txBody>
                    <a:bodyPr/>
                    <a:p>
                      <a:pPr algn="ctr"/>
                      <a:r>
                        <a:rPr sz="1800"/>
                        <a:t>Current value variable</a:t>
                      </a:r>
                      <a:endParaRPr sz="1800"/>
                    </a:p>
                  </a:txBody>
                  <a:tcPr marL="0" marR="0" marT="0" marB="0" anchor="ctr" anchorCtr="0">
                    <a:lnL>
                      <a:noFill/>
                    </a:lnL>
                    <a:lnR>
                      <a:noFill/>
                    </a:lnR>
                    <a:lnT>
                      <a:noFill/>
                    </a:lnT>
                    <a:lnB>
                      <a:noFill/>
                    </a:lnB>
                    <a:noFill/>
                  </a:tcPr>
                </a:tc>
              </a:tr>
              <a:tr h="1247140">
                <a:tc>
                  <a:txBody>
                    <a:bodyPr/>
                    <a:p>
                      <a:pPr algn="ctr"/>
                      <a:r>
                        <a:rPr sz="1600" b="1" u="sng"/>
                        <a:t>Common Uses</a:t>
                      </a:r>
                      <a:endParaRPr sz="1600" b="1" u="sng"/>
                    </a:p>
                  </a:txBody>
                  <a:tcPr marL="0" marR="0" marT="0" marB="0" anchor="ctr" anchorCtr="0">
                    <a:lnL>
                      <a:noFill/>
                    </a:lnL>
                    <a:lnR>
                      <a:noFill/>
                    </a:lnR>
                    <a:lnT>
                      <a:noFill/>
                    </a:lnT>
                    <a:lnB>
                      <a:noFill/>
                    </a:lnB>
                    <a:noFill/>
                  </a:tcPr>
                </a:tc>
                <a:tc>
                  <a:txBody>
                    <a:bodyPr/>
                    <a:p>
                      <a:pPr algn="ctr"/>
                      <a:r>
                        <a:rPr sz="1800"/>
                        <a:t>Processing CSV, TXT, XML files</a:t>
                      </a:r>
                      <a:endParaRPr sz="1800"/>
                    </a:p>
                  </a:txBody>
                  <a:tcPr marL="0" marR="0" marT="0" marB="0" anchor="ctr" anchorCtr="0">
                    <a:lnL>
                      <a:noFill/>
                    </a:lnL>
                    <a:lnR>
                      <a:noFill/>
                    </a:lnR>
                    <a:lnT>
                      <a:noFill/>
                    </a:lnT>
                    <a:lnB>
                      <a:noFill/>
                    </a:lnB>
                    <a:noFill/>
                  </a:tcPr>
                </a:tc>
                <a:tc>
                  <a:txBody>
                    <a:bodyPr/>
                    <a:p>
                      <a:pPr algn="ctr"/>
                      <a:r>
                        <a:rPr sz="1800"/>
                        <a:t>Reading XML documents</a:t>
                      </a:r>
                      <a:endParaRPr sz="1800"/>
                    </a:p>
                  </a:txBody>
                  <a:tcPr marL="0" marR="0" marT="0" marB="0" anchor="ctr" anchorCtr="0">
                    <a:lnL>
                      <a:noFill/>
                    </a:lnL>
                    <a:lnR>
                      <a:noFill/>
                    </a:lnR>
                    <a:lnT>
                      <a:noFill/>
                    </a:lnT>
                    <a:lnB>
                      <a:noFill/>
                    </a:lnB>
                    <a:noFill/>
                  </a:tcPr>
                </a:tc>
                <a:tc>
                  <a:txBody>
                    <a:bodyPr/>
                    <a:p>
                      <a:pPr algn="ctr"/>
                      <a:r>
                        <a:rPr sz="1800"/>
                        <a:t>Database maintenance and administration</a:t>
                      </a:r>
                      <a:endParaRPr sz="1800"/>
                    </a:p>
                  </a:txBody>
                  <a:tcPr marL="0" marR="0" marT="0" marB="0" anchor="ctr" anchorCtr="0">
                    <a:lnL>
                      <a:noFill/>
                    </a:lnL>
                    <a:lnR>
                      <a:noFill/>
                    </a:lnR>
                    <a:lnT>
                      <a:noFill/>
                    </a:lnT>
                    <a:lnB>
                      <a:noFill/>
                    </a:lnB>
                    <a:noFill/>
                  </a:tcPr>
                </a:tc>
                <a:tc>
                  <a:txBody>
                    <a:bodyPr/>
                    <a:p>
                      <a:pPr algn="ctr"/>
                      <a:r>
                        <a:rPr sz="1800"/>
                        <a:t>Processing dynamic collections</a:t>
                      </a:r>
                      <a:endParaRPr sz="1800"/>
                    </a:p>
                  </a:txBody>
                  <a:tcPr marL="0" marR="0" marT="0" marB="0" anchor="ctr" anchorCtr="0">
                    <a:lnL>
                      <a:noFill/>
                    </a:lnL>
                    <a:lnR>
                      <a:noFill/>
                    </a:lnR>
                    <a:lnT>
                      <a:noFill/>
                    </a:lnT>
                    <a:lnB>
                      <a:noFill/>
                    </a:lnB>
                    <a:noFill/>
                  </a:tcPr>
                </a:tc>
              </a:tr>
              <a:tr h="622300">
                <a:tc>
                  <a:txBody>
                    <a:bodyPr/>
                    <a:p>
                      <a:pPr algn="ctr"/>
                      <a:r>
                        <a:rPr sz="1600" b="1" u="sng"/>
                        <a:t>Supports Recursive Processing</a:t>
                      </a:r>
                      <a:endParaRPr sz="1600" b="1" u="sng"/>
                    </a:p>
                  </a:txBody>
                  <a:tcPr marL="0" marR="0" marT="0" marB="0" anchor="ctr" anchorCtr="0">
                    <a:lnL>
                      <a:noFill/>
                    </a:lnL>
                    <a:lnR>
                      <a:noFill/>
                    </a:lnR>
                    <a:lnT>
                      <a:noFill/>
                    </a:lnT>
                    <a:lnB>
                      <a:noFill/>
                    </a:lnB>
                    <a:noFill/>
                  </a:tcPr>
                </a:tc>
                <a:tc>
                  <a:txBody>
                    <a:bodyPr/>
                    <a:p>
                      <a:pPr algn="ctr"/>
                      <a:r>
                        <a:rPr sz="1800"/>
                        <a:t>Yes</a:t>
                      </a:r>
                      <a:endParaRPr sz="1800"/>
                    </a:p>
                  </a:txBody>
                  <a:tcPr marL="0" marR="0" marT="0" marB="0" anchor="ctr" anchorCtr="0">
                    <a:lnL>
                      <a:noFill/>
                    </a:lnL>
                    <a:lnR>
                      <a:noFill/>
                    </a:lnR>
                    <a:lnT>
                      <a:noFill/>
                    </a:lnT>
                    <a:lnB>
                      <a:noFill/>
                    </a:lnB>
                    <a:noFill/>
                  </a:tcPr>
                </a:tc>
                <a:tc>
                  <a:txBody>
                    <a:bodyPr/>
                    <a:p>
                      <a:pPr algn="ctr"/>
                      <a:r>
                        <a:rPr sz="1800"/>
                        <a:t>No</a:t>
                      </a:r>
                      <a:endParaRPr sz="1800"/>
                    </a:p>
                  </a:txBody>
                  <a:tcPr marL="0" marR="0" marT="0" marB="0" anchor="ctr" anchorCtr="0">
                    <a:lnL>
                      <a:noFill/>
                    </a:lnL>
                    <a:lnR>
                      <a:noFill/>
                    </a:lnR>
                    <a:lnT>
                      <a:noFill/>
                    </a:lnT>
                    <a:lnB>
                      <a:noFill/>
                    </a:lnB>
                    <a:noFill/>
                  </a:tcPr>
                </a:tc>
                <a:tc>
                  <a:txBody>
                    <a:bodyPr/>
                    <a:p>
                      <a:pPr algn="ctr"/>
                      <a:r>
                        <a:rPr sz="1800"/>
                        <a:t>No</a:t>
                      </a:r>
                      <a:endParaRPr sz="1800"/>
                    </a:p>
                  </a:txBody>
                  <a:tcPr marL="0" marR="0" marT="0" marB="0" anchor="ctr" anchorCtr="0">
                    <a:lnL>
                      <a:noFill/>
                    </a:lnL>
                    <a:lnR>
                      <a:noFill/>
                    </a:lnR>
                    <a:lnT>
                      <a:noFill/>
                    </a:lnT>
                    <a:lnB>
                      <a:noFill/>
                    </a:lnB>
                    <a:noFill/>
                  </a:tcPr>
                </a:tc>
                <a:tc>
                  <a:txBody>
                    <a:bodyPr/>
                    <a:p>
                      <a:pPr algn="ctr"/>
                      <a:r>
                        <a:rPr sz="1800"/>
                        <a:t>Depends on the collection</a:t>
                      </a:r>
                      <a:endParaRPr sz="1800"/>
                    </a:p>
                  </a:txBody>
                  <a:tcPr marL="0" marR="0" marT="0" marB="0" anchor="ctr" anchorCtr="0">
                    <a:lnL>
                      <a:noFill/>
                    </a:lnL>
                    <a:lnR>
                      <a:noFill/>
                    </a:lnR>
                    <a:lnT>
                      <a:noFill/>
                    </a:lnT>
                    <a:lnB>
                      <a:noFill/>
                    </a:lnB>
                    <a:noFill/>
                  </a:tcPr>
                </a:tc>
              </a:tr>
              <a:tr h="1247140">
                <a:tc>
                  <a:txBody>
                    <a:bodyPr/>
                    <a:p>
                      <a:pPr algn="ctr"/>
                      <a:r>
                        <a:rPr sz="1600" b="1" u="sng"/>
                        <a:t>Typical Example</a:t>
                      </a:r>
                      <a:endParaRPr sz="1600" b="1" u="sng"/>
                    </a:p>
                  </a:txBody>
                  <a:tcPr marL="0" marR="0" marT="0" marB="0" anchor="ctr" anchorCtr="0">
                    <a:lnL>
                      <a:noFill/>
                    </a:lnL>
                    <a:lnR>
                      <a:noFill/>
                    </a:lnR>
                    <a:lnT>
                      <a:noFill/>
                    </a:lnT>
                    <a:lnB>
                      <a:noFill/>
                    </a:lnB>
                    <a:noFill/>
                  </a:tcPr>
                </a:tc>
                <a:tc>
                  <a:txBody>
                    <a:bodyPr/>
                    <a:p>
                      <a:pPr algn="ctr"/>
                      <a:r>
                        <a:rPr sz="1800"/>
                        <a:t>Importing all CSV files from a folder</a:t>
                      </a:r>
                      <a:endParaRPr sz="1800"/>
                    </a:p>
                  </a:txBody>
                  <a:tcPr marL="0" marR="0" marT="0" marB="0" anchor="ctr" anchorCtr="0">
                    <a:lnL>
                      <a:noFill/>
                    </a:lnL>
                    <a:lnR>
                      <a:noFill/>
                    </a:lnR>
                    <a:lnT>
                      <a:noFill/>
                    </a:lnT>
                    <a:lnB>
                      <a:noFill/>
                    </a:lnB>
                    <a:noFill/>
                  </a:tcPr>
                </a:tc>
                <a:tc>
                  <a:txBody>
                    <a:bodyPr/>
                    <a:p>
                      <a:pPr algn="ctr"/>
                      <a:r>
                        <a:rPr sz="1800"/>
                        <a:t>Reading &lt;Employee&gt; nodes from an XML file</a:t>
                      </a:r>
                      <a:endParaRPr sz="1800"/>
                    </a:p>
                  </a:txBody>
                  <a:tcPr marL="0" marR="0" marT="0" marB="0" anchor="ctr" anchorCtr="0">
                    <a:lnL>
                      <a:noFill/>
                    </a:lnL>
                    <a:lnR>
                      <a:noFill/>
                    </a:lnR>
                    <a:lnT>
                      <a:noFill/>
                    </a:lnT>
                    <a:lnB>
                      <a:noFill/>
                    </a:lnB>
                    <a:noFill/>
                  </a:tcPr>
                </a:tc>
                <a:tc>
                  <a:txBody>
                    <a:bodyPr/>
                    <a:p>
                      <a:pPr algn="ctr"/>
                      <a:r>
                        <a:rPr sz="1800"/>
                        <a:t>Backing up all databases on a server</a:t>
                      </a:r>
                      <a:endParaRPr sz="1800"/>
                    </a:p>
                  </a:txBody>
                  <a:tcPr marL="0" marR="0" marT="0" marB="0" anchor="ctr" anchorCtr="0">
                    <a:lnL>
                      <a:noFill/>
                    </a:lnL>
                    <a:lnR>
                      <a:noFill/>
                    </a:lnR>
                    <a:lnT>
                      <a:noFill/>
                    </a:lnT>
                    <a:lnB>
                      <a:noFill/>
                    </a:lnB>
                    <a:noFill/>
                  </a:tcPr>
                </a:tc>
                <a:tc>
                  <a:txBody>
                    <a:bodyPr/>
                    <a:p>
                      <a:pPr algn="ctr"/>
                      <a:r>
                        <a:rPr sz="1800"/>
                        <a:t>Processing a list of customer IDs</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p>
            <a:r>
              <a:rPr lang="en-US"/>
              <a:t>THANK YOU</a:t>
            </a:r>
            <a:endParaRPr lang="en-US"/>
          </a:p>
        </p:txBody>
      </p:sp>
      <p:sp>
        <p:nvSpPr>
          <p:cNvPr id="5" name="Subtitle 4"/>
          <p:cNvSpPr>
            <a:spLocks noGrp="1"/>
          </p:cNvSpPr>
          <p:nvPr>
            <p:ph type="subTitle" idx="1"/>
          </p:nvPr>
        </p:nvSpPr>
        <p:spPr/>
        <p:txBody>
          <a:bodyPr/>
          <a:p>
            <a:r>
              <a:rPr lang="en-US"/>
              <a:t>Next Topic : Additional Small Concepts of SSIS</a:t>
            </a:r>
            <a:endParaRPr lang="en-US"/>
          </a:p>
        </p:txBody>
      </p:sp>
    </p:spTree>
  </p:cSld>
  <p:clrMapOvr>
    <a:masterClrMapping/>
  </p:clrMapOvr>
</p:sld>
</file>

<file path=ppt/tags/tag1.xml><?xml version="1.0" encoding="utf-8"?>
<p:tagLst xmlns:p="http://schemas.openxmlformats.org/presentationml/2006/main">
  <p:tag name="TABLE_ENDDRAG_ORIGIN_RECT" val="960*539"/>
  <p:tag name="TABLE_ENDDRAG_RECT" val="0*0*960*53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39554</Words>
  <Application>WPS Presentation</Application>
  <PresentationFormat>Widescreen</PresentationFormat>
  <Paragraphs>1181</Paragraphs>
  <Slides>86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86</vt:i4>
      </vt:variant>
    </vt:vector>
  </HeadingPairs>
  <TitlesOfParts>
    <vt:vector size="94" baseType="lpstr">
      <vt:lpstr>Arial</vt:lpstr>
      <vt:lpstr>SimSun</vt:lpstr>
      <vt:lpstr>Wingdings</vt:lpstr>
      <vt:lpstr>Calibri Light</vt:lpstr>
      <vt:lpstr>Calibri</vt:lpstr>
      <vt:lpstr>Microsoft YaHei</vt:lpstr>
      <vt:lpstr>Arial Unicode MS</vt:lpstr>
      <vt:lpstr>Office Theme</vt:lpstr>
      <vt:lpstr>SSIS</vt:lpstr>
      <vt:lpstr>What is SSIS ?</vt:lpstr>
      <vt:lpstr>Purpose behind using SSIS</vt:lpstr>
      <vt:lpstr>History of SSIS</vt:lpstr>
      <vt:lpstr>SSIS Architecture 	Main Component of SSIS Architecture 	 	1. Control Flow 	2. Data Flow 	3. Event Handler 	4. Package Explorer 	5. Parameters 	Let’s Explore them 	One By One...</vt:lpstr>
      <vt:lpstr>SSIS Architecture</vt:lpstr>
      <vt:lpstr>SSIS Architecture</vt:lpstr>
      <vt:lpstr>SSIS Architecture :  Understading Types of Containers</vt:lpstr>
      <vt:lpstr>SSIS Architecture :  Understading Types of Containers</vt:lpstr>
      <vt:lpstr>SSIS Architecture :  Understading Types of Containers</vt:lpstr>
      <vt:lpstr>SSIS Architecture</vt:lpstr>
      <vt:lpstr>SSIS Architecture</vt:lpstr>
      <vt:lpstr>SSIS Architecture</vt:lpstr>
      <vt:lpstr>PowerPoint 演示文稿</vt:lpstr>
      <vt:lpstr>Pros of SSIS</vt:lpstr>
      <vt:lpstr>Cons of SSIS</vt:lpstr>
      <vt:lpstr>Introduction to Connection Manager</vt:lpstr>
      <vt:lpstr>Introduction</vt:lpstr>
      <vt:lpstr>STEPS</vt:lpstr>
      <vt:lpstr>Different Connection Managers</vt:lpstr>
      <vt:lpstr>OLE DB Connection Manager</vt:lpstr>
      <vt:lpstr>OLE DB Connection Manager</vt:lpstr>
      <vt:lpstr>ADO Connection Manager </vt:lpstr>
      <vt:lpstr>Components of ADO Connection Manager</vt:lpstr>
      <vt:lpstr>Steps </vt:lpstr>
      <vt:lpstr>Pros and Cons</vt:lpstr>
      <vt:lpstr>Comparision :  OLEDB vs ADO</vt:lpstr>
      <vt:lpstr>ADO.NET Connection Manager</vt:lpstr>
      <vt:lpstr>Features of ADO.NET Connection Manager</vt:lpstr>
      <vt:lpstr>Components of an ADO.NET Connection Manager</vt:lpstr>
      <vt:lpstr>Steps to Create an ADO.NET Connection Manager</vt:lpstr>
      <vt:lpstr>Limitations</vt:lpstr>
      <vt:lpstr>Cache Connection Manager</vt:lpstr>
      <vt:lpstr>Feature of Cache Connection Manager</vt:lpstr>
      <vt:lpstr>Component of Connection Manager</vt:lpstr>
      <vt:lpstr>Use Connection Manager</vt:lpstr>
      <vt:lpstr>Limitation</vt:lpstr>
      <vt:lpstr>EXCEL Connection Manager</vt:lpstr>
      <vt:lpstr>Features</vt:lpstr>
      <vt:lpstr>Components of EXCEL Connection Manager</vt:lpstr>
      <vt:lpstr>Steps</vt:lpstr>
      <vt:lpstr>Use of EXCEL Connection Manager</vt:lpstr>
      <vt:lpstr>Limitations</vt:lpstr>
      <vt:lpstr>File Connection Manager</vt:lpstr>
      <vt:lpstr>Features</vt:lpstr>
      <vt:lpstr>Components</vt:lpstr>
      <vt:lpstr>Steps</vt:lpstr>
      <vt:lpstr>Use of File Connection Manager</vt:lpstr>
      <vt:lpstr>Limitations</vt:lpstr>
      <vt:lpstr>PowerPoint 演示文稿</vt:lpstr>
      <vt:lpstr>PowerPoint 演示文稿</vt:lpstr>
      <vt:lpstr>FTP Connection Manager</vt:lpstr>
      <vt:lpstr>Components and Steps</vt:lpstr>
      <vt:lpstr>Use Cases</vt:lpstr>
      <vt:lpstr>SFTP : Secure File Transfer Protocol</vt:lpstr>
      <vt:lpstr>More Points</vt:lpstr>
      <vt:lpstr>Use Cases</vt:lpstr>
      <vt:lpstr>SSIS Sources</vt:lpstr>
      <vt:lpstr>What is Source ?</vt:lpstr>
      <vt:lpstr>Example :A developer wants to import customer data from an Excel file. Instead of manually adding an Excel Source and configuring the connection, the Source Assistant guides the developer through selecting the Excel file, creating the connection manager, and adding the source component automatically.</vt:lpstr>
      <vt:lpstr>Different Kind of Sources</vt:lpstr>
      <vt:lpstr>ADO.NET Source</vt:lpstr>
      <vt:lpstr>ADO.NET Source</vt:lpstr>
      <vt:lpstr>Excel Source </vt:lpstr>
      <vt:lpstr>Excel Source</vt:lpstr>
      <vt:lpstr>OLE DB Source</vt:lpstr>
      <vt:lpstr>OLE DB Source</vt:lpstr>
      <vt:lpstr>Flat File Source</vt:lpstr>
      <vt:lpstr>Uses and Limitations of Flat File Sources</vt:lpstr>
      <vt:lpstr>SSIS Destinations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Vraj Suratwala</dc:creator>
  <cp:lastModifiedBy>Vraj Suratwala</cp:lastModifiedBy>
  <cp:revision>71</cp:revision>
  <dcterms:created xsi:type="dcterms:W3CDTF">2025-07-23T00:59:00Z</dcterms:created>
  <dcterms:modified xsi:type="dcterms:W3CDTF">2026-07-31T19:45:39Z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58431EC205E345E8A837EE0394F17C20_11</vt:lpwstr>
  </property>
  <property fmtid="{D5CDD505-2E9C-101B-9397-08002B2CF9AE}" pid="3" name="KSOProductBuildVer">
    <vt:lpwstr>1033-12.1.0.25862</vt:lpwstr>
  </property>
</Properties>
</file>